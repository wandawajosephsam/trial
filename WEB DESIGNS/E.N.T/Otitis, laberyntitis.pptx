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62"/>
  </p:notesMasterIdLst>
  <p:sldIdLst>
    <p:sldId id="262" r:id="rId2"/>
    <p:sldId id="257" r:id="rId3"/>
    <p:sldId id="258" r:id="rId4"/>
    <p:sldId id="316" r:id="rId5"/>
    <p:sldId id="317" r:id="rId6"/>
    <p:sldId id="318" r:id="rId7"/>
    <p:sldId id="289" r:id="rId8"/>
    <p:sldId id="291" r:id="rId9"/>
    <p:sldId id="290" r:id="rId10"/>
    <p:sldId id="294" r:id="rId11"/>
    <p:sldId id="319" r:id="rId12"/>
    <p:sldId id="295" r:id="rId13"/>
    <p:sldId id="296" r:id="rId14"/>
    <p:sldId id="297" r:id="rId15"/>
    <p:sldId id="320" r:id="rId16"/>
    <p:sldId id="259" r:id="rId17"/>
    <p:sldId id="263" r:id="rId18"/>
    <p:sldId id="264" r:id="rId19"/>
    <p:sldId id="265" r:id="rId20"/>
    <p:sldId id="266" r:id="rId21"/>
    <p:sldId id="267" r:id="rId22"/>
    <p:sldId id="269" r:id="rId23"/>
    <p:sldId id="270" r:id="rId24"/>
    <p:sldId id="271" r:id="rId25"/>
    <p:sldId id="272" r:id="rId26"/>
    <p:sldId id="273" r:id="rId27"/>
    <p:sldId id="274" r:id="rId28"/>
    <p:sldId id="277" r:id="rId29"/>
    <p:sldId id="278" r:id="rId30"/>
    <p:sldId id="279" r:id="rId31"/>
    <p:sldId id="280" r:id="rId32"/>
    <p:sldId id="298" r:id="rId33"/>
    <p:sldId id="299" r:id="rId34"/>
    <p:sldId id="301" r:id="rId35"/>
    <p:sldId id="281" r:id="rId36"/>
    <p:sldId id="283" r:id="rId37"/>
    <p:sldId id="331" r:id="rId38"/>
    <p:sldId id="285" r:id="rId39"/>
    <p:sldId id="326" r:id="rId40"/>
    <p:sldId id="327" r:id="rId41"/>
    <p:sldId id="328" r:id="rId42"/>
    <p:sldId id="302" r:id="rId43"/>
    <p:sldId id="321" r:id="rId44"/>
    <p:sldId id="325" r:id="rId45"/>
    <p:sldId id="329" r:id="rId46"/>
    <p:sldId id="330" r:id="rId47"/>
    <p:sldId id="284" r:id="rId48"/>
    <p:sldId id="322" r:id="rId49"/>
    <p:sldId id="332" r:id="rId50"/>
    <p:sldId id="333" r:id="rId51"/>
    <p:sldId id="304" r:id="rId52"/>
    <p:sldId id="305" r:id="rId53"/>
    <p:sldId id="306" r:id="rId54"/>
    <p:sldId id="307" r:id="rId55"/>
    <p:sldId id="308" r:id="rId56"/>
    <p:sldId id="309" r:id="rId57"/>
    <p:sldId id="311" r:id="rId58"/>
    <p:sldId id="312" r:id="rId59"/>
    <p:sldId id="313" r:id="rId60"/>
    <p:sldId id="315" r:id="rId61"/>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1000"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ink/ink1.xml><?xml version="1.0" encoding="utf-8"?>
<inkml:ink xmlns:inkml="http://www.w3.org/2003/InkML">
  <inkml:definitions>
    <inkml:context xml:id="ctx0">
      <inkml:inkSource xml:id="inkSrc0">
        <inkml:traceFormat>
          <inkml:channel name="X" type="integer" max="4800" units="cm"/>
          <inkml:channel name="Y" type="integer" max="1200" units="cm"/>
          <inkml:channel name="T" type="integer" max="2.14748E9" units="dev"/>
        </inkml:traceFormat>
        <inkml:channelProperties>
          <inkml:channelProperty channel="X" name="resolution" value="159.46844" units="1/cm"/>
          <inkml:channelProperty channel="Y" name="resolution" value="63.82979" units="1/cm"/>
          <inkml:channelProperty channel="T" name="resolution" value="1" units="1/dev"/>
        </inkml:channelProperties>
      </inkml:inkSource>
      <inkml:timestamp xml:id="ts0" timeString="2025-07-21T06:22:18.50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19827 5551 0,'122'0'235,"122"49"-220,148-24-15,-50-25 16,-49 0-16,-171 0 16,-24 0-16,-49 24 15,-25-24-15,1 25 16,-1-25 62,1 0-47,-1 0-15,25 0-1,0 24-15,-24-24 16,23 0-16,-23 0 16,24 0-16,-25 0 31,1 0-31,-1 0 31,1 0-31,-1 0 16,0 0-1,1 0 1,-1 0 0,1 0-16,-1 0 15,1 0-15,-1 0 16,1 0 0,-1 0-16,0 0 15,1 0 1,-1 0-16,1 0 15,-1 0 1,1-24 0,-1 24-16,1 0 15,-1 0-15,0 0 16,1 0 0,-1 0-16,1 0 15,-1 0-15,1 0 16,-1 0-1,1 0-15,23 0 16,26 0-16,-50 0 0,1 0 16,24 0-16,-25 0 15,0 0 1,1 0 0,-1 0-16,1 0 0,-1 0 31,1 0-16</inkml:trace>
</inkml:ink>
</file>

<file path=ppt/ink/ink2.xml><?xml version="1.0" encoding="utf-8"?>
<inkml:ink xmlns:inkml="http://www.w3.org/2003/InkML">
  <inkml:definitions>
    <inkml:context xml:id="ctx0">
      <inkml:inkSource xml:id="inkSrc0">
        <inkml:traceFormat>
          <inkml:channel name="X" type="integer" max="4800" units="cm"/>
          <inkml:channel name="Y" type="integer" max="1200" units="cm"/>
          <inkml:channel name="T" type="integer" max="2.14748E9" units="dev"/>
        </inkml:traceFormat>
        <inkml:channelProperties>
          <inkml:channelProperty channel="X" name="resolution" value="159.46844" units="1/cm"/>
          <inkml:channelProperty channel="Y" name="resolution" value="63.82979" units="1/cm"/>
          <inkml:channelProperty channel="T" name="resolution" value="1" units="1/dev"/>
        </inkml:channelProperties>
      </inkml:inkSource>
      <inkml:timestamp xml:id="ts0" timeString="2025-07-21T06:22:21.30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1736 6627 0,'49'0'187,"98"0"-187,-25 0 16,-49-24-16,1 24 0,-25 0 15,-1 0-15,-23 0 16,24 0-16,-25 0 16,25-25-16,-24 25 15,48-24-15,-49 24 16,25-24-16,-24 24 16,-1 0-16,1 0 15,-1 0 1,1 0-16,-1 0 15,0 0 1,1 0 0,-1 0-1,1 0 32,-1 0-47,1 0 125,-1 0-78,1 0-47,-1 0 16,0 0-1,1 0-15,-1 0 32,1 0-32,-1 0 31,1 0 63,-25-25-79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1E235-1391-438E-B409-9CB1801739CD}" type="datetimeFigureOut">
              <a:rPr lang="en-US" smtClean="0"/>
              <a:t>7/20/2025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3C526C-7351-49C1-A8E8-C7A146FA9D93}" type="slidenum">
              <a:rPr lang="en-US" smtClean="0"/>
              <a:t>‹#›</a:t>
            </a:fld>
            <a:endParaRPr lang="en-US"/>
          </a:p>
        </p:txBody>
      </p:sp>
    </p:spTree>
    <p:extLst>
      <p:ext uri="{BB962C8B-B14F-4D97-AF65-F5344CB8AC3E}">
        <p14:creationId xmlns:p14="http://schemas.microsoft.com/office/powerpoint/2010/main" val="2164274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Saprophytic</a:t>
            </a:r>
            <a:r>
              <a:rPr lang="en-US" baseline="0" dirty="0" smtClean="0"/>
              <a:t> -</a:t>
            </a:r>
            <a:endParaRPr lang="en-US" dirty="0"/>
          </a:p>
        </p:txBody>
      </p:sp>
      <p:sp>
        <p:nvSpPr>
          <p:cNvPr id="4" name="Slide Number Placeholder 3"/>
          <p:cNvSpPr>
            <a:spLocks noGrp="1"/>
          </p:cNvSpPr>
          <p:nvPr>
            <p:ph type="sldNum" sz="quarter" idx="10"/>
          </p:nvPr>
        </p:nvSpPr>
        <p:spPr/>
        <p:txBody>
          <a:bodyPr/>
          <a:lstStyle/>
          <a:p>
            <a:fld id="{133C526C-7351-49C1-A8E8-C7A146FA9D93}" type="slidenum">
              <a:rPr lang="en-US" smtClean="0"/>
              <a:t>20</a:t>
            </a:fld>
            <a:endParaRPr lang="en-US"/>
          </a:p>
        </p:txBody>
      </p:sp>
    </p:spTree>
    <p:extLst>
      <p:ext uri="{BB962C8B-B14F-4D97-AF65-F5344CB8AC3E}">
        <p14:creationId xmlns:p14="http://schemas.microsoft.com/office/powerpoint/2010/main" val="2096185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A847CFC-816F-41D0-AAC0-9BF4FEBC753E}" type="datetimeFigureOut">
              <a:rPr lang="es-ES" smtClean="0"/>
              <a:pPr/>
              <a:t>20/07/2025</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132FADFE-3B8F-471C-ABF0-DBC7717ECBBC}" type="slidenum">
              <a:rPr lang="es-ES" smtClean="0"/>
              <a:pPr/>
              <a:t>‹#›</a:t>
            </a:fld>
            <a:endParaRPr lang="es-ES" dirty="0"/>
          </a:p>
        </p:txBody>
      </p:sp>
    </p:spTree>
    <p:extLst>
      <p:ext uri="{BB962C8B-B14F-4D97-AF65-F5344CB8AC3E}">
        <p14:creationId xmlns:p14="http://schemas.microsoft.com/office/powerpoint/2010/main" val="2198055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847CFC-816F-41D0-AAC0-9BF4FEBC753E}" type="datetimeFigureOut">
              <a:rPr lang="es-ES" smtClean="0"/>
              <a:pPr/>
              <a:t>20/07/2025</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132FADFE-3B8F-471C-ABF0-DBC7717ECBBC}" type="slidenum">
              <a:rPr lang="es-ES" smtClean="0"/>
              <a:pPr/>
              <a:t>‹#›</a:t>
            </a:fld>
            <a:endParaRPr lang="es-ES" dirty="0"/>
          </a:p>
        </p:txBody>
      </p:sp>
    </p:spTree>
    <p:extLst>
      <p:ext uri="{BB962C8B-B14F-4D97-AF65-F5344CB8AC3E}">
        <p14:creationId xmlns:p14="http://schemas.microsoft.com/office/powerpoint/2010/main" val="4064510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A847CFC-816F-41D0-AAC0-9BF4FEBC753E}" type="datetimeFigureOut">
              <a:rPr lang="es-ES" smtClean="0"/>
              <a:pPr/>
              <a:t>20/07/2025</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132FADFE-3B8F-471C-ABF0-DBC7717ECBBC}" type="slidenum">
              <a:rPr lang="es-ES" smtClean="0"/>
              <a:pPr/>
              <a:t>‹#›</a:t>
            </a:fld>
            <a:endParaRPr lang="es-ES" dirty="0"/>
          </a:p>
        </p:txBody>
      </p:sp>
    </p:spTree>
    <p:extLst>
      <p:ext uri="{BB962C8B-B14F-4D97-AF65-F5344CB8AC3E}">
        <p14:creationId xmlns:p14="http://schemas.microsoft.com/office/powerpoint/2010/main" val="3586380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A847CFC-816F-41D0-AAC0-9BF4FEBC753E}" type="datetimeFigureOut">
              <a:rPr lang="es-ES" smtClean="0"/>
              <a:pPr/>
              <a:t>20/07/2025</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132FADFE-3B8F-471C-ABF0-DBC7717ECBBC}" type="slidenum">
              <a:rPr lang="es-ES" smtClean="0"/>
              <a:pPr/>
              <a:t>‹#›</a:t>
            </a:fld>
            <a:endParaRPr lang="es-ES" dirty="0"/>
          </a:p>
        </p:txBody>
      </p:sp>
    </p:spTree>
    <p:extLst>
      <p:ext uri="{BB962C8B-B14F-4D97-AF65-F5344CB8AC3E}">
        <p14:creationId xmlns:p14="http://schemas.microsoft.com/office/powerpoint/2010/main" val="894325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A847CFC-816F-41D0-AAC0-9BF4FEBC753E}" type="datetimeFigureOut">
              <a:rPr lang="es-ES" smtClean="0"/>
              <a:pPr/>
              <a:t>20/07/2025</a:t>
            </a:fld>
            <a:endParaRPr lang="es-ES" dirty="0"/>
          </a:p>
        </p:txBody>
      </p:sp>
      <p:sp>
        <p:nvSpPr>
          <p:cNvPr id="8" name="Footer Placeholder 7"/>
          <p:cNvSpPr>
            <a:spLocks noGrp="1"/>
          </p:cNvSpPr>
          <p:nvPr>
            <p:ph type="ftr" sz="quarter" idx="11"/>
          </p:nvPr>
        </p:nvSpPr>
        <p:spPr/>
        <p:txBody>
          <a:bodyPr/>
          <a:lstStyle/>
          <a:p>
            <a:endParaRPr lang="es-ES" dirty="0"/>
          </a:p>
        </p:txBody>
      </p:sp>
      <p:sp>
        <p:nvSpPr>
          <p:cNvPr id="9" name="Slide Number Placeholder 8"/>
          <p:cNvSpPr>
            <a:spLocks noGrp="1"/>
          </p:cNvSpPr>
          <p:nvPr>
            <p:ph type="sldNum" sz="quarter" idx="12"/>
          </p:nvPr>
        </p:nvSpPr>
        <p:spPr/>
        <p:txBody>
          <a:bodyPr/>
          <a:lstStyle/>
          <a:p>
            <a:fld id="{132FADFE-3B8F-471C-ABF0-DBC7717ECBBC}" type="slidenum">
              <a:rPr lang="es-ES" smtClean="0"/>
              <a:pPr/>
              <a:t>‹#›</a:t>
            </a:fld>
            <a:endParaRPr lang="es-ES" dirty="0"/>
          </a:p>
        </p:txBody>
      </p:sp>
    </p:spTree>
    <p:extLst>
      <p:ext uri="{BB962C8B-B14F-4D97-AF65-F5344CB8AC3E}">
        <p14:creationId xmlns:p14="http://schemas.microsoft.com/office/powerpoint/2010/main" val="4138839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A847CFC-816F-41D0-AAC0-9BF4FEBC753E}" type="datetimeFigureOut">
              <a:rPr lang="es-ES" smtClean="0"/>
              <a:pPr/>
              <a:t>20/07/2025</a:t>
            </a:fld>
            <a:endParaRPr lang="es-ES" dirty="0"/>
          </a:p>
        </p:txBody>
      </p:sp>
      <p:sp>
        <p:nvSpPr>
          <p:cNvPr id="4" name="Footer Placeholder 3"/>
          <p:cNvSpPr>
            <a:spLocks noGrp="1"/>
          </p:cNvSpPr>
          <p:nvPr>
            <p:ph type="ftr" sz="quarter" idx="11"/>
          </p:nvPr>
        </p:nvSpPr>
        <p:spPr/>
        <p:txBody>
          <a:bodyPr/>
          <a:lstStyle/>
          <a:p>
            <a:endParaRPr lang="es-ES" dirty="0"/>
          </a:p>
        </p:txBody>
      </p:sp>
      <p:sp>
        <p:nvSpPr>
          <p:cNvPr id="5" name="Slide Number Placeholder 4"/>
          <p:cNvSpPr>
            <a:spLocks noGrp="1"/>
          </p:cNvSpPr>
          <p:nvPr>
            <p:ph type="sldNum" sz="quarter" idx="12"/>
          </p:nvPr>
        </p:nvSpPr>
        <p:spPr/>
        <p:txBody>
          <a:bodyPr/>
          <a:lstStyle/>
          <a:p>
            <a:fld id="{132FADFE-3B8F-471C-ABF0-DBC7717ECBBC}" type="slidenum">
              <a:rPr lang="es-ES" smtClean="0"/>
              <a:pPr/>
              <a:t>‹#›</a:t>
            </a:fld>
            <a:endParaRPr lang="es-ES" dirty="0"/>
          </a:p>
        </p:txBody>
      </p:sp>
    </p:spTree>
    <p:extLst>
      <p:ext uri="{BB962C8B-B14F-4D97-AF65-F5344CB8AC3E}">
        <p14:creationId xmlns:p14="http://schemas.microsoft.com/office/powerpoint/2010/main" val="1292085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847CFC-816F-41D0-AAC0-9BF4FEBC753E}" type="datetimeFigureOut">
              <a:rPr lang="es-ES" smtClean="0"/>
              <a:pPr/>
              <a:t>20/07/2025</a:t>
            </a:fld>
            <a:endParaRPr lang="es-ES" dirty="0"/>
          </a:p>
        </p:txBody>
      </p:sp>
      <p:sp>
        <p:nvSpPr>
          <p:cNvPr id="3" name="Footer Placeholder 2"/>
          <p:cNvSpPr>
            <a:spLocks noGrp="1"/>
          </p:cNvSpPr>
          <p:nvPr>
            <p:ph type="ftr" sz="quarter" idx="11"/>
          </p:nvPr>
        </p:nvSpPr>
        <p:spPr/>
        <p:txBody>
          <a:bodyPr/>
          <a:lstStyle/>
          <a:p>
            <a:endParaRPr lang="es-ES" dirty="0"/>
          </a:p>
        </p:txBody>
      </p:sp>
      <p:sp>
        <p:nvSpPr>
          <p:cNvPr id="4" name="Slide Number Placeholder 3"/>
          <p:cNvSpPr>
            <a:spLocks noGrp="1"/>
          </p:cNvSpPr>
          <p:nvPr>
            <p:ph type="sldNum" sz="quarter" idx="12"/>
          </p:nvPr>
        </p:nvSpPr>
        <p:spPr/>
        <p:txBody>
          <a:bodyPr/>
          <a:lstStyle/>
          <a:p>
            <a:fld id="{132FADFE-3B8F-471C-ABF0-DBC7717ECBBC}" type="slidenum">
              <a:rPr lang="es-ES" smtClean="0"/>
              <a:pPr/>
              <a:t>‹#›</a:t>
            </a:fld>
            <a:endParaRPr lang="es-ES" dirty="0"/>
          </a:p>
        </p:txBody>
      </p:sp>
    </p:spTree>
    <p:extLst>
      <p:ext uri="{BB962C8B-B14F-4D97-AF65-F5344CB8AC3E}">
        <p14:creationId xmlns:p14="http://schemas.microsoft.com/office/powerpoint/2010/main" val="345034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847CFC-816F-41D0-AAC0-9BF4FEBC753E}" type="datetimeFigureOut">
              <a:rPr lang="es-ES" smtClean="0"/>
              <a:pPr/>
              <a:t>20/07/2025</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132FADFE-3B8F-471C-ABF0-DBC7717ECBBC}" type="slidenum">
              <a:rPr lang="es-ES" smtClean="0"/>
              <a:pPr/>
              <a:t>‹#›</a:t>
            </a:fld>
            <a:endParaRPr lang="es-ES" dirty="0"/>
          </a:p>
        </p:txBody>
      </p:sp>
    </p:spTree>
    <p:extLst>
      <p:ext uri="{BB962C8B-B14F-4D97-AF65-F5344CB8AC3E}">
        <p14:creationId xmlns:p14="http://schemas.microsoft.com/office/powerpoint/2010/main" val="4094544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847CFC-816F-41D0-AAC0-9BF4FEBC753E}" type="datetimeFigureOut">
              <a:rPr lang="es-ES" smtClean="0"/>
              <a:pPr/>
              <a:t>20/07/2025</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132FADFE-3B8F-471C-ABF0-DBC7717ECBBC}" type="slidenum">
              <a:rPr lang="es-ES" smtClean="0"/>
              <a:pPr/>
              <a:t>‹#›</a:t>
            </a:fld>
            <a:endParaRPr lang="es-ES" dirty="0"/>
          </a:p>
        </p:txBody>
      </p:sp>
    </p:spTree>
    <p:extLst>
      <p:ext uri="{BB962C8B-B14F-4D97-AF65-F5344CB8AC3E}">
        <p14:creationId xmlns:p14="http://schemas.microsoft.com/office/powerpoint/2010/main" val="3319902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847CFC-816F-41D0-AAC0-9BF4FEBC753E}" type="datetimeFigureOut">
              <a:rPr lang="es-ES" smtClean="0"/>
              <a:pPr/>
              <a:t>20/07/2025</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132FADFE-3B8F-471C-ABF0-DBC7717ECBBC}" type="slidenum">
              <a:rPr lang="es-ES" smtClean="0"/>
              <a:pPr/>
              <a:t>‹#›</a:t>
            </a:fld>
            <a:endParaRPr lang="es-ES" dirty="0"/>
          </a:p>
        </p:txBody>
      </p:sp>
    </p:spTree>
    <p:extLst>
      <p:ext uri="{BB962C8B-B14F-4D97-AF65-F5344CB8AC3E}">
        <p14:creationId xmlns:p14="http://schemas.microsoft.com/office/powerpoint/2010/main" val="1738185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847CFC-816F-41D0-AAC0-9BF4FEBC753E}" type="datetimeFigureOut">
              <a:rPr lang="es-ES" smtClean="0"/>
              <a:pPr/>
              <a:t>20/07/2025</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132FADFE-3B8F-471C-ABF0-DBC7717ECBBC}" type="slidenum">
              <a:rPr lang="es-ES" smtClean="0"/>
              <a:pPr/>
              <a:t>‹#›</a:t>
            </a:fld>
            <a:endParaRPr lang="es-ES" dirty="0"/>
          </a:p>
        </p:txBody>
      </p:sp>
    </p:spTree>
    <p:extLst>
      <p:ext uri="{BB962C8B-B14F-4D97-AF65-F5344CB8AC3E}">
        <p14:creationId xmlns:p14="http://schemas.microsoft.com/office/powerpoint/2010/main" val="2925122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7A847CFC-816F-41D0-AAC0-9BF4FEBC753E}" type="datetimeFigureOut">
              <a:rPr lang="es-ES" smtClean="0"/>
              <a:pPr/>
              <a:t>20/07/2025</a:t>
            </a:fld>
            <a:endParaRPr lang="es-E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E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32FADFE-3B8F-471C-ABF0-DBC7717ECBBC}" type="slidenum">
              <a:rPr lang="es-ES" smtClean="0"/>
              <a:pPr/>
              <a:t>‹#›</a:t>
            </a:fld>
            <a:endParaRPr lang="es-ES" dirty="0"/>
          </a:p>
        </p:txBody>
      </p:sp>
    </p:spTree>
    <p:extLst>
      <p:ext uri="{BB962C8B-B14F-4D97-AF65-F5344CB8AC3E}">
        <p14:creationId xmlns:p14="http://schemas.microsoft.com/office/powerpoint/2010/main" val="3348429187"/>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23.emf"/><Relationship Id="rId4" Type="http://schemas.openxmlformats.org/officeDocument/2006/relationships/customXml" Target="../ink/ink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35496" y="533400"/>
            <a:ext cx="9073008" cy="2868168"/>
          </a:xfrm>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ANATOMY AND DISEASES OF THE EAR</a:t>
            </a:r>
            <a:br>
              <a:rPr lang="en-US" sz="3600" b="1" dirty="0" smtClean="0">
                <a:latin typeface="Times New Roman" panose="02020603050405020304" pitchFamily="18" charset="0"/>
                <a:cs typeface="Times New Roman" panose="02020603050405020304" pitchFamily="18" charset="0"/>
              </a:rPr>
            </a:br>
            <a:r>
              <a:rPr lang="en-US" sz="3600" b="1" dirty="0" smtClean="0">
                <a:latin typeface="Times New Roman" panose="02020603050405020304" pitchFamily="18" charset="0"/>
                <a:cs typeface="Times New Roman" panose="02020603050405020304" pitchFamily="18" charset="0"/>
              </a:rPr>
              <a:t> </a:t>
            </a:r>
            <a:endParaRPr lang="en-US" sz="3600" b="1" dirty="0">
              <a:latin typeface="Times New Roman" panose="02020603050405020304" pitchFamily="18" charset="0"/>
              <a:cs typeface="Times New Roman" panose="02020603050405020304" pitchFamily="18" charset="0"/>
            </a:endParaRPr>
          </a:p>
        </p:txBody>
      </p:sp>
      <p:sp>
        <p:nvSpPr>
          <p:cNvPr id="3" name="2 Subtítulo"/>
          <p:cNvSpPr>
            <a:spLocks noGrp="1"/>
          </p:cNvSpPr>
          <p:nvPr>
            <p:ph type="subTitle" idx="1"/>
          </p:nvPr>
        </p:nvSpPr>
        <p:spPr>
          <a:xfrm>
            <a:off x="1835696" y="3857628"/>
            <a:ext cx="7200800" cy="1803620"/>
          </a:xfrm>
        </p:spPr>
        <p:txBody>
          <a:bodyPr>
            <a:normAutofit/>
          </a:bodyPr>
          <a:lstStyle/>
          <a:p>
            <a:pPr lvl="2"/>
            <a:r>
              <a:rPr lang="en-US" sz="2000" b="1" dirty="0" smtClean="0">
                <a:latin typeface="Times New Roman" panose="02020603050405020304" pitchFamily="18" charset="0"/>
                <a:cs typeface="Times New Roman" panose="02020603050405020304" pitchFamily="18" charset="0"/>
              </a:rPr>
              <a:t>      Presented by:  </a:t>
            </a:r>
            <a:r>
              <a:rPr lang="en-US" sz="2000" dirty="0" smtClean="0">
                <a:latin typeface="Times New Roman" panose="02020603050405020304" pitchFamily="18" charset="0"/>
                <a:cs typeface="Times New Roman" panose="02020603050405020304" pitchFamily="18" charset="0"/>
              </a:rPr>
              <a:t>Dr Fahma Aden (ENT Resident)</a:t>
            </a:r>
          </a:p>
          <a:p>
            <a:pPr lvl="1" algn="l"/>
            <a:r>
              <a:rPr lang="en-US" sz="2000" dirty="0" smtClean="0">
                <a:latin typeface="Times New Roman" panose="02020603050405020304" pitchFamily="18" charset="0"/>
                <a:cs typeface="Times New Roman" panose="02020603050405020304" pitchFamily="18" charset="0"/>
              </a:rPr>
              <a:t>                    Department of ENT KIU-Teaching Hospital</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39000" cy="822944"/>
          </a:xfrm>
        </p:spPr>
        <p:txBody>
          <a:bodyPr/>
          <a:lstStyle/>
          <a:p>
            <a:r>
              <a:rPr lang="en-US" b="1" dirty="0" smtClean="0">
                <a:latin typeface="Times New Roman" panose="02020603050405020304" pitchFamily="18" charset="0"/>
                <a:cs typeface="Times New Roman" panose="02020603050405020304" pitchFamily="18" charset="0"/>
              </a:rPr>
              <a:t>OBJECTIVE</a:t>
            </a:r>
            <a:endParaRPr lang="en-US"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457200" y="1785926"/>
            <a:ext cx="8147248" cy="3929090"/>
          </a:xfrm>
        </p:spPr>
        <p:txBody>
          <a:bodyPr/>
          <a:lstStyle/>
          <a:p>
            <a:pPr>
              <a:lnSpc>
                <a:spcPct val="80000"/>
              </a:lnSpc>
            </a:pPr>
            <a:r>
              <a:rPr lang="en-US" sz="2400" dirty="0" smtClean="0">
                <a:latin typeface="Times New Roman" panose="02020603050405020304" pitchFamily="18" charset="0"/>
                <a:cs typeface="Times New Roman" panose="02020603050405020304" pitchFamily="18" charset="0"/>
              </a:rPr>
              <a:t>To recognize and treat diseases of the ear and their complication and select those for referral</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0992" y="620688"/>
            <a:ext cx="9073008" cy="1143000"/>
          </a:xfrm>
        </p:spPr>
        <p:txBody>
          <a:bodyPr>
            <a:noAutofit/>
          </a:bodyPr>
          <a:lstStyle/>
          <a:p>
            <a:r>
              <a:rPr lang="en-US" sz="3200" b="1" dirty="0" smtClean="0">
                <a:latin typeface="Times New Roman" panose="02020603050405020304" pitchFamily="18" charset="0"/>
                <a:cs typeface="Times New Roman" panose="02020603050405020304" pitchFamily="18" charset="0"/>
              </a:rPr>
              <a:t>For the purpose of anatomical description the ear divided into three separate portions</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428596" y="2011680"/>
            <a:ext cx="7239000" cy="3846212"/>
          </a:xfrm>
        </p:spPr>
        <p:txBody>
          <a:bodyPr/>
          <a:lstStyle/>
          <a:p>
            <a:r>
              <a:rPr lang="en-US" sz="3200" dirty="0" smtClean="0">
                <a:latin typeface="Times New Roman" panose="02020603050405020304" pitchFamily="18" charset="0"/>
                <a:cs typeface="Times New Roman" panose="02020603050405020304" pitchFamily="18" charset="0"/>
              </a:rPr>
              <a:t>The external ear with: </a:t>
            </a:r>
          </a:p>
          <a:p>
            <a:pPr lvl="1">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the auricle or pinna.</a:t>
            </a:r>
          </a:p>
          <a:p>
            <a:pPr lvl="1">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the external auditory canal.</a:t>
            </a:r>
          </a:p>
          <a:p>
            <a:r>
              <a:rPr lang="en-US" sz="3200" dirty="0" smtClean="0">
                <a:latin typeface="Times New Roman" panose="02020603050405020304" pitchFamily="18" charset="0"/>
                <a:cs typeface="Times New Roman" panose="02020603050405020304" pitchFamily="18" charset="0"/>
              </a:rPr>
              <a:t>The middle ear.</a:t>
            </a:r>
          </a:p>
          <a:p>
            <a:r>
              <a:rPr lang="en-US" sz="3200" dirty="0" smtClean="0">
                <a:latin typeface="Times New Roman" panose="02020603050405020304" pitchFamily="18" charset="0"/>
                <a:cs typeface="Times New Roman" panose="02020603050405020304" pitchFamily="18" charset="0"/>
              </a:rPr>
              <a:t>The inner ear</a:t>
            </a:r>
            <a:endParaRPr lang="en-US" sz="2800" dirty="0" smtClean="0">
              <a:latin typeface="Times New Roman" panose="02020603050405020304" pitchFamily="18" charset="0"/>
              <a:cs typeface="Times New Roman" panose="02020603050405020304" pitchFamily="18" charset="0"/>
            </a:endParaRP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32656"/>
            <a:ext cx="7886700" cy="1325563"/>
          </a:xfrm>
        </p:spPr>
        <p:txBody>
          <a:bodyPr>
            <a:normAutofit/>
          </a:bodyPr>
          <a:lstStyle/>
          <a:p>
            <a:r>
              <a:rPr lang="en-US" sz="2800" b="1" dirty="0" smtClean="0">
                <a:latin typeface="Times New Roman" panose="02020603050405020304" pitchFamily="18" charset="0"/>
                <a:cs typeface="Times New Roman" panose="02020603050405020304" pitchFamily="18" charset="0"/>
              </a:rPr>
              <a:t>EXTERNAL AUDITORY CANAL ANATOMY</a:t>
            </a:r>
            <a:endParaRPr lang="en-US" sz="28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rotWithShape="1">
          <a:blip r:embed="rId2"/>
          <a:srcRect t="3654" r="4237"/>
          <a:stretch/>
        </p:blipFill>
        <p:spPr>
          <a:xfrm>
            <a:off x="179512" y="1772816"/>
            <a:ext cx="8568952" cy="4467075"/>
          </a:xfrm>
          <a:prstGeom prst="rect">
            <a:avLst/>
          </a:prstGeom>
        </p:spPr>
      </p:pic>
    </p:spTree>
    <p:extLst>
      <p:ext uri="{BB962C8B-B14F-4D97-AF65-F5344CB8AC3E}">
        <p14:creationId xmlns:p14="http://schemas.microsoft.com/office/powerpoint/2010/main" val="28256420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EXTERNAL AUDITORY CANAL (EAC)</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9512" y="1825624"/>
            <a:ext cx="8856984" cy="4843735"/>
          </a:xfrm>
        </p:spPr>
        <p:txBody>
          <a:bodyPr>
            <a:normAutofit/>
          </a:bodyPr>
          <a:lstStyle/>
          <a:p>
            <a:pPr marL="0" indent="0">
              <a:lnSpc>
                <a:spcPct val="150000"/>
              </a:lnSpc>
              <a:buNone/>
            </a:pPr>
            <a:r>
              <a:rPr lang="en-US" dirty="0" smtClean="0">
                <a:latin typeface="Times New Roman" panose="02020603050405020304" pitchFamily="18" charset="0"/>
                <a:cs typeface="Times New Roman" panose="02020603050405020304" pitchFamily="18" charset="0"/>
              </a:rPr>
              <a:t>The EAC in adults is S-shaped and is 24 mm long. It has 2 parts </a:t>
            </a:r>
          </a:p>
          <a:p>
            <a:pPr marL="0" indent="0">
              <a:lnSpc>
                <a:spcPct val="150000"/>
              </a:lnSpc>
              <a:buNone/>
            </a:pPr>
            <a:r>
              <a:rPr lang="en-US" b="1" dirty="0" smtClean="0">
                <a:latin typeface="Times New Roman" panose="02020603050405020304" pitchFamily="18" charset="0"/>
                <a:cs typeface="Times New Roman" panose="02020603050405020304" pitchFamily="18" charset="0"/>
              </a:rPr>
              <a:t>1. Cartilaginous part: </a:t>
            </a:r>
            <a:r>
              <a:rPr lang="en-US" dirty="0" smtClean="0">
                <a:latin typeface="Times New Roman" panose="02020603050405020304" pitchFamily="18" charset="0"/>
                <a:cs typeface="Times New Roman" panose="02020603050405020304" pitchFamily="18" charset="0"/>
              </a:rPr>
              <a:t>This is the </a:t>
            </a:r>
            <a:r>
              <a:rPr lang="en-US" b="1" dirty="0" smtClean="0">
                <a:latin typeface="Times New Roman" panose="02020603050405020304" pitchFamily="18" charset="0"/>
                <a:cs typeface="Times New Roman" panose="02020603050405020304" pitchFamily="18" charset="0"/>
              </a:rPr>
              <a:t>outer 1/3rd</a:t>
            </a:r>
            <a:r>
              <a:rPr lang="en-US" dirty="0" smtClean="0">
                <a:latin typeface="Times New Roman" panose="02020603050405020304" pitchFamily="18" charset="0"/>
                <a:cs typeface="Times New Roman" panose="02020603050405020304" pitchFamily="18" charset="0"/>
              </a:rPr>
              <a:t>, i.e., 8 mm long (easy to remember the part of EAC adjoining the cartilaginous pinna is cartilaginous). </a:t>
            </a:r>
          </a:p>
          <a:p>
            <a:pPr>
              <a:lnSpc>
                <a:spcPct val="150000"/>
              </a:lnSpc>
            </a:pPr>
            <a:r>
              <a:rPr lang="en-US" dirty="0" smtClean="0">
                <a:latin typeface="Times New Roman" panose="02020603050405020304" pitchFamily="18" charset="0"/>
                <a:cs typeface="Times New Roman" panose="02020603050405020304" pitchFamily="18" charset="0"/>
              </a:rPr>
              <a:t> The skin in this cartilaginous EAC is </a:t>
            </a:r>
            <a:r>
              <a:rPr lang="en-US" b="1" dirty="0" smtClean="0">
                <a:latin typeface="Times New Roman" panose="02020603050405020304" pitchFamily="18" charset="0"/>
                <a:cs typeface="Times New Roman" panose="02020603050405020304" pitchFamily="18" charset="0"/>
              </a:rPr>
              <a:t>thick</a:t>
            </a:r>
            <a:r>
              <a:rPr lang="en-US" dirty="0" smtClean="0">
                <a:latin typeface="Times New Roman" panose="02020603050405020304" pitchFamily="18" charset="0"/>
                <a:cs typeface="Times New Roman" panose="02020603050405020304" pitchFamily="18" charset="0"/>
              </a:rPr>
              <a:t> and </a:t>
            </a:r>
            <a:r>
              <a:rPr lang="en-US" b="1" dirty="0" smtClean="0">
                <a:latin typeface="Times New Roman" panose="02020603050405020304" pitchFamily="18" charset="0"/>
                <a:cs typeface="Times New Roman" panose="02020603050405020304" pitchFamily="18" charset="0"/>
              </a:rPr>
              <a:t>contains hair follicles</a:t>
            </a:r>
            <a:r>
              <a:rPr lang="en-US" dirty="0" smtClean="0">
                <a:latin typeface="Times New Roman" panose="02020603050405020304" pitchFamily="18" charset="0"/>
                <a:cs typeface="Times New Roman" panose="02020603050405020304" pitchFamily="18" charset="0"/>
              </a:rPr>
              <a:t>, therefore a </a:t>
            </a:r>
            <a:r>
              <a:rPr lang="en-US" b="1" dirty="0" smtClean="0">
                <a:latin typeface="Times New Roman" panose="02020603050405020304" pitchFamily="18" charset="0"/>
                <a:cs typeface="Times New Roman" panose="02020603050405020304" pitchFamily="18" charset="0"/>
              </a:rPr>
              <a:t>furuncle is </a:t>
            </a:r>
            <a:r>
              <a:rPr lang="en-US" b="1" dirty="0" err="1" smtClean="0">
                <a:latin typeface="Times New Roman" panose="02020603050405020304" pitchFamily="18" charset="0"/>
                <a:cs typeface="Times New Roman" panose="02020603050405020304" pitchFamily="18" charset="0"/>
              </a:rPr>
              <a:t>localised</a:t>
            </a:r>
            <a:r>
              <a:rPr lang="en-US" b="1" dirty="0" smtClean="0">
                <a:latin typeface="Times New Roman" panose="02020603050405020304" pitchFamily="18" charset="0"/>
                <a:cs typeface="Times New Roman" panose="02020603050405020304" pitchFamily="18" charset="0"/>
              </a:rPr>
              <a:t> only to the cartilaginous part</a:t>
            </a:r>
            <a:r>
              <a:rPr lang="en-US" dirty="0" smtClean="0">
                <a:latin typeface="Times New Roman" panose="02020603050405020304" pitchFamily="18" charset="0"/>
                <a:cs typeface="Times New Roman" panose="02020603050405020304" pitchFamily="18" charset="0"/>
              </a:rPr>
              <a:t> of EAC.</a:t>
            </a:r>
          </a:p>
          <a:p>
            <a:pPr>
              <a:lnSpc>
                <a:spcPct val="150000"/>
              </a:lnSpc>
            </a:pPr>
            <a:r>
              <a:rPr lang="en-US" dirty="0" smtClean="0">
                <a:latin typeface="Times New Roman" panose="02020603050405020304" pitchFamily="18" charset="0"/>
                <a:cs typeface="Times New Roman" panose="02020603050405020304" pitchFamily="18" charset="0"/>
              </a:rPr>
              <a:t>The skin in this cartilaginous EAC also </a:t>
            </a:r>
            <a:r>
              <a:rPr lang="en-US" b="1" dirty="0" smtClean="0">
                <a:latin typeface="Times New Roman" panose="02020603050405020304" pitchFamily="18" charset="0"/>
                <a:cs typeface="Times New Roman" panose="02020603050405020304" pitchFamily="18" charset="0"/>
              </a:rPr>
              <a:t>contains ceruminous glands </a:t>
            </a:r>
            <a:r>
              <a:rPr lang="en-US" dirty="0" smtClean="0">
                <a:latin typeface="Times New Roman" panose="02020603050405020304" pitchFamily="18" charset="0"/>
                <a:cs typeface="Times New Roman" panose="02020603050405020304" pitchFamily="18" charset="0"/>
              </a:rPr>
              <a:t>which are the </a:t>
            </a:r>
            <a:r>
              <a:rPr lang="en-US" b="1" dirty="0" smtClean="0">
                <a:latin typeface="Times New Roman" panose="02020603050405020304" pitchFamily="18" charset="0"/>
                <a:cs typeface="Times New Roman" panose="02020603050405020304" pitchFamily="18" charset="0"/>
              </a:rPr>
              <a:t>modified sweat (apocrine) glands</a:t>
            </a:r>
            <a:r>
              <a:rPr lang="en-US" dirty="0" smtClean="0">
                <a:latin typeface="Times New Roman" panose="02020603050405020304" pitchFamily="18" charset="0"/>
                <a:cs typeface="Times New Roman" panose="02020603050405020304" pitchFamily="18" charset="0"/>
              </a:rPr>
              <a:t>. So, </a:t>
            </a:r>
            <a:r>
              <a:rPr lang="en-US" b="1" dirty="0" smtClean="0">
                <a:latin typeface="Times New Roman" panose="02020603050405020304" pitchFamily="18" charset="0"/>
                <a:cs typeface="Times New Roman" panose="02020603050405020304" pitchFamily="18" charset="0"/>
              </a:rPr>
              <a:t>wax is produced in this portion </a:t>
            </a:r>
            <a:r>
              <a:rPr lang="en-US" dirty="0" smtClean="0">
                <a:latin typeface="Times New Roman" panose="02020603050405020304" pitchFamily="18" charset="0"/>
                <a:cs typeface="Times New Roman" panose="02020603050405020304" pitchFamily="18" charset="0"/>
              </a:rPr>
              <a:t>of EAC.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93164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b="1" dirty="0" smtClean="0">
                <a:latin typeface="Times New Roman" panose="02020603050405020304" pitchFamily="18" charset="0"/>
                <a:cs typeface="Times New Roman" panose="02020603050405020304" pitchFamily="18" charset="0"/>
              </a:rPr>
              <a:t>2. Bony part</a:t>
            </a:r>
            <a:r>
              <a:rPr lang="en-US" dirty="0" smtClean="0">
                <a:latin typeface="Times New Roman" panose="02020603050405020304" pitchFamily="18" charset="0"/>
                <a:cs typeface="Times New Roman" panose="02020603050405020304" pitchFamily="18" charset="0"/>
              </a:rPr>
              <a:t>: This is the </a:t>
            </a:r>
            <a:r>
              <a:rPr lang="en-US" b="1" dirty="0" smtClean="0">
                <a:latin typeface="Times New Roman" panose="02020603050405020304" pitchFamily="18" charset="0"/>
                <a:cs typeface="Times New Roman" panose="02020603050405020304" pitchFamily="18" charset="0"/>
              </a:rPr>
              <a:t>inner 2/3rd portion </a:t>
            </a:r>
            <a:r>
              <a:rPr lang="en-US" dirty="0" smtClean="0">
                <a:latin typeface="Times New Roman" panose="02020603050405020304" pitchFamily="18" charset="0"/>
                <a:cs typeface="Times New Roman" panose="02020603050405020304" pitchFamily="18" charset="0"/>
              </a:rPr>
              <a:t>(i.e., </a:t>
            </a:r>
            <a:r>
              <a:rPr lang="en-US" b="1" dirty="0" smtClean="0">
                <a:latin typeface="Times New Roman" panose="02020603050405020304" pitchFamily="18" charset="0"/>
                <a:cs typeface="Times New Roman" panose="02020603050405020304" pitchFamily="18" charset="0"/>
              </a:rPr>
              <a:t>16 mm long</a:t>
            </a:r>
            <a:r>
              <a:rPr lang="en-US" dirty="0" smtClean="0">
                <a:latin typeface="Times New Roman" panose="02020603050405020304" pitchFamily="18" charset="0"/>
                <a:cs typeface="Times New Roman" panose="02020603050405020304" pitchFamily="18" charset="0"/>
              </a:rPr>
              <a:t>) of the EAC. This part is not completely developed at birth. </a:t>
            </a:r>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The narrowest part of EAC called </a:t>
            </a:r>
            <a:r>
              <a:rPr lang="en-US" b="1" dirty="0" smtClean="0">
                <a:latin typeface="Times New Roman" panose="02020603050405020304" pitchFamily="18" charset="0"/>
                <a:cs typeface="Times New Roman" panose="02020603050405020304" pitchFamily="18" charset="0"/>
              </a:rPr>
              <a:t>isthmus</a:t>
            </a:r>
            <a:r>
              <a:rPr lang="en-US" dirty="0" smtClean="0">
                <a:latin typeface="Times New Roman" panose="02020603050405020304" pitchFamily="18" charset="0"/>
                <a:cs typeface="Times New Roman" panose="02020603050405020304" pitchFamily="18" charset="0"/>
              </a:rPr>
              <a:t> is situated in this bony portion. </a:t>
            </a:r>
          </a:p>
          <a:p>
            <a:r>
              <a:rPr lang="en-US" dirty="0" smtClean="0">
                <a:latin typeface="Times New Roman" panose="02020603050405020304" pitchFamily="18" charset="0"/>
                <a:cs typeface="Times New Roman" panose="02020603050405020304" pitchFamily="18" charset="0"/>
              </a:rPr>
              <a:t>The isthmus is situated 5 mm lateral to the tympanic membrane. Foreign bodies lodged medial to the isthmus, get impacted and are therefore, difficult to remove. </a:t>
            </a:r>
          </a:p>
        </p:txBody>
      </p:sp>
    </p:spTree>
    <p:extLst>
      <p:ext uri="{BB962C8B-B14F-4D97-AF65-F5344CB8AC3E}">
        <p14:creationId xmlns:p14="http://schemas.microsoft.com/office/powerpoint/2010/main" val="42506554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39000" cy="608630"/>
          </a:xfrm>
        </p:spPr>
        <p:txBody>
          <a:bodyPr>
            <a:normAutofit/>
          </a:bodyPr>
          <a:lstStyle/>
          <a:p>
            <a:r>
              <a:rPr lang="en-US" sz="3600" b="1" dirty="0" smtClean="0">
                <a:latin typeface="Times New Roman" panose="02020603050405020304" pitchFamily="18" charset="0"/>
                <a:cs typeface="Times New Roman" panose="02020603050405020304" pitchFamily="18" charset="0"/>
              </a:rPr>
              <a:t>THE MIDDLE EAR:</a:t>
            </a:r>
            <a:endParaRPr lang="en-US" sz="3600"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457200" y="1609416"/>
            <a:ext cx="7758138" cy="4846320"/>
          </a:xfrm>
        </p:spPr>
        <p:txBody>
          <a:bodyPr/>
          <a:lstStyle/>
          <a:p>
            <a:r>
              <a:rPr lang="en-US" sz="2800" dirty="0" smtClean="0">
                <a:latin typeface="Times New Roman" panose="02020603050405020304" pitchFamily="18" charset="0"/>
                <a:cs typeface="Times New Roman" panose="02020603050405020304" pitchFamily="18" charset="0"/>
              </a:rPr>
              <a:t>The tympanic cavity.</a:t>
            </a:r>
          </a:p>
          <a:p>
            <a:r>
              <a:rPr lang="en-US" sz="2800" dirty="0" smtClean="0">
                <a:latin typeface="Times New Roman" panose="02020603050405020304" pitchFamily="18" charset="0"/>
                <a:cs typeface="Times New Roman" panose="02020603050405020304" pitchFamily="18" charset="0"/>
              </a:rPr>
              <a:t>The Eustachian tube.</a:t>
            </a:r>
          </a:p>
          <a:p>
            <a:r>
              <a:rPr lang="en-US" sz="2800" dirty="0" smtClean="0">
                <a:latin typeface="Times New Roman" panose="02020603050405020304" pitchFamily="18" charset="0"/>
                <a:cs typeface="Times New Roman" panose="02020603050405020304" pitchFamily="18" charset="0"/>
              </a:rPr>
              <a:t>The mastoid air cell system</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1142984"/>
            <a:ext cx="7239000" cy="4846320"/>
          </a:xfrm>
        </p:spPr>
        <p:txBody>
          <a:bodyPr>
            <a:normAutofit/>
          </a:bodyPr>
          <a:lstStyle/>
          <a:p>
            <a:r>
              <a:rPr lang="en-US" sz="2400" u="sng" dirty="0" smtClean="0">
                <a:latin typeface="Times New Roman" panose="02020603050405020304" pitchFamily="18" charset="0"/>
                <a:cs typeface="Times New Roman" panose="02020603050405020304" pitchFamily="18" charset="0"/>
              </a:rPr>
              <a:t>The tympanic cavity</a:t>
            </a:r>
            <a:r>
              <a:rPr lang="en-US" sz="2400" dirty="0" smtClean="0">
                <a:latin typeface="Times New Roman" panose="02020603050405020304" pitchFamily="18" charset="0"/>
                <a:cs typeface="Times New Roman" panose="02020603050405020304" pitchFamily="18" charset="0"/>
              </a:rPr>
              <a:t>: Contents of the chain of </a:t>
            </a:r>
            <a:r>
              <a:rPr lang="en-US" sz="2400" b="1" dirty="0" err="1" smtClean="0">
                <a:latin typeface="Times New Roman" panose="02020603050405020304" pitchFamily="18" charset="0"/>
                <a:cs typeface="Times New Roman" panose="02020603050405020304" pitchFamily="18" charset="0"/>
              </a:rPr>
              <a:t>ossicles</a:t>
            </a:r>
            <a:r>
              <a:rPr lang="en-US" sz="2400" b="1" dirty="0" smtClean="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 the tympanic muscle, and the cord tympanic nerve. The handle of the </a:t>
            </a:r>
            <a:r>
              <a:rPr lang="en-US" sz="2400" dirty="0" err="1" smtClean="0">
                <a:latin typeface="Times New Roman" panose="02020603050405020304" pitchFamily="18" charset="0"/>
                <a:cs typeface="Times New Roman" panose="02020603050405020304" pitchFamily="18" charset="0"/>
              </a:rPr>
              <a:t>malleus</a:t>
            </a:r>
            <a:r>
              <a:rPr lang="en-US" sz="2400" dirty="0" smtClean="0">
                <a:latin typeface="Times New Roman" panose="02020603050405020304" pitchFamily="18" charset="0"/>
                <a:cs typeface="Times New Roman" panose="02020603050405020304" pitchFamily="18" charset="0"/>
              </a:rPr>
              <a:t> is attached to the membrane .The </a:t>
            </a:r>
            <a:r>
              <a:rPr lang="en-US" sz="2400" dirty="0" err="1" smtClean="0">
                <a:latin typeface="Times New Roman" panose="02020603050405020304" pitchFamily="18" charset="0"/>
                <a:cs typeface="Times New Roman" panose="02020603050405020304" pitchFamily="18" charset="0"/>
              </a:rPr>
              <a:t>incus</a:t>
            </a:r>
            <a:r>
              <a:rPr lang="en-US" sz="2400" dirty="0" smtClean="0">
                <a:latin typeface="Times New Roman" panose="02020603050405020304" pitchFamily="18" charset="0"/>
                <a:cs typeface="Times New Roman" panose="02020603050405020304" pitchFamily="18" charset="0"/>
              </a:rPr>
              <a:t> is suspended between the </a:t>
            </a:r>
            <a:r>
              <a:rPr lang="en-US" sz="2400" dirty="0" err="1" smtClean="0">
                <a:latin typeface="Times New Roman" panose="02020603050405020304" pitchFamily="18" charset="0"/>
                <a:cs typeface="Times New Roman" panose="02020603050405020304" pitchFamily="18" charset="0"/>
              </a:rPr>
              <a:t>malleus</a:t>
            </a:r>
            <a:r>
              <a:rPr lang="en-US" sz="2400" dirty="0" smtClean="0">
                <a:latin typeface="Times New Roman" panose="02020603050405020304" pitchFamily="18" charset="0"/>
                <a:cs typeface="Times New Roman" panose="02020603050405020304" pitchFamily="18" charset="0"/>
              </a:rPr>
              <a:t> and stapes.</a:t>
            </a:r>
          </a:p>
          <a:p>
            <a:r>
              <a:rPr lang="en-US" sz="2400" dirty="0" smtClean="0">
                <a:latin typeface="Times New Roman" panose="02020603050405020304" pitchFamily="18" charset="0"/>
                <a:cs typeface="Times New Roman" panose="02020603050405020304" pitchFamily="18" charset="0"/>
              </a:rPr>
              <a:t>The tympanic membrane is of clinical importance chiefly on account of the various changes in its appearance in diseased conditions of the middle ear.</a:t>
            </a: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7504" y="320040"/>
            <a:ext cx="8928992" cy="1289376"/>
          </a:xfrm>
        </p:spPr>
        <p:txBody>
          <a:bodyPr>
            <a:normAutofit/>
          </a:bodyPr>
          <a:lstStyle/>
          <a:p>
            <a:r>
              <a:rPr lang="en-US" sz="2400" b="1" dirty="0" smtClean="0">
                <a:latin typeface="Times New Roman" panose="02020603050405020304" pitchFamily="18" charset="0"/>
                <a:cs typeface="Times New Roman" panose="02020603050405020304" pitchFamily="18" charset="0"/>
              </a:rPr>
              <a:t>CHARACTERISTICS OF NORMAL TYMPANIC MEMBRANE</a:t>
            </a:r>
            <a:endParaRPr lang="en-US" sz="2400"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457200" y="1609416"/>
            <a:ext cx="7758138" cy="4846320"/>
          </a:xfrm>
        </p:spPr>
        <p:txBody>
          <a:bodyPr/>
          <a:lstStyle/>
          <a:p>
            <a:r>
              <a:rPr lang="en-US" sz="2400" dirty="0" smtClean="0">
                <a:latin typeface="Times New Roman" panose="02020603050405020304" pitchFamily="18" charset="0"/>
                <a:cs typeface="Times New Roman" panose="02020603050405020304" pitchFamily="18" charset="0"/>
              </a:rPr>
              <a:t>The handle of the malleus.</a:t>
            </a:r>
          </a:p>
          <a:p>
            <a:r>
              <a:rPr lang="en-US" sz="2400" dirty="0" smtClean="0">
                <a:latin typeface="Times New Roman" panose="02020603050405020304" pitchFamily="18" charset="0"/>
                <a:cs typeface="Times New Roman" panose="02020603050405020304" pitchFamily="18" charset="0"/>
              </a:rPr>
              <a:t>The short process of the </a:t>
            </a:r>
            <a:r>
              <a:rPr lang="en-US" sz="2400" dirty="0" err="1" smtClean="0">
                <a:latin typeface="Times New Roman" panose="02020603050405020304" pitchFamily="18" charset="0"/>
                <a:cs typeface="Times New Roman" panose="02020603050405020304" pitchFamily="18" charset="0"/>
              </a:rPr>
              <a:t>malleus</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The triangular cone of light. </a:t>
            </a:r>
          </a:p>
          <a:p>
            <a:r>
              <a:rPr lang="en-US" sz="2400" dirty="0" smtClean="0">
                <a:latin typeface="Times New Roman" panose="02020603050405020304" pitchFamily="18" charset="0"/>
                <a:cs typeface="Times New Roman" panose="02020603050405020304" pitchFamily="18" charset="0"/>
              </a:rPr>
              <a:t>The anterior and posterior folds.</a:t>
            </a:r>
          </a:p>
          <a:p>
            <a:r>
              <a:rPr lang="en-US" sz="2400" dirty="0" smtClean="0">
                <a:latin typeface="Times New Roman" panose="02020603050405020304" pitchFamily="18" charset="0"/>
                <a:cs typeface="Times New Roman" panose="02020603050405020304" pitchFamily="18" charset="0"/>
              </a:rPr>
              <a:t>The eardrum is pearly gray.</a:t>
            </a:r>
          </a:p>
          <a:p>
            <a:endParaRPr lang="en-US" dirty="0"/>
          </a:p>
        </p:txBody>
      </p:sp>
      <p:pic>
        <p:nvPicPr>
          <p:cNvPr id="4" name="Picture 3"/>
          <p:cNvPicPr>
            <a:picLocks noChangeAspect="1"/>
          </p:cNvPicPr>
          <p:nvPr/>
        </p:nvPicPr>
        <p:blipFill>
          <a:blip r:embed="rId2"/>
          <a:stretch>
            <a:fillRect/>
          </a:stretch>
        </p:blipFill>
        <p:spPr>
          <a:xfrm>
            <a:off x="5004048" y="2898793"/>
            <a:ext cx="4139952" cy="3587776"/>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srcRect/>
          <a:stretch>
            <a:fillRect/>
          </a:stretch>
        </p:blipFill>
        <p:spPr bwMode="auto">
          <a:xfrm>
            <a:off x="285720" y="214290"/>
            <a:ext cx="8429684" cy="650083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4081" y="365127"/>
            <a:ext cx="8111269" cy="687610"/>
          </a:xfrm>
        </p:spPr>
        <p:txBody>
          <a:bodyPr/>
          <a:lstStyle/>
          <a:p>
            <a:r>
              <a:rPr lang="en-US" b="1" dirty="0" smtClean="0">
                <a:latin typeface="Times New Roman" panose="02020603050405020304" pitchFamily="18" charset="0"/>
                <a:cs typeface="Times New Roman" panose="02020603050405020304" pitchFamily="18" charset="0"/>
              </a:rPr>
              <a:t>The Eustachian tube</a:t>
            </a:r>
            <a:endParaRPr lang="en-US" dirty="0"/>
          </a:p>
        </p:txBody>
      </p:sp>
      <p:sp>
        <p:nvSpPr>
          <p:cNvPr id="3" name="Content Placeholder 2"/>
          <p:cNvSpPr>
            <a:spLocks noGrp="1"/>
          </p:cNvSpPr>
          <p:nvPr>
            <p:ph idx="1"/>
          </p:nvPr>
        </p:nvSpPr>
        <p:spPr>
          <a:xfrm>
            <a:off x="404081" y="1268760"/>
            <a:ext cx="8335838" cy="5472608"/>
          </a:xfrm>
        </p:spPr>
        <p:txBody>
          <a:bodyPr>
            <a:noAutofit/>
          </a:bodyPr>
          <a:lstStyle/>
          <a:p>
            <a:r>
              <a:rPr lang="en-US" sz="2400" dirty="0" smtClean="0">
                <a:latin typeface="Times New Roman" panose="02020603050405020304" pitchFamily="18" charset="0"/>
                <a:cs typeface="Times New Roman" panose="02020603050405020304" pitchFamily="18" charset="0"/>
              </a:rPr>
              <a:t>The Eustachian tube connects the middle ear cavity with the nasopharynx. Eustachian tube normally remains closed and opens intermittently during swallowing, yawning and sneezing. Tensor </a:t>
            </a:r>
            <a:r>
              <a:rPr lang="en-US" sz="2400" dirty="0" err="1" smtClean="0">
                <a:latin typeface="Times New Roman" panose="02020603050405020304" pitchFamily="18" charset="0"/>
                <a:cs typeface="Times New Roman" panose="02020603050405020304" pitchFamily="18" charset="0"/>
              </a:rPr>
              <a:t>palati</a:t>
            </a:r>
            <a:r>
              <a:rPr lang="en-US" sz="2400" dirty="0" smtClean="0">
                <a:latin typeface="Times New Roman" panose="02020603050405020304" pitchFamily="18" charset="0"/>
                <a:cs typeface="Times New Roman" panose="02020603050405020304" pitchFamily="18" charset="0"/>
              </a:rPr>
              <a:t> muscle plays the major role in opening the tube. Normally the Eustachian tube opens frequently, stably maintaining the middle ear pressure between +50 mm and –50 mm H2O.</a:t>
            </a:r>
          </a:p>
          <a:p>
            <a:r>
              <a:rPr lang="en-US" sz="2400" dirty="0" smtClean="0">
                <a:latin typeface="Times New Roman" panose="02020603050405020304" pitchFamily="18" charset="0"/>
                <a:cs typeface="Times New Roman" panose="02020603050405020304" pitchFamily="18" charset="0"/>
              </a:rPr>
              <a:t>The second and most common avenue of approach to the middle ear cavity is trough the Eustachian tube. This not interfere with drainage under normal conditions .If however the cilia are impaired in their functional activity by an inflammatory or other </a:t>
            </a:r>
            <a:r>
              <a:rPr lang="en-US" sz="2400" dirty="0" err="1" smtClean="0">
                <a:latin typeface="Times New Roman" panose="02020603050405020304" pitchFamily="18" charset="0"/>
                <a:cs typeface="Times New Roman" panose="02020603050405020304" pitchFamily="18" charset="0"/>
              </a:rPr>
              <a:t>morbil</a:t>
            </a:r>
            <a:r>
              <a:rPr lang="en-US" sz="2400" dirty="0" smtClean="0">
                <a:latin typeface="Times New Roman" panose="02020603050405020304" pitchFamily="18" charset="0"/>
                <a:cs typeface="Times New Roman" panose="02020603050405020304" pitchFamily="18" charset="0"/>
              </a:rPr>
              <a:t> process, the elevated position or the tympanic orifice of the tube materially  interferes with the drainage. Anything that obstruction the flow of secretions of the Eustachian tube predisposes the mucous membrane of the tube and middle ear to infection and inflammation.</a:t>
            </a:r>
          </a:p>
        </p:txBody>
      </p:sp>
    </p:spTree>
    <p:extLst>
      <p:ext uri="{BB962C8B-B14F-4D97-AF65-F5344CB8AC3E}">
        <p14:creationId xmlns:p14="http://schemas.microsoft.com/office/powerpoint/2010/main" val="7252654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AutoShape 2" descr="Trompa de eustaquio y zumbido - Viviendo el sonid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075" name="Picture 3" descr="C:\Users\user\Desktop\ORL\Class\CONFERENCIAS\Mis conferencias\Otology\images 3.jpg"/>
          <p:cNvPicPr>
            <a:picLocks noGrp="1" noChangeAspect="1" noChangeArrowheads="1"/>
          </p:cNvPicPr>
          <p:nvPr>
            <p:ph idx="1"/>
          </p:nvPr>
        </p:nvPicPr>
        <p:blipFill>
          <a:blip r:embed="rId2"/>
          <a:srcRect/>
          <a:stretch>
            <a:fillRect/>
          </a:stretch>
        </p:blipFill>
        <p:spPr bwMode="auto">
          <a:xfrm>
            <a:off x="285720" y="1643050"/>
            <a:ext cx="3929090" cy="4000528"/>
          </a:xfrm>
          <a:prstGeom prst="rect">
            <a:avLst/>
          </a:prstGeom>
          <a:noFill/>
        </p:spPr>
      </p:pic>
      <p:pic>
        <p:nvPicPr>
          <p:cNvPr id="3077" name="Picture 5" descr="C:\Users\user\Desktop\ORL\Class\CONFERENCIAS\Mis conferencias\Otology\52_Disfunción_Trompa_Eustaquio.jpg"/>
          <p:cNvPicPr>
            <a:picLocks noChangeAspect="1" noChangeArrowheads="1"/>
          </p:cNvPicPr>
          <p:nvPr/>
        </p:nvPicPr>
        <p:blipFill>
          <a:blip r:embed="rId3"/>
          <a:srcRect/>
          <a:stretch>
            <a:fillRect/>
          </a:stretch>
        </p:blipFill>
        <p:spPr bwMode="auto">
          <a:xfrm>
            <a:off x="4500562" y="1785926"/>
            <a:ext cx="3786214" cy="3857652"/>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39000" cy="680068"/>
          </a:xfrm>
        </p:spPr>
        <p:txBody>
          <a:bodyPr>
            <a:normAutofit/>
          </a:bodyPr>
          <a:lstStyle/>
          <a:p>
            <a:pPr algn="ctr"/>
            <a:r>
              <a:rPr lang="en-US" sz="3600" b="1" dirty="0" smtClean="0">
                <a:latin typeface="Times New Roman" panose="02020603050405020304" pitchFamily="18" charset="0"/>
                <a:cs typeface="Times New Roman" pitchFamily="18" charset="0"/>
              </a:rPr>
              <a:t>THE INNER EAR.</a:t>
            </a:r>
            <a:endParaRPr lang="en-US" sz="3600"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457200" y="1609416"/>
            <a:ext cx="7686700" cy="4962856"/>
          </a:xfrm>
        </p:spPr>
        <p:txBody>
          <a:bodyPr>
            <a:normAutofit/>
          </a:bodyPr>
          <a:lstStyle/>
          <a:p>
            <a:pPr indent="0"/>
            <a:r>
              <a:rPr lang="en-US" sz="2400" dirty="0" smtClean="0">
                <a:latin typeface="Times New Roman" pitchFamily="18" charset="0"/>
                <a:cs typeface="Times New Roman" pitchFamily="18" charset="0"/>
              </a:rPr>
              <a:t>The front portion is the snail –shaped </a:t>
            </a:r>
            <a:r>
              <a:rPr lang="en-US" sz="2400" b="1" dirty="0" smtClean="0">
                <a:latin typeface="Times New Roman" pitchFamily="18" charset="0"/>
                <a:cs typeface="Times New Roman" pitchFamily="18" charset="0"/>
              </a:rPr>
              <a:t>COCHLEA</a:t>
            </a:r>
            <a:r>
              <a:rPr lang="en-US" sz="2400" dirty="0" smtClean="0">
                <a:latin typeface="Times New Roman" pitchFamily="18" charset="0"/>
                <a:cs typeface="Times New Roman" pitchFamily="18" charset="0"/>
              </a:rPr>
              <a:t> which functions in </a:t>
            </a:r>
            <a:r>
              <a:rPr lang="en-US" sz="2400" b="1" dirty="0" smtClean="0">
                <a:latin typeface="Times New Roman" pitchFamily="18" charset="0"/>
                <a:cs typeface="Times New Roman" pitchFamily="18" charset="0"/>
              </a:rPr>
              <a:t>HEARING</a:t>
            </a:r>
            <a:r>
              <a:rPr lang="en-US" sz="2400" dirty="0" smtClean="0">
                <a:latin typeface="Times New Roman" pitchFamily="18" charset="0"/>
                <a:cs typeface="Times New Roman" pitchFamily="18" charset="0"/>
              </a:rPr>
              <a:t>.</a:t>
            </a:r>
          </a:p>
          <a:p>
            <a:pPr indent="0"/>
            <a:r>
              <a:rPr lang="en-US" sz="2400" dirty="0" smtClean="0">
                <a:latin typeface="Times New Roman" pitchFamily="18" charset="0"/>
                <a:cs typeface="Times New Roman" pitchFamily="18" charset="0"/>
              </a:rPr>
              <a:t>The rear part, </a:t>
            </a:r>
            <a:r>
              <a:rPr lang="en-US" sz="2400" b="1" dirty="0" smtClean="0">
                <a:latin typeface="Times New Roman" pitchFamily="18" charset="0"/>
                <a:cs typeface="Times New Roman" pitchFamily="18" charset="0"/>
              </a:rPr>
              <a:t>THE SEMICIRCULAR CANAL </a:t>
            </a:r>
            <a:r>
              <a:rPr lang="en-US" sz="2400" dirty="0" smtClean="0">
                <a:latin typeface="Times New Roman" pitchFamily="18" charset="0"/>
                <a:cs typeface="Times New Roman" pitchFamily="18" charset="0"/>
              </a:rPr>
              <a:t>.which function is </a:t>
            </a:r>
            <a:r>
              <a:rPr lang="en-US" sz="2400" b="1" dirty="0" smtClean="0">
                <a:latin typeface="Times New Roman" pitchFamily="18" charset="0"/>
                <a:cs typeface="Times New Roman" pitchFamily="18" charset="0"/>
              </a:rPr>
              <a:t>BALANCE.</a:t>
            </a:r>
          </a:p>
          <a:p>
            <a:pPr indent="0"/>
            <a:r>
              <a:rPr lang="en-US" sz="2400" dirty="0" smtClean="0">
                <a:latin typeface="Times New Roman" pitchFamily="18" charset="0"/>
                <a:cs typeface="Times New Roman" pitchFamily="18" charset="0"/>
              </a:rPr>
              <a:t>Interconnecting the cochlea and the semicircular canals is the </a:t>
            </a:r>
            <a:r>
              <a:rPr lang="en-US" sz="2400" b="1" dirty="0" smtClean="0">
                <a:latin typeface="Times New Roman" pitchFamily="18" charset="0"/>
                <a:cs typeface="Times New Roman" pitchFamily="18" charset="0"/>
              </a:rPr>
              <a:t>VESTIBULE,</a:t>
            </a:r>
            <a:r>
              <a:rPr lang="en-US" sz="2400" dirty="0" smtClean="0">
                <a:latin typeface="Times New Roman" pitchFamily="18" charset="0"/>
                <a:cs typeface="Times New Roman" pitchFamily="18" charset="0"/>
              </a:rPr>
              <a:t>  containing the sense organs responsible for balance: The </a:t>
            </a:r>
            <a:r>
              <a:rPr lang="en-US" sz="2400" dirty="0" err="1" smtClean="0">
                <a:latin typeface="Times New Roman" pitchFamily="18" charset="0"/>
                <a:cs typeface="Times New Roman" pitchFamily="18" charset="0"/>
              </a:rPr>
              <a:t>saccule</a:t>
            </a:r>
            <a:r>
              <a:rPr lang="en-US" sz="2400" dirty="0" smtClean="0">
                <a:latin typeface="Times New Roman" pitchFamily="18" charset="0"/>
                <a:cs typeface="Times New Roman" pitchFamily="18" charset="0"/>
              </a:rPr>
              <a:t>  and utricle.</a:t>
            </a:r>
            <a:endParaRPr lang="en-US" dirty="0" smtClean="0"/>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1"/>
          <p:cNvPicPr>
            <a:picLocks noGrp="1" noChangeAspect="1" noChangeArrowheads="1"/>
          </p:cNvPicPr>
          <p:nvPr>
            <p:ph idx="1"/>
          </p:nvPr>
        </p:nvPicPr>
        <p:blipFill>
          <a:blip r:embed="rId2"/>
          <a:srcRect/>
          <a:stretch>
            <a:fillRect/>
          </a:stretch>
        </p:blipFill>
        <p:spPr bwMode="auto">
          <a:xfrm>
            <a:off x="500034" y="1142984"/>
            <a:ext cx="7474153" cy="50006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204864"/>
            <a:ext cx="7886700" cy="1325563"/>
          </a:xfrm>
        </p:spPr>
        <p:txBody>
          <a:bodyPr/>
          <a:lstStyle/>
          <a:p>
            <a:pPr algn="ctr"/>
            <a:r>
              <a:rPr lang="en-US" b="1" dirty="0" smtClean="0">
                <a:latin typeface="Times New Roman" panose="02020603050405020304" pitchFamily="18" charset="0"/>
                <a:cs typeface="Times New Roman" panose="02020603050405020304" pitchFamily="18" charset="0"/>
              </a:rPr>
              <a:t>DISEASES OF THE EAR</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310649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320040"/>
            <a:ext cx="8856984" cy="1164744"/>
          </a:xfrm>
        </p:spPr>
        <p:txBody>
          <a:bodyPr>
            <a:normAutofit fontScale="90000"/>
          </a:bodyPr>
          <a:lstStyle/>
          <a:p>
            <a:pPr algn="ctr"/>
            <a:r>
              <a:rPr lang="es-DO" altLang="es-DO" sz="4000" b="1" dirty="0" smtClean="0">
                <a:latin typeface="Times New Roman" panose="02020603050405020304" pitchFamily="18" charset="0"/>
                <a:cs typeface="Times New Roman" panose="02020603050405020304" pitchFamily="18" charset="0"/>
              </a:rPr>
              <a:t>INTRODUCTION OF OTITIS</a:t>
            </a:r>
            <a:r>
              <a:rPr lang="en-US" altLang="es-DO" sz="4000" b="1" dirty="0" smtClean="0">
                <a:latin typeface="Times New Roman" panose="02020603050405020304" pitchFamily="18" charset="0"/>
                <a:cs typeface="Times New Roman" panose="02020603050405020304" pitchFamily="18" charset="0"/>
              </a:rPr>
              <a:t> EXTERNA</a:t>
            </a:r>
            <a:endParaRPr lang="en-US"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p:txBody>
          <a:bodyPr>
            <a:normAutofit/>
          </a:bodyPr>
          <a:lstStyle/>
          <a:p>
            <a:pPr marL="0" indent="0">
              <a:lnSpc>
                <a:spcPct val="150000"/>
              </a:lnSpc>
              <a:spcBef>
                <a:spcPct val="50000"/>
              </a:spcBef>
              <a:buNone/>
            </a:pPr>
            <a:r>
              <a:rPr lang="en-US" altLang="es-DO" sz="2000" b="1" dirty="0" smtClean="0">
                <a:latin typeface="Times New Roman" panose="02020603050405020304" pitchFamily="18" charset="0"/>
                <a:cs typeface="Times New Roman" panose="02020603050405020304" pitchFamily="18" charset="0"/>
              </a:rPr>
              <a:t>Otitis Externa :</a:t>
            </a:r>
            <a:r>
              <a:rPr lang="en-US" altLang="es-DO" sz="2000" dirty="0" smtClean="0">
                <a:latin typeface="Times New Roman" panose="02020603050405020304" pitchFamily="18" charset="0"/>
                <a:cs typeface="Times New Roman" panose="02020603050405020304" pitchFamily="18" charset="0"/>
              </a:rPr>
              <a:t>  inflammatory disorders( infectious )  of the external ear includes</a:t>
            </a:r>
          </a:p>
          <a:p>
            <a:pPr lvl="1">
              <a:lnSpc>
                <a:spcPct val="150000"/>
              </a:lnSpc>
              <a:buFont typeface="Arial" charset="0"/>
              <a:buChar char="•"/>
            </a:pPr>
            <a:r>
              <a:rPr lang="en-US" altLang="es-DO" sz="2000" dirty="0" smtClean="0">
                <a:latin typeface="Times New Roman" panose="02020603050405020304" pitchFamily="18" charset="0"/>
                <a:cs typeface="Times New Roman" panose="02020603050405020304" pitchFamily="18" charset="0"/>
              </a:rPr>
              <a:t> -all inflammatory conditions of the auricle</a:t>
            </a:r>
          </a:p>
          <a:p>
            <a:pPr lvl="1">
              <a:lnSpc>
                <a:spcPct val="150000"/>
              </a:lnSpc>
              <a:buFont typeface="Arial" charset="0"/>
              <a:buChar char="•"/>
            </a:pPr>
            <a:r>
              <a:rPr lang="en-US" altLang="es-DO" sz="2000" dirty="0" smtClean="0">
                <a:latin typeface="Times New Roman" panose="02020603050405020304" pitchFamily="18" charset="0"/>
                <a:cs typeface="Times New Roman" panose="02020603050405020304" pitchFamily="18" charset="0"/>
              </a:rPr>
              <a:t> -external ear canal</a:t>
            </a:r>
          </a:p>
          <a:p>
            <a:pPr lvl="1">
              <a:lnSpc>
                <a:spcPct val="150000"/>
              </a:lnSpc>
              <a:buFont typeface="Arial" charset="0"/>
              <a:buChar char="•"/>
            </a:pPr>
            <a:r>
              <a:rPr lang="en-US" altLang="es-DO" sz="2000" dirty="0" smtClean="0">
                <a:latin typeface="Times New Roman" panose="02020603050405020304" pitchFamily="18" charset="0"/>
                <a:cs typeface="Times New Roman" panose="02020603050405020304" pitchFamily="18" charset="0"/>
              </a:rPr>
              <a:t> -and outer surface of the TM</a:t>
            </a:r>
          </a:p>
          <a:p>
            <a:pPr>
              <a:lnSpc>
                <a:spcPct val="150000"/>
              </a:lnSpc>
            </a:pPr>
            <a:r>
              <a:rPr lang="en-US" altLang="es-DO" sz="2000" dirty="0" smtClean="0">
                <a:latin typeface="Times New Roman" panose="02020603050405020304" pitchFamily="18" charset="0"/>
                <a:cs typeface="Times New Roman" panose="02020603050405020304" pitchFamily="18" charset="0"/>
              </a:rPr>
              <a:t>Common childhood disease</a:t>
            </a:r>
          </a:p>
          <a:p>
            <a:pPr>
              <a:lnSpc>
                <a:spcPct val="150000"/>
              </a:lnSpc>
            </a:pPr>
            <a:r>
              <a:rPr lang="en-US" altLang="es-DO" sz="2000" dirty="0" smtClean="0">
                <a:latin typeface="Times New Roman" panose="02020603050405020304" pitchFamily="18" charset="0"/>
                <a:cs typeface="Times New Roman" panose="02020603050405020304" pitchFamily="18" charset="0"/>
              </a:rPr>
              <a:t>Commonly referred to as “swimmer’s ear” or “tropical ear”</a:t>
            </a:r>
          </a:p>
          <a:p>
            <a:pPr>
              <a:lnSpc>
                <a:spcPct val="150000"/>
              </a:lnSpc>
            </a:pPr>
            <a:r>
              <a:rPr lang="en-US" altLang="es-DO" sz="2000" dirty="0" smtClean="0">
                <a:latin typeface="Times New Roman" panose="02020603050405020304" pitchFamily="18" charset="0"/>
                <a:cs typeface="Times New Roman" panose="02020603050405020304" pitchFamily="18" charset="0"/>
              </a:rPr>
              <a:t>Can be acute or chronic</a:t>
            </a:r>
            <a:endParaRPr lang="en-US" dirty="0" smtClean="0">
              <a:latin typeface="Times New Roman" panose="02020603050405020304" pitchFamily="18" charset="0"/>
              <a:cs typeface="Times New Roman" panose="02020603050405020304" pitchFamily="18" charset="0"/>
            </a:endParaRP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179989"/>
            <a:ext cx="7239000" cy="500042"/>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CLASSIFICATION OF OTITIS EXTERNA </a:t>
            </a:r>
            <a:endParaRPr lang="en-US" sz="2800" b="1" dirty="0">
              <a:latin typeface="Times New Roman" panose="02020603050405020304" pitchFamily="18" charset="0"/>
              <a:cs typeface="Times New Roman" panose="02020603050405020304" pitchFamily="18" charset="0"/>
            </a:endParaRPr>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2571664277"/>
              </p:ext>
            </p:extLst>
          </p:nvPr>
        </p:nvGraphicFramePr>
        <p:xfrm>
          <a:off x="0" y="908720"/>
          <a:ext cx="9144000" cy="5857891"/>
        </p:xfrm>
        <a:graphic>
          <a:graphicData uri="http://schemas.openxmlformats.org/drawingml/2006/table">
            <a:tbl>
              <a:tblPr firstRow="1" bandRow="1">
                <a:tableStyleId>{5C22544A-7EE6-4342-B048-85BDC9FD1C3A}</a:tableStyleId>
              </a:tblPr>
              <a:tblGrid>
                <a:gridCol w="3048000"/>
                <a:gridCol w="3048000"/>
                <a:gridCol w="3048000"/>
              </a:tblGrid>
              <a:tr h="1119195">
                <a:tc>
                  <a:txBody>
                    <a:bodyPr/>
                    <a:lstStyle/>
                    <a:p>
                      <a:r>
                        <a:rPr lang="en-US" dirty="0" smtClean="0">
                          <a:latin typeface="Times New Roman" pitchFamily="18" charset="0"/>
                          <a:cs typeface="Times New Roman" pitchFamily="18" charset="0"/>
                        </a:rPr>
                        <a:t>On the Basis of Area of Involvement</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On the Basis of </a:t>
                      </a:r>
                      <a:r>
                        <a:rPr lang="en-US" dirty="0" err="1" smtClean="0">
                          <a:latin typeface="Times New Roman" pitchFamily="18" charset="0"/>
                          <a:cs typeface="Times New Roman" pitchFamily="18" charset="0"/>
                        </a:rPr>
                        <a:t>Aetiology</a:t>
                      </a:r>
                      <a:r>
                        <a:rPr lang="en-US" dirty="0" smtClean="0">
                          <a:latin typeface="Times New Roman" pitchFamily="18" charset="0"/>
                          <a:cs typeface="Times New Roman" pitchFamily="18" charset="0"/>
                        </a:rPr>
                        <a:t>- Infective and Reactive </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Based on Onset of Disease</a:t>
                      </a:r>
                      <a:endParaRPr lang="en-US" dirty="0">
                        <a:latin typeface="Times New Roman" pitchFamily="18" charset="0"/>
                        <a:cs typeface="Times New Roman" pitchFamily="18" charset="0"/>
                      </a:endParaRPr>
                    </a:p>
                  </a:txBody>
                  <a:tcPr/>
                </a:tc>
              </a:tr>
              <a:tr h="864560">
                <a:tc>
                  <a:txBody>
                    <a:bodyPr/>
                    <a:lstStyle/>
                    <a:p>
                      <a:r>
                        <a:rPr lang="en-US" dirty="0" smtClean="0">
                          <a:latin typeface="Times New Roman" pitchFamily="18" charset="0"/>
                          <a:cs typeface="Times New Roman" pitchFamily="18" charset="0"/>
                        </a:rPr>
                        <a:t>Localized (furunculosis)</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Bacterial </a:t>
                      </a:r>
                      <a:endParaRPr lang="en-US" dirty="0">
                        <a:latin typeface="Times New Roman" pitchFamily="18" charset="0"/>
                        <a:cs typeface="Times New Roman" pitchFamily="18" charset="0"/>
                      </a:endParaRPr>
                    </a:p>
                  </a:txBody>
                  <a:tcPr/>
                </a:tc>
                <a:tc>
                  <a:txBody>
                    <a:bodyPr/>
                    <a:lstStyle/>
                    <a:p>
                      <a:r>
                        <a:rPr lang="en-US" b="1" dirty="0" smtClean="0">
                          <a:latin typeface="Times New Roman" pitchFamily="18" charset="0"/>
                          <a:cs typeface="Times New Roman" pitchFamily="18" charset="0"/>
                        </a:rPr>
                        <a:t>Acute</a:t>
                      </a:r>
                      <a:r>
                        <a:rPr lang="en-US" dirty="0" smtClean="0">
                          <a:latin typeface="Times New Roman" pitchFamily="18" charset="0"/>
                          <a:cs typeface="Times New Roman" pitchFamily="18" charset="0"/>
                        </a:rPr>
                        <a:t> (bacterial, fungus, viral) </a:t>
                      </a:r>
                      <a:endParaRPr lang="en-US" dirty="0">
                        <a:latin typeface="Times New Roman" pitchFamily="18" charset="0"/>
                        <a:cs typeface="Times New Roman" pitchFamily="18" charset="0"/>
                      </a:endParaRPr>
                    </a:p>
                  </a:txBody>
                  <a:tcPr/>
                </a:tc>
              </a:tr>
              <a:tr h="1894022">
                <a:tc>
                  <a:txBody>
                    <a:bodyPr/>
                    <a:lstStyle/>
                    <a:p>
                      <a:r>
                        <a:rPr lang="en-US" dirty="0" smtClean="0">
                          <a:latin typeface="Times New Roman" pitchFamily="18" charset="0"/>
                          <a:cs typeface="Times New Roman" pitchFamily="18" charset="0"/>
                        </a:rPr>
                        <a:t>Diffuse otitis </a:t>
                      </a:r>
                      <a:r>
                        <a:rPr lang="en-US" dirty="0" err="1" smtClean="0">
                          <a:latin typeface="Times New Roman" pitchFamily="18" charset="0"/>
                          <a:cs typeface="Times New Roman" pitchFamily="18" charset="0"/>
                        </a:rPr>
                        <a:t>externa</a:t>
                      </a:r>
                      <a:r>
                        <a:rPr lang="en-US" dirty="0" smtClean="0">
                          <a:latin typeface="Times New Roman" pitchFamily="18" charset="0"/>
                          <a:cs typeface="Times New Roman" pitchFamily="18" charset="0"/>
                        </a:rPr>
                        <a:t> </a:t>
                      </a:r>
                    </a:p>
                    <a:p>
                      <a:pPr>
                        <a:buFont typeface="Arial" charset="0"/>
                        <a:buChar char="•"/>
                      </a:pPr>
                      <a:r>
                        <a:rPr lang="en-US" dirty="0" smtClean="0">
                          <a:latin typeface="Times New Roman" pitchFamily="18" charset="0"/>
                          <a:cs typeface="Times New Roman" pitchFamily="18" charset="0"/>
                        </a:rPr>
                        <a:t>Due to Otological causes</a:t>
                      </a:r>
                    </a:p>
                    <a:p>
                      <a:pPr>
                        <a:buFont typeface="Arial" charset="0"/>
                        <a:buChar char="•"/>
                      </a:pPr>
                      <a:r>
                        <a:rPr lang="en-US" dirty="0" smtClean="0">
                          <a:latin typeface="Times New Roman" pitchFamily="18" charset="0"/>
                          <a:cs typeface="Times New Roman" pitchFamily="18" charset="0"/>
                        </a:rPr>
                        <a:t>Dermatological causes</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Fungal</a:t>
                      </a:r>
                      <a:endParaRPr lang="en-US" dirty="0">
                        <a:latin typeface="Times New Roman" pitchFamily="18" charset="0"/>
                        <a:cs typeface="Times New Roman" pitchFamily="18" charset="0"/>
                      </a:endParaRPr>
                    </a:p>
                  </a:txBody>
                  <a:tcPr/>
                </a:tc>
                <a:tc>
                  <a:txBody>
                    <a:bodyPr/>
                    <a:lstStyle/>
                    <a:p>
                      <a:r>
                        <a:rPr lang="en-US" b="1" dirty="0" smtClean="0">
                          <a:latin typeface="Times New Roman" pitchFamily="18" charset="0"/>
                          <a:cs typeface="Times New Roman" pitchFamily="18" charset="0"/>
                        </a:rPr>
                        <a:t>Chronic</a:t>
                      </a:r>
                    </a:p>
                    <a:p>
                      <a:r>
                        <a:rPr lang="en-US" dirty="0" smtClean="0">
                          <a:latin typeface="Times New Roman" pitchFamily="18" charset="0"/>
                          <a:cs typeface="Times New Roman" pitchFamily="18" charset="0"/>
                        </a:rPr>
                        <a:t>*Contact dermatitis</a:t>
                      </a:r>
                    </a:p>
                    <a:p>
                      <a:r>
                        <a:rPr lang="en-US" dirty="0" smtClean="0">
                          <a:latin typeface="Times New Roman" pitchFamily="18" charset="0"/>
                          <a:cs typeface="Times New Roman" pitchFamily="18" charset="0"/>
                        </a:rPr>
                        <a:t>*Psoriasis</a:t>
                      </a:r>
                    </a:p>
                    <a:p>
                      <a:r>
                        <a:rPr lang="en-US" dirty="0" smtClean="0">
                          <a:latin typeface="Times New Roman" pitchFamily="18" charset="0"/>
                          <a:cs typeface="Times New Roman" pitchFamily="18" charset="0"/>
                        </a:rPr>
                        <a:t>*Allergic</a:t>
                      </a: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a:txBody>
                  <a:tcPr/>
                </a:tc>
              </a:tr>
              <a:tr h="860919">
                <a:tc>
                  <a:txBody>
                    <a:bodyPr/>
                    <a:lstStyle/>
                    <a:p>
                      <a:r>
                        <a:rPr lang="en-US" dirty="0" smtClean="0">
                          <a:latin typeface="Times New Roman" pitchFamily="18" charset="0"/>
                          <a:cs typeface="Times New Roman" pitchFamily="18" charset="0"/>
                        </a:rPr>
                        <a:t>Malignant Necrotizing Otitis Externa</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Viral</a:t>
                      </a:r>
                      <a:endParaRPr lang="en-US" dirty="0">
                        <a:latin typeface="Times New Roman" pitchFamily="18" charset="0"/>
                        <a:cs typeface="Times New Roman" pitchFamily="18" charset="0"/>
                      </a:endParaRPr>
                    </a:p>
                  </a:txBody>
                  <a:tcPr/>
                </a:tc>
                <a:tc>
                  <a:txBody>
                    <a:bodyPr/>
                    <a:lstStyle/>
                    <a:p>
                      <a:endParaRPr lang="en-US" dirty="0">
                        <a:latin typeface="Times New Roman" pitchFamily="18" charset="0"/>
                        <a:cs typeface="Times New Roman" pitchFamily="18" charset="0"/>
                      </a:endParaRPr>
                    </a:p>
                  </a:txBody>
                  <a:tcPr/>
                </a:tc>
              </a:tr>
              <a:tr h="1119195">
                <a:tc>
                  <a:txBody>
                    <a:bodyPr/>
                    <a:lstStyle/>
                    <a:p>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Reactive</a:t>
                      </a:r>
                    </a:p>
                    <a:p>
                      <a:r>
                        <a:rPr lang="en-US" dirty="0" smtClean="0">
                          <a:latin typeface="Times New Roman" pitchFamily="18" charset="0"/>
                          <a:cs typeface="Times New Roman" pitchFamily="18" charset="0"/>
                        </a:rPr>
                        <a:t>*Eczema</a:t>
                      </a:r>
                    </a:p>
                    <a:p>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Seborhroeic</a:t>
                      </a:r>
                      <a:r>
                        <a:rPr lang="en-US" dirty="0" smtClean="0">
                          <a:latin typeface="Times New Roman" pitchFamily="18" charset="0"/>
                          <a:cs typeface="Times New Roman" pitchFamily="18" charset="0"/>
                        </a:rPr>
                        <a:t> Dermatitis.</a:t>
                      </a:r>
                      <a:endParaRPr lang="en-US" dirty="0">
                        <a:latin typeface="Times New Roman" pitchFamily="18" charset="0"/>
                        <a:cs typeface="Times New Roman" pitchFamily="18" charset="0"/>
                      </a:endParaRPr>
                    </a:p>
                  </a:txBody>
                  <a:tcPr/>
                </a:tc>
                <a:tc>
                  <a:txBody>
                    <a:bodyPr/>
                    <a:lstStyle/>
                    <a:p>
                      <a:endParaRPr lang="en-US"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428596" y="500042"/>
            <a:ext cx="7715304" cy="585791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714348" y="571480"/>
            <a:ext cx="7429552" cy="550072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srcRect/>
          <a:stretch>
            <a:fillRect/>
          </a:stretch>
        </p:blipFill>
        <p:spPr bwMode="auto">
          <a:xfrm>
            <a:off x="142843" y="144463"/>
            <a:ext cx="8786875" cy="65897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428596" y="642918"/>
            <a:ext cx="7429552" cy="50006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39000" cy="608630"/>
          </a:xfrm>
        </p:spPr>
        <p:txBody>
          <a:bodyPr/>
          <a:lstStyle/>
          <a:p>
            <a:pPr algn="ctr"/>
            <a:r>
              <a:rPr lang="es-DO" altLang="es-DO" b="1" dirty="0" smtClean="0">
                <a:latin typeface="Times New Roman" panose="02020603050405020304" pitchFamily="18" charset="0"/>
                <a:cs typeface="Times New Roman" panose="02020603050405020304" pitchFamily="18" charset="0"/>
              </a:rPr>
              <a:t>MICROBIOLOGY</a:t>
            </a:r>
            <a:endParaRPr lang="en-US"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457200" y="1142984"/>
            <a:ext cx="8043890" cy="5312752"/>
          </a:xfrm>
        </p:spPr>
        <p:txBody>
          <a:bodyPr/>
          <a:lstStyle/>
          <a:p>
            <a:pPr>
              <a:buFont typeface="Wingdings" pitchFamily="2" charset="2"/>
              <a:buChar char="§"/>
            </a:pPr>
            <a:r>
              <a:rPr lang="en-US" altLang="es-DO" dirty="0" smtClean="0"/>
              <a:t>Microbiology </a:t>
            </a:r>
          </a:p>
          <a:p>
            <a:pPr lvl="1">
              <a:buFont typeface="Wingdings" pitchFamily="2" charset="2"/>
              <a:buChar char="§"/>
            </a:pPr>
            <a:r>
              <a:rPr lang="en-US" altLang="es-DO" dirty="0" smtClean="0"/>
              <a:t>53% gram negative: pseudomonas</a:t>
            </a:r>
          </a:p>
          <a:p>
            <a:pPr lvl="1">
              <a:buFont typeface="Wingdings" pitchFamily="2" charset="2"/>
              <a:buChar char="§"/>
            </a:pPr>
            <a:r>
              <a:rPr lang="en-US" altLang="es-DO" dirty="0" smtClean="0"/>
              <a:t>45% gram positive (Staph </a:t>
            </a:r>
            <a:r>
              <a:rPr lang="en-US" altLang="es-DO" dirty="0" err="1" smtClean="0"/>
              <a:t>Aureus</a:t>
            </a:r>
            <a:r>
              <a:rPr lang="en-US" altLang="es-DO" dirty="0" smtClean="0"/>
              <a:t> 7.5%, overall stapes sp. 25%)</a:t>
            </a:r>
          </a:p>
          <a:p>
            <a:pPr lvl="1">
              <a:buFont typeface="Wingdings" pitchFamily="2" charset="2"/>
              <a:buChar char="§"/>
            </a:pPr>
            <a:r>
              <a:rPr lang="en-US" altLang="es-DO" dirty="0" smtClean="0"/>
              <a:t>1.7% yeast/fungus</a:t>
            </a:r>
          </a:p>
          <a:p>
            <a:pPr lvl="1">
              <a:buFont typeface="Wingdings" pitchFamily="2" charset="2"/>
              <a:buChar char="§"/>
            </a:pPr>
            <a:endParaRPr lang="en-US" altLang="es-DO" dirty="0" smtClean="0"/>
          </a:p>
          <a:p>
            <a:pPr>
              <a:buFont typeface="Wingdings" pitchFamily="2" charset="2"/>
              <a:buChar char="§"/>
            </a:pPr>
            <a:r>
              <a:rPr lang="en-US" altLang="es-DO" dirty="0" smtClean="0"/>
              <a:t>Viral causes of EAC inflammation:</a:t>
            </a:r>
          </a:p>
          <a:p>
            <a:pPr lvl="1">
              <a:buFont typeface="Wingdings" pitchFamily="2" charset="2"/>
              <a:buChar char="§"/>
            </a:pPr>
            <a:r>
              <a:rPr lang="en-US" altLang="es-DO" dirty="0" smtClean="0"/>
              <a:t>Herpes virus, </a:t>
            </a:r>
            <a:r>
              <a:rPr lang="en-US" altLang="es-DO" dirty="0" err="1" smtClean="0"/>
              <a:t>varicella</a:t>
            </a:r>
            <a:r>
              <a:rPr lang="en-US" altLang="es-DO" dirty="0" smtClean="0"/>
              <a:t>-zoster virus</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39000" cy="894382"/>
          </a:xfrm>
        </p:spPr>
        <p:txBody>
          <a:bodyPr>
            <a:normAutofit/>
          </a:bodyPr>
          <a:lstStyle/>
          <a:p>
            <a:r>
              <a:rPr lang="en-US" altLang="es-DO" sz="2800" b="1" dirty="0" smtClean="0">
                <a:latin typeface="Times New Roman" panose="02020603050405020304" pitchFamily="18" charset="0"/>
                <a:cs typeface="Times New Roman" panose="02020603050405020304" pitchFamily="18" charset="0"/>
              </a:rPr>
              <a:t>In the patient’s history</a:t>
            </a:r>
            <a:endParaRPr lang="en-US" sz="2800"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p:txBody>
          <a:bodyPr/>
          <a:lstStyle/>
          <a:p>
            <a:r>
              <a:rPr lang="en-US" altLang="es-DO" sz="2400" dirty="0" smtClean="0">
                <a:latin typeface="Times New Roman" panose="02020603050405020304" pitchFamily="18" charset="0"/>
                <a:cs typeface="Times New Roman" panose="02020603050405020304" pitchFamily="18" charset="0"/>
              </a:rPr>
              <a:t>1 to 2 days of progressive ear pain</a:t>
            </a:r>
            <a:endParaRPr lang="es-DO" altLang="es-DO" sz="2400" dirty="0" smtClean="0">
              <a:latin typeface="Times New Roman" panose="02020603050405020304" pitchFamily="18" charset="0"/>
              <a:ea typeface="ヒラギノ角ゴ Pro W3" pitchFamily="28" charset="-128"/>
              <a:cs typeface="Times New Roman" panose="02020603050405020304" pitchFamily="18" charset="0"/>
            </a:endParaRPr>
          </a:p>
          <a:p>
            <a:r>
              <a:rPr lang="en-US" altLang="es-DO" sz="2400" dirty="0" smtClean="0">
                <a:latin typeface="Times New Roman" panose="02020603050405020304" pitchFamily="18" charset="0"/>
                <a:cs typeface="Times New Roman" panose="02020603050405020304" pitchFamily="18" charset="0"/>
              </a:rPr>
              <a:t>Exposure to water</a:t>
            </a:r>
            <a:endParaRPr lang="es-DO" altLang="es-DO" sz="2400" dirty="0" smtClean="0">
              <a:latin typeface="Times New Roman" panose="02020603050405020304" pitchFamily="18" charset="0"/>
              <a:ea typeface="ヒラギノ角ゴ Pro W3" pitchFamily="28" charset="-128"/>
              <a:cs typeface="Times New Roman" panose="02020603050405020304" pitchFamily="18" charset="0"/>
            </a:endParaRPr>
          </a:p>
          <a:p>
            <a:r>
              <a:rPr lang="en-US" altLang="es-DO" sz="2400" dirty="0" smtClean="0">
                <a:latin typeface="Times New Roman" panose="02020603050405020304" pitchFamily="18" charset="0"/>
                <a:cs typeface="Times New Roman" panose="02020603050405020304" pitchFamily="18" charset="0"/>
              </a:rPr>
              <a:t>Itching</a:t>
            </a:r>
            <a:endParaRPr lang="es-DO" altLang="es-DO" sz="2400" dirty="0" smtClean="0">
              <a:latin typeface="Times New Roman" panose="02020603050405020304" pitchFamily="18" charset="0"/>
              <a:ea typeface="ヒラギノ角ゴ Pro W3" pitchFamily="28" charset="-128"/>
              <a:cs typeface="Times New Roman" panose="02020603050405020304" pitchFamily="18" charset="0"/>
            </a:endParaRPr>
          </a:p>
          <a:p>
            <a:r>
              <a:rPr lang="en-US" altLang="es-DO" sz="2400" dirty="0" smtClean="0">
                <a:latin typeface="Times New Roman" panose="02020603050405020304" pitchFamily="18" charset="0"/>
                <a:cs typeface="Times New Roman" panose="02020603050405020304" pitchFamily="18" charset="0"/>
              </a:rPr>
              <a:t>Purulent discharge</a:t>
            </a:r>
            <a:endParaRPr lang="es-DO" altLang="es-DO" sz="2400" dirty="0" smtClean="0">
              <a:latin typeface="Times New Roman" panose="02020603050405020304" pitchFamily="18" charset="0"/>
              <a:ea typeface="ヒラギノ角ゴ Pro W3" pitchFamily="28" charset="-128"/>
              <a:cs typeface="Times New Roman" panose="02020603050405020304" pitchFamily="18" charset="0"/>
            </a:endParaRPr>
          </a:p>
          <a:p>
            <a:r>
              <a:rPr lang="en-US" altLang="es-DO" sz="2400" dirty="0" smtClean="0">
                <a:latin typeface="Times New Roman" panose="02020603050405020304" pitchFamily="18" charset="0"/>
                <a:cs typeface="Times New Roman" panose="02020603050405020304" pitchFamily="18" charset="0"/>
              </a:rPr>
              <a:t>Conductive hearing loss</a:t>
            </a:r>
            <a:endParaRPr lang="es-DO" altLang="es-DO" sz="2400" dirty="0" smtClean="0">
              <a:latin typeface="Times New Roman" panose="02020603050405020304" pitchFamily="18" charset="0"/>
              <a:ea typeface="ヒラギノ角ゴ Pro W3" pitchFamily="28" charset="-128"/>
              <a:cs typeface="Times New Roman" panose="02020603050405020304" pitchFamily="18" charset="0"/>
            </a:endParaRPr>
          </a:p>
          <a:p>
            <a:r>
              <a:rPr lang="en-US" altLang="es-DO" sz="2400" dirty="0" smtClean="0">
                <a:latin typeface="Times New Roman" panose="02020603050405020304" pitchFamily="18" charset="0"/>
                <a:cs typeface="Times New Roman" panose="02020603050405020304" pitchFamily="18" charset="0"/>
              </a:rPr>
              <a:t>Feeling of fullness or pressure</a:t>
            </a:r>
            <a:endParaRPr lang="en-US" sz="2400" dirty="0" smtClean="0">
              <a:latin typeface="Times New Roman" panose="02020603050405020304" pitchFamily="18" charset="0"/>
              <a:cs typeface="Times New Roman" panose="02020603050405020304" pitchFamily="18" charset="0"/>
            </a:endParaRPr>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39552" y="1124744"/>
            <a:ext cx="5329246" cy="537192"/>
          </a:xfrm>
        </p:spPr>
        <p:txBody>
          <a:bodyPr>
            <a:noAutofit/>
          </a:bodyPr>
          <a:lstStyle/>
          <a:p>
            <a:r>
              <a:rPr lang="en-US" sz="2400" b="1" dirty="0" smtClean="0">
                <a:latin typeface="Times New Roman" pitchFamily="18" charset="0"/>
                <a:cs typeface="Times New Roman" pitchFamily="18" charset="0"/>
              </a:rPr>
              <a:t>LOCALIZED OTITIS EXTERNA</a:t>
            </a:r>
            <a:endParaRPr lang="en-US" sz="2400" b="1" dirty="0"/>
          </a:p>
        </p:txBody>
      </p:sp>
      <p:sp>
        <p:nvSpPr>
          <p:cNvPr id="3" name="2 Marcador de contenido"/>
          <p:cNvSpPr>
            <a:spLocks noGrp="1"/>
          </p:cNvSpPr>
          <p:nvPr>
            <p:ph idx="1"/>
          </p:nvPr>
        </p:nvSpPr>
        <p:spPr>
          <a:xfrm>
            <a:off x="179512" y="2132856"/>
            <a:ext cx="7892950" cy="4322880"/>
          </a:xfrm>
        </p:spPr>
        <p:txBody>
          <a:bodyPr/>
          <a:lstStyle/>
          <a:p>
            <a:pPr marL="0" indent="0">
              <a:buNone/>
            </a:pP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Staphylococcal infection of a hair follicle is the usual cause of a furuncle. This infection occurs in the lateral cartilaginous hair-bearing portion of the EAC. On </a:t>
            </a:r>
            <a:r>
              <a:rPr lang="en-US" b="1" dirty="0" smtClean="0">
                <a:latin typeface="Times New Roman" pitchFamily="18" charset="0"/>
                <a:cs typeface="Times New Roman" pitchFamily="18" charset="0"/>
              </a:rPr>
              <a:t>otoscopic examination</a:t>
            </a:r>
            <a:r>
              <a:rPr lang="en-US" dirty="0" smtClean="0">
                <a:latin typeface="Times New Roman" pitchFamily="18" charset="0"/>
                <a:cs typeface="Times New Roman" pitchFamily="18" charset="0"/>
              </a:rPr>
              <a:t>, a </a:t>
            </a:r>
            <a:r>
              <a:rPr lang="en-US" b="1" dirty="0" smtClean="0">
                <a:latin typeface="Times New Roman" pitchFamily="18" charset="0"/>
                <a:cs typeface="Times New Roman" pitchFamily="18" charset="0"/>
              </a:rPr>
              <a:t>furuncle is a localized infection</a:t>
            </a:r>
            <a:r>
              <a:rPr lang="en-US" dirty="0" smtClean="0">
                <a:latin typeface="Times New Roman" pitchFamily="18" charset="0"/>
                <a:cs typeface="Times New Roman" pitchFamily="18" charset="0"/>
              </a:rPr>
              <a:t>, which may develop into an abscess, rather than the diffuse inflammatory process characteristic of otitis externa.</a:t>
            </a:r>
          </a:p>
          <a:p>
            <a:endParaRPr lang="en-US" dirty="0"/>
          </a:p>
        </p:txBody>
      </p:sp>
      <p:pic>
        <p:nvPicPr>
          <p:cNvPr id="4" name="Content Placeholder 3"/>
          <p:cNvPicPr/>
          <p:nvPr/>
        </p:nvPicPr>
        <p:blipFill>
          <a:blip r:embed="rId2" cstate="print">
            <a:extLst>
              <a:ext uri="{28A0092B-C50C-407E-A947-70E740481C1C}">
                <a14:useLocalDpi xmlns:a14="http://schemas.microsoft.com/office/drawing/2010/main" val="0"/>
              </a:ext>
            </a:extLst>
          </a:blip>
          <a:stretch>
            <a:fillRect/>
          </a:stretch>
        </p:blipFill>
        <p:spPr>
          <a:xfrm>
            <a:off x="5292080" y="4005064"/>
            <a:ext cx="3584978" cy="243485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116632"/>
            <a:ext cx="7239000" cy="812038"/>
          </a:xfrm>
        </p:spPr>
        <p:txBody>
          <a:bodyPr>
            <a:noAutofit/>
          </a:bodyPr>
          <a:lstStyle/>
          <a:p>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400" b="1" dirty="0" smtClean="0">
                <a:latin typeface="Times New Roman" panose="02020603050405020304" pitchFamily="18" charset="0"/>
                <a:cs typeface="Times New Roman" pitchFamily="18" charset="0"/>
              </a:rPr>
              <a:t>DIFFUSE OTITIS EXTERNA </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endParaRPr lang="en-US" sz="2400" dirty="0"/>
          </a:p>
        </p:txBody>
      </p:sp>
      <p:sp>
        <p:nvSpPr>
          <p:cNvPr id="3" name="2 Marcador de contenido"/>
          <p:cNvSpPr>
            <a:spLocks noGrp="1"/>
          </p:cNvSpPr>
          <p:nvPr>
            <p:ph idx="1"/>
          </p:nvPr>
        </p:nvSpPr>
        <p:spPr>
          <a:xfrm>
            <a:off x="457200" y="1000108"/>
            <a:ext cx="7239000" cy="5455628"/>
          </a:xfrm>
        </p:spPr>
        <p:txBody>
          <a:bodyPr>
            <a:normAutofit/>
          </a:bodyPr>
          <a:lstStyle/>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Otitis </a:t>
            </a:r>
            <a:r>
              <a:rPr lang="en-US" dirty="0" smtClean="0">
                <a:latin typeface="Times New Roman" pitchFamily="18" charset="0"/>
                <a:cs typeface="Times New Roman" pitchFamily="18" charset="0"/>
              </a:rPr>
              <a:t>externa is often referred to as "swimmer's ear" because repeated exposure to water can make the ear canal more vulnerable to inflammation.</a:t>
            </a:r>
          </a:p>
          <a:p>
            <a:r>
              <a:rPr lang="en-US" dirty="0" smtClean="0">
                <a:latin typeface="Times New Roman" pitchFamily="18" charset="0"/>
                <a:cs typeface="Times New Roman" pitchFamily="18" charset="0"/>
              </a:rPr>
              <a:t>On physical exam:</a:t>
            </a:r>
          </a:p>
          <a:p>
            <a:r>
              <a:rPr lang="en-US" dirty="0" err="1" smtClean="0">
                <a:latin typeface="Times New Roman" pitchFamily="18" charset="0"/>
                <a:cs typeface="Times New Roman" pitchFamily="18" charset="0"/>
              </a:rPr>
              <a:t>Periauricular</a:t>
            </a:r>
            <a:r>
              <a:rPr lang="en-US" dirty="0" smtClean="0">
                <a:latin typeface="Times New Roman" pitchFamily="18" charset="0"/>
                <a:cs typeface="Times New Roman" pitchFamily="18" charset="0"/>
              </a:rPr>
              <a:t> adenitis </a:t>
            </a:r>
          </a:p>
          <a:p>
            <a:r>
              <a:rPr lang="en-US" dirty="0" smtClean="0">
                <a:latin typeface="Times New Roman" pitchFamily="18" charset="0"/>
                <a:cs typeface="Times New Roman" pitchFamily="18" charset="0"/>
              </a:rPr>
              <a:t>Speculum examination reveals erythema, edema of the epithelium, and accumulation of moist debris in the canal</a:t>
            </a: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user\Desktop\ORL\Class\CONFERENCIAS\Mis conferencias\Otology\images (2).jpg"/>
          <p:cNvPicPr>
            <a:picLocks noChangeAspect="1" noChangeArrowheads="1"/>
          </p:cNvPicPr>
          <p:nvPr/>
        </p:nvPicPr>
        <p:blipFill>
          <a:blip r:embed="rId2"/>
          <a:srcRect/>
          <a:stretch>
            <a:fillRect/>
          </a:stretch>
        </p:blipFill>
        <p:spPr bwMode="auto">
          <a:xfrm>
            <a:off x="0" y="500042"/>
            <a:ext cx="3857620" cy="4153094"/>
          </a:xfrm>
          <a:prstGeom prst="rect">
            <a:avLst/>
          </a:prstGeom>
          <a:noFill/>
        </p:spPr>
      </p:pic>
      <p:pic>
        <p:nvPicPr>
          <p:cNvPr id="6147" name="Picture 3" descr="C:\Users\user\Desktop\ORL\Class\CONFERENCIAS\Mis conferencias\Otology\images.jpg"/>
          <p:cNvPicPr>
            <a:picLocks noChangeAspect="1" noChangeArrowheads="1"/>
          </p:cNvPicPr>
          <p:nvPr/>
        </p:nvPicPr>
        <p:blipFill>
          <a:blip r:embed="rId3"/>
          <a:srcRect/>
          <a:stretch>
            <a:fillRect/>
          </a:stretch>
        </p:blipFill>
        <p:spPr bwMode="auto">
          <a:xfrm>
            <a:off x="4071934" y="620688"/>
            <a:ext cx="5036570" cy="5384829"/>
          </a:xfrm>
          <a:prstGeom prst="rect">
            <a:avLst/>
          </a:prstGeo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758138" cy="894382"/>
          </a:xfrm>
        </p:spPr>
        <p:txBody>
          <a:bodyPr>
            <a:normAutofit fontScale="90000"/>
          </a:bodyPr>
          <a:lstStyle/>
          <a:p>
            <a:r>
              <a:rPr lang="en-US" sz="2400" b="1" dirty="0" smtClean="0">
                <a:latin typeface="Times New Roman" pitchFamily="18" charset="0"/>
                <a:cs typeface="Times New Roman" pitchFamily="18" charset="0"/>
              </a:rPr>
              <a:t/>
            </a:r>
            <a:br>
              <a:rPr lang="en-US" sz="2400" b="1" dirty="0" smtClean="0">
                <a:latin typeface="Times New Roman" pitchFamily="18" charset="0"/>
                <a:cs typeface="Times New Roman" pitchFamily="18" charset="0"/>
              </a:rPr>
            </a:br>
            <a:r>
              <a:rPr lang="en-US" sz="3100" b="1" dirty="0" smtClean="0">
                <a:latin typeface="Times New Roman" pitchFamily="18" charset="0"/>
                <a:cs typeface="Times New Roman" pitchFamily="18" charset="0"/>
              </a:rPr>
              <a:t>VIRAL OTITIS EXTERNA </a:t>
            </a:r>
            <a:r>
              <a:rPr lang="en-US" sz="3100" dirty="0" smtClean="0">
                <a:latin typeface="Times New Roman" pitchFamily="18" charset="0"/>
                <a:cs typeface="Times New Roman" pitchFamily="18" charset="0"/>
              </a:rPr>
              <a:t/>
            </a:r>
            <a:br>
              <a:rPr lang="en-US" sz="3100" dirty="0" smtClean="0">
                <a:latin typeface="Times New Roman" pitchFamily="18" charset="0"/>
                <a:cs typeface="Times New Roman" pitchFamily="18" charset="0"/>
              </a:rPr>
            </a:br>
            <a:endParaRPr lang="en-US" sz="3100" dirty="0"/>
          </a:p>
        </p:txBody>
      </p:sp>
      <p:sp>
        <p:nvSpPr>
          <p:cNvPr id="3" name="2 Marcador de contenido"/>
          <p:cNvSpPr>
            <a:spLocks noGrp="1"/>
          </p:cNvSpPr>
          <p:nvPr>
            <p:ph idx="1"/>
          </p:nvPr>
        </p:nvSpPr>
        <p:spPr>
          <a:xfrm>
            <a:off x="107504" y="1825625"/>
            <a:ext cx="8856984" cy="4351338"/>
          </a:xfrm>
        </p:spPr>
        <p:txBody>
          <a:bodyPr>
            <a:normAutofit/>
          </a:bodyPr>
          <a:lstStyle/>
          <a:p>
            <a:pPr>
              <a:lnSpc>
                <a:spcPct val="150000"/>
              </a:lnSpc>
            </a:pPr>
            <a:r>
              <a:rPr lang="en-US" b="1" dirty="0" smtClean="0">
                <a:latin typeface="Times New Roman" panose="02020603050405020304" pitchFamily="18" charset="0"/>
                <a:cs typeface="Times New Roman" panose="02020603050405020304" pitchFamily="18" charset="0"/>
              </a:rPr>
              <a:t>Ramsay Hunt syndrome: </a:t>
            </a:r>
            <a:r>
              <a:rPr lang="en-US" dirty="0" smtClean="0">
                <a:latin typeface="Times New Roman" panose="02020603050405020304" pitchFamily="18" charset="0"/>
                <a:cs typeface="Times New Roman" panose="02020603050405020304" pitchFamily="18" charset="0"/>
              </a:rPr>
              <a:t>This condition, more accurately known as herpes zoster oticus, is caused by varicella-zoster viral infection. Ramsay Hunt syndrome is characterized by facial nerve paralysis and sensorineural hearing loss, with bullous myringitis and a vesicular eruption of the concha of the pinna and the EAC. </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user\Desktop\ORL\Class\CONFERENCIAS\Mis conferencias\Otology\images (1).jpg"/>
          <p:cNvPicPr>
            <a:picLocks noChangeAspect="1" noChangeArrowheads="1"/>
          </p:cNvPicPr>
          <p:nvPr/>
        </p:nvPicPr>
        <p:blipFill>
          <a:blip r:embed="rId2"/>
          <a:srcRect/>
          <a:stretch>
            <a:fillRect/>
          </a:stretch>
        </p:blipFill>
        <p:spPr bwMode="auto">
          <a:xfrm>
            <a:off x="714348" y="571480"/>
            <a:ext cx="3571900" cy="4071966"/>
          </a:xfrm>
          <a:prstGeom prst="rect">
            <a:avLst/>
          </a:prstGeom>
          <a:noFill/>
        </p:spPr>
      </p:pic>
      <p:pic>
        <p:nvPicPr>
          <p:cNvPr id="7171" name="Picture 3" descr="C:\Users\user\Desktop\ORL\Class\CONFERENCIAS\Mis conferencias\Otology\interna-justin-bieber-ramsay-hunt-síndrome-rara-jmonline.jpg"/>
          <p:cNvPicPr>
            <a:picLocks noChangeAspect="1" noChangeArrowheads="1"/>
          </p:cNvPicPr>
          <p:nvPr/>
        </p:nvPicPr>
        <p:blipFill>
          <a:blip r:embed="rId3"/>
          <a:srcRect/>
          <a:stretch>
            <a:fillRect/>
          </a:stretch>
        </p:blipFill>
        <p:spPr bwMode="auto">
          <a:xfrm>
            <a:off x="4714876" y="2071678"/>
            <a:ext cx="3429000" cy="4286250"/>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sz="2400" b="1" dirty="0" smtClean="0">
                <a:latin typeface="Times New Roman" pitchFamily="18" charset="0"/>
                <a:cs typeface="Times New Roman" pitchFamily="18" charset="0"/>
              </a:rPr>
              <a:t>Fungal otitis externa or otomycosis</a:t>
            </a:r>
            <a:endParaRPr lang="en-US" sz="2400" b="1" dirty="0">
              <a:latin typeface="Times New Roman" pitchFamily="18" charset="0"/>
              <a:cs typeface="Times New Roman" pitchFamily="18" charset="0"/>
            </a:endParaRPr>
          </a:p>
        </p:txBody>
      </p:sp>
      <p:sp>
        <p:nvSpPr>
          <p:cNvPr id="3" name="2 Marcador de contenido"/>
          <p:cNvSpPr>
            <a:spLocks noGrp="1"/>
          </p:cNvSpPr>
          <p:nvPr>
            <p:ph idx="1"/>
          </p:nvPr>
        </p:nvSpPr>
        <p:spPr/>
        <p:txBody>
          <a:bodyPr/>
          <a:lstStyle/>
          <a:p>
            <a:r>
              <a:rPr lang="en-US" dirty="0" smtClean="0"/>
              <a:t>Spores and </a:t>
            </a:r>
            <a:r>
              <a:rPr lang="en-US" dirty="0" err="1" smtClean="0"/>
              <a:t>hyphae</a:t>
            </a:r>
            <a:r>
              <a:rPr lang="en-US" dirty="0" smtClean="0"/>
              <a:t> may be seen in the external canal</a:t>
            </a:r>
          </a:p>
          <a:p>
            <a:endParaRPr lang="en-US" dirty="0" smtClean="0"/>
          </a:p>
          <a:p>
            <a:endParaRPr lang="en-US" dirty="0"/>
          </a:p>
        </p:txBody>
      </p:sp>
      <p:pic>
        <p:nvPicPr>
          <p:cNvPr id="4" name="Picture 13"/>
          <p:cNvPicPr>
            <a:picLocks noChangeAspect="1" noChangeArrowheads="1"/>
          </p:cNvPicPr>
          <p:nvPr/>
        </p:nvPicPr>
        <p:blipFill>
          <a:blip r:embed="rId2"/>
          <a:srcRect/>
          <a:stretch>
            <a:fillRect/>
          </a:stretch>
        </p:blipFill>
        <p:spPr bwMode="auto">
          <a:xfrm>
            <a:off x="214282" y="2706966"/>
            <a:ext cx="3786214" cy="3650992"/>
          </a:xfrm>
          <a:prstGeom prst="rect">
            <a:avLst/>
          </a:prstGeom>
          <a:noFill/>
          <a:ln w="9525">
            <a:noFill/>
            <a:miter lim="800000"/>
            <a:headEnd/>
            <a:tailEnd/>
          </a:ln>
        </p:spPr>
      </p:pic>
      <p:pic>
        <p:nvPicPr>
          <p:cNvPr id="8194" name="Picture 2" descr="C:\Users\user\Desktop\ORL\Class\CONFERENCIAS\Mis conferencias\Otology\1.145+chronic+O.E..jpg"/>
          <p:cNvPicPr>
            <a:picLocks noChangeAspect="1" noChangeArrowheads="1"/>
          </p:cNvPicPr>
          <p:nvPr/>
        </p:nvPicPr>
        <p:blipFill>
          <a:blip r:embed="rId3"/>
          <a:srcRect/>
          <a:stretch>
            <a:fillRect/>
          </a:stretch>
        </p:blipFill>
        <p:spPr bwMode="auto">
          <a:xfrm>
            <a:off x="5286380" y="3143248"/>
            <a:ext cx="3454648" cy="335756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39000" cy="608630"/>
          </a:xfrm>
        </p:spPr>
        <p:txBody>
          <a:bodyPr/>
          <a:lstStyle/>
          <a:p>
            <a:pPr algn="ctr"/>
            <a:r>
              <a:rPr lang="en-US" altLang="es-DO" b="1" dirty="0" smtClean="0">
                <a:latin typeface="Times New Roman" panose="02020603050405020304" pitchFamily="18" charset="0"/>
                <a:cs typeface="Times New Roman" panose="02020603050405020304" pitchFamily="18" charset="0"/>
              </a:rPr>
              <a:t>LABS/WORKUP</a:t>
            </a:r>
            <a:endParaRPr lang="en-US"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457200" y="1609416"/>
            <a:ext cx="7543824" cy="4846320"/>
          </a:xfrm>
        </p:spPr>
        <p:txBody>
          <a:bodyPr>
            <a:normAutofit/>
          </a:bodyPr>
          <a:lstStyle/>
          <a:p>
            <a:pPr>
              <a:buFontTx/>
              <a:buNone/>
              <a:defRPr/>
            </a:pPr>
            <a:r>
              <a:rPr lang="en-US" altLang="es-DO" sz="2800" dirty="0" smtClean="0">
                <a:latin typeface="Times New Roman" panose="02020603050405020304" pitchFamily="18" charset="0"/>
                <a:cs typeface="Times New Roman" panose="02020603050405020304" pitchFamily="18" charset="0"/>
              </a:rPr>
              <a:t>Usually after failed empiric therapy:</a:t>
            </a:r>
          </a:p>
          <a:p>
            <a:pPr>
              <a:defRPr/>
            </a:pPr>
            <a:r>
              <a:rPr lang="en-US" altLang="es-DO" sz="2800" dirty="0" smtClean="0">
                <a:latin typeface="Times New Roman" panose="02020603050405020304" pitchFamily="18" charset="0"/>
                <a:cs typeface="Times New Roman" panose="02020603050405020304" pitchFamily="18" charset="0"/>
              </a:rPr>
              <a:t>bacterial and fungal culture</a:t>
            </a:r>
          </a:p>
          <a:p>
            <a:pPr>
              <a:defRPr/>
            </a:pPr>
            <a:r>
              <a:rPr lang="en-US" altLang="es-DO" sz="2800" dirty="0" smtClean="0">
                <a:latin typeface="Times New Roman" panose="02020603050405020304" pitchFamily="18" charset="0"/>
                <a:cs typeface="Times New Roman" panose="02020603050405020304" pitchFamily="18" charset="0"/>
              </a:rPr>
              <a:t>Adults with </a:t>
            </a:r>
            <a:r>
              <a:rPr lang="en-US" altLang="es-DO" sz="2800" dirty="0" smtClean="0">
                <a:latin typeface="Times New Roman" panose="02020603050405020304" pitchFamily="18" charset="0"/>
                <a:cs typeface="Times New Roman" panose="02020603050405020304" pitchFamily="18" charset="0"/>
              </a:rPr>
              <a:t>otitis externa</a:t>
            </a:r>
            <a:r>
              <a:rPr lang="en-US" altLang="es-DO" sz="2800" dirty="0" smtClean="0">
                <a:latin typeface="Times New Roman" panose="02020603050405020304" pitchFamily="18" charset="0"/>
                <a:cs typeface="Times New Roman" panose="02020603050405020304" pitchFamily="18" charset="0"/>
              </a:rPr>
              <a:t>: </a:t>
            </a:r>
            <a:r>
              <a:rPr lang="en-US" altLang="es-DO" sz="2800" dirty="0" smtClean="0">
                <a:latin typeface="Times New Roman" panose="02020603050405020304" pitchFamily="18" charset="0"/>
                <a:cs typeface="Times New Roman" panose="02020603050405020304" pitchFamily="18" charset="0"/>
              </a:rPr>
              <a:t>screening blood glucose and/or a urine dipstick test to rule out occult diabetes</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39000" cy="680068"/>
          </a:xfrm>
        </p:spPr>
        <p:txBody>
          <a:bodyPr/>
          <a:lstStyle/>
          <a:p>
            <a:pPr algn="ctr"/>
            <a:r>
              <a:rPr lang="en-US" altLang="es-DO" b="1" dirty="0" smtClean="0">
                <a:latin typeface="Times New Roman" panose="02020603050405020304" pitchFamily="18" charset="0"/>
                <a:cs typeface="Times New Roman" panose="02020603050405020304" pitchFamily="18" charset="0"/>
              </a:rPr>
              <a:t>IMAGING</a:t>
            </a:r>
            <a:endParaRPr lang="en-US"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457200" y="1412776"/>
            <a:ext cx="8435280" cy="5027000"/>
          </a:xfrm>
        </p:spPr>
        <p:txBody>
          <a:bodyPr>
            <a:normAutofit/>
          </a:bodyPr>
          <a:lstStyle/>
          <a:p>
            <a:r>
              <a:rPr lang="en-US" altLang="es-DO" sz="2800" dirty="0" smtClean="0">
                <a:latin typeface="Times New Roman" panose="02020603050405020304" pitchFamily="18" charset="0"/>
                <a:cs typeface="Times New Roman" panose="02020603050405020304" pitchFamily="18" charset="0"/>
              </a:rPr>
              <a:t>Imaging studies are </a:t>
            </a:r>
            <a:r>
              <a:rPr lang="en-US" altLang="es-DO" sz="2800" u="sng" dirty="0" smtClean="0">
                <a:latin typeface="Times New Roman" panose="02020603050405020304" pitchFamily="18" charset="0"/>
                <a:cs typeface="Times New Roman" panose="02020603050405020304" pitchFamily="18" charset="0"/>
              </a:rPr>
              <a:t>not</a:t>
            </a:r>
            <a:r>
              <a:rPr lang="en-US" altLang="es-DO" sz="2800" dirty="0" smtClean="0">
                <a:latin typeface="Times New Roman" panose="02020603050405020304" pitchFamily="18" charset="0"/>
                <a:cs typeface="Times New Roman" panose="02020603050405020304" pitchFamily="18" charset="0"/>
              </a:rPr>
              <a:t> required for simple otitis </a:t>
            </a:r>
            <a:r>
              <a:rPr lang="en-US" altLang="es-DO" sz="2800" dirty="0" smtClean="0">
                <a:latin typeface="Times New Roman" panose="02020603050405020304" pitchFamily="18" charset="0"/>
                <a:cs typeface="Times New Roman" panose="02020603050405020304" pitchFamily="18" charset="0"/>
              </a:rPr>
              <a:t>externa </a:t>
            </a:r>
            <a:endParaRPr lang="en-US" altLang="es-DO" sz="2800" dirty="0" smtClean="0">
              <a:latin typeface="Times New Roman" panose="02020603050405020304" pitchFamily="18" charset="0"/>
              <a:cs typeface="Times New Roman" panose="02020603050405020304" pitchFamily="18" charset="0"/>
            </a:endParaRPr>
          </a:p>
          <a:p>
            <a:r>
              <a:rPr lang="en-US" altLang="es-DO" sz="2800" dirty="0" smtClean="0">
                <a:latin typeface="Times New Roman" panose="02020603050405020304" pitchFamily="18" charset="0"/>
                <a:cs typeface="Times New Roman" panose="02020603050405020304" pitchFamily="18" charset="0"/>
              </a:rPr>
              <a:t>However, in patients with suspected malignant otitis </a:t>
            </a:r>
            <a:r>
              <a:rPr lang="en-US" altLang="es-DO" sz="2800" dirty="0" smtClean="0">
                <a:latin typeface="Times New Roman" panose="02020603050405020304" pitchFamily="18" charset="0"/>
                <a:cs typeface="Times New Roman" panose="02020603050405020304" pitchFamily="18" charset="0"/>
              </a:rPr>
              <a:t>externa </a:t>
            </a:r>
            <a:r>
              <a:rPr lang="en-US" altLang="es-DO" sz="2800" dirty="0" smtClean="0">
                <a:latin typeface="Times New Roman" panose="02020603050405020304" pitchFamily="18" charset="0"/>
                <a:cs typeface="Times New Roman" panose="02020603050405020304" pitchFamily="18" charset="0"/>
              </a:rPr>
              <a:t>(diabetic or immunocompromised):</a:t>
            </a:r>
          </a:p>
          <a:p>
            <a:pPr marL="342900" lvl="1" indent="0">
              <a:buNone/>
            </a:pPr>
            <a:r>
              <a:rPr lang="en-US" altLang="es-DO" dirty="0" smtClean="0">
                <a:latin typeface="Times New Roman" panose="02020603050405020304" pitchFamily="18" charset="0"/>
                <a:cs typeface="Times New Roman" panose="02020603050405020304" pitchFamily="18" charset="0"/>
              </a:rPr>
              <a:t> </a:t>
            </a:r>
            <a:r>
              <a:rPr lang="en-US" altLang="es-DO" sz="2500" b="1" u="sng" dirty="0" smtClean="0">
                <a:latin typeface="Times New Roman" panose="02020603050405020304" pitchFamily="18" charset="0"/>
                <a:cs typeface="Times New Roman" panose="02020603050405020304" pitchFamily="18" charset="0"/>
              </a:rPr>
              <a:t>scan using CT with contrast</a:t>
            </a:r>
            <a:r>
              <a:rPr lang="en-US" altLang="es-DO" dirty="0" smtClean="0">
                <a:latin typeface="Times New Roman" panose="02020603050405020304" pitchFamily="18" charset="0"/>
                <a:cs typeface="Times New Roman" panose="02020603050405020304" pitchFamily="18" charset="0"/>
              </a:rPr>
              <a:t> </a:t>
            </a:r>
            <a:endParaRPr lang="en-US" altLang="ja-JP" dirty="0" smtClean="0">
              <a:latin typeface="Times New Roman" panose="02020603050405020304" pitchFamily="18" charset="0"/>
              <a:ea typeface="ＭＳ Ｐゴシック" pitchFamily="28" charset="-128"/>
              <a:cs typeface="Times New Roman" panose="02020603050405020304" pitchFamily="18" charset="0"/>
            </a:endParaRPr>
          </a:p>
          <a:p>
            <a:pPr lvl="1">
              <a:buFontTx/>
              <a:buNone/>
            </a:pPr>
            <a:r>
              <a:rPr lang="en-US" altLang="ja-JP" dirty="0" smtClean="0">
                <a:latin typeface="Times New Roman" panose="02020603050405020304" pitchFamily="18" charset="0"/>
                <a:ea typeface="ＭＳ Ｐゴシック" pitchFamily="28" charset="-128"/>
                <a:cs typeface="Times New Roman" panose="02020603050405020304" pitchFamily="18" charset="0"/>
              </a:rPr>
              <a:t>Additional/Optional:</a:t>
            </a:r>
          </a:p>
          <a:p>
            <a:pPr lvl="1"/>
            <a:r>
              <a:rPr lang="en-US" altLang="es-DO" dirty="0" smtClean="0">
                <a:latin typeface="Times New Roman" panose="02020603050405020304" pitchFamily="18" charset="0"/>
                <a:cs typeface="Times New Roman" panose="02020603050405020304" pitchFamily="18" charset="0"/>
              </a:rPr>
              <a:t> MRI of the temporal bone</a:t>
            </a:r>
          </a:p>
          <a:p>
            <a:pPr lvl="1"/>
            <a:r>
              <a:rPr lang="en-US" altLang="es-DO" dirty="0" smtClean="0">
                <a:latin typeface="Times New Roman" panose="02020603050405020304" pitchFamily="18" charset="0"/>
                <a:cs typeface="Times New Roman" panose="02020603050405020304" pitchFamily="18" charset="0"/>
              </a:rPr>
              <a:t> triple-phase bone scanning using Technetium-99m </a:t>
            </a:r>
          </a:p>
          <a:p>
            <a:pPr lvl="1"/>
            <a:r>
              <a:rPr lang="en-US" altLang="es-DO" dirty="0" smtClean="0">
                <a:latin typeface="Times New Roman" panose="02020603050405020304" pitchFamily="18" charset="0"/>
                <a:cs typeface="Times New Roman" panose="02020603050405020304" pitchFamily="18" charset="0"/>
              </a:rPr>
              <a:t> gallium scanning</a:t>
            </a:r>
            <a:endParaRPr lang="en-US" dirty="0" smtClean="0">
              <a:latin typeface="Times New Roman" panose="02020603050405020304" pitchFamily="18" charset="0"/>
              <a:cs typeface="Times New Roman" panose="02020603050405020304" pitchFamily="18" charset="0"/>
            </a:endParaRP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39000" cy="751506"/>
          </a:xfrm>
        </p:spPr>
        <p:txBody>
          <a:bodyPr>
            <a:normAutofit/>
          </a:bodyPr>
          <a:lstStyle/>
          <a:p>
            <a:r>
              <a:rPr lang="en-US" altLang="es-DO" sz="4400" b="1" u="sng" dirty="0" smtClean="0">
                <a:latin typeface="Times New Roman" panose="02020603050405020304" pitchFamily="18" charset="0"/>
                <a:cs typeface="Times New Roman" panose="02020603050405020304" pitchFamily="18" charset="0"/>
              </a:rPr>
              <a:t>TREATMENT</a:t>
            </a:r>
            <a:endParaRPr lang="en-US" sz="3600"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457200" y="1428736"/>
            <a:ext cx="7239000" cy="5027000"/>
          </a:xfrm>
        </p:spPr>
        <p:txBody>
          <a:bodyPr>
            <a:normAutofit/>
          </a:bodyPr>
          <a:lstStyle/>
          <a:p>
            <a:pPr marL="0" indent="0">
              <a:buNone/>
              <a:defRPr/>
            </a:pPr>
            <a:r>
              <a:rPr lang="en-US" altLang="es-DO" sz="2400" b="1" u="sng" dirty="0" smtClean="0">
                <a:latin typeface="Times New Roman" panose="02020603050405020304" pitchFamily="18" charset="0"/>
                <a:cs typeface="Times New Roman" panose="02020603050405020304" pitchFamily="18" charset="0"/>
              </a:rPr>
              <a:t>Goals</a:t>
            </a:r>
            <a:r>
              <a:rPr lang="en-US" altLang="es-DO" sz="2400" dirty="0" smtClean="0">
                <a:latin typeface="Times New Roman" panose="02020603050405020304" pitchFamily="18" charset="0"/>
                <a:cs typeface="Times New Roman" panose="02020603050405020304" pitchFamily="18" charset="0"/>
              </a:rPr>
              <a:t>:</a:t>
            </a:r>
          </a:p>
          <a:p>
            <a:pPr marL="0" indent="0">
              <a:buNone/>
              <a:defRPr/>
            </a:pPr>
            <a:r>
              <a:rPr lang="en-US" altLang="es-DO" sz="2400" dirty="0" smtClean="0">
                <a:latin typeface="Times New Roman" panose="02020603050405020304" pitchFamily="18" charset="0"/>
                <a:cs typeface="Times New Roman" panose="02020603050405020304" pitchFamily="18" charset="0"/>
              </a:rPr>
              <a:t>1.  Antimicrobial therapy that eradicates the 2 most common bacterial causes:  Pseudomonas and Staph </a:t>
            </a:r>
            <a:r>
              <a:rPr lang="en-US" altLang="es-DO" sz="2400" dirty="0" smtClean="0">
                <a:latin typeface="Times New Roman" panose="02020603050405020304" pitchFamily="18" charset="0"/>
                <a:cs typeface="Times New Roman" panose="02020603050405020304" pitchFamily="18" charset="0"/>
              </a:rPr>
              <a:t>aureus  </a:t>
            </a:r>
            <a:endParaRPr lang="en-US" altLang="es-DO" sz="2400" dirty="0" smtClean="0">
              <a:latin typeface="Times New Roman" panose="02020603050405020304" pitchFamily="18" charset="0"/>
              <a:cs typeface="Times New Roman" panose="02020603050405020304" pitchFamily="18" charset="0"/>
            </a:endParaRPr>
          </a:p>
          <a:p>
            <a:pPr marL="0" indent="0">
              <a:buNone/>
              <a:defRPr/>
            </a:pPr>
            <a:r>
              <a:rPr lang="en-US" altLang="es-DO" sz="2400" dirty="0" smtClean="0">
                <a:latin typeface="Times New Roman" panose="02020603050405020304" pitchFamily="18" charset="0"/>
                <a:cs typeface="Times New Roman" panose="02020603050405020304" pitchFamily="18" charset="0"/>
              </a:rPr>
              <a:t>2. Aural toilet- remove as much debris as possible</a:t>
            </a:r>
          </a:p>
          <a:p>
            <a:pPr marL="0" indent="0">
              <a:buNone/>
              <a:defRPr/>
            </a:pPr>
            <a:r>
              <a:rPr lang="en-US" altLang="es-DO" sz="2400" dirty="0" smtClean="0">
                <a:latin typeface="Times New Roman" panose="02020603050405020304" pitchFamily="18" charset="0"/>
                <a:cs typeface="Times New Roman" panose="02020603050405020304" pitchFamily="18" charset="0"/>
              </a:rPr>
              <a:t>3.  Pain control</a:t>
            </a:r>
          </a:p>
          <a:p>
            <a:pPr marL="0" indent="0">
              <a:buNone/>
              <a:defRPr/>
            </a:pPr>
            <a:r>
              <a:rPr lang="en-US" altLang="es-DO" sz="2400" dirty="0" smtClean="0">
                <a:latin typeface="Times New Roman" panose="02020603050405020304" pitchFamily="18" charset="0"/>
                <a:cs typeface="Times New Roman" panose="02020603050405020304" pitchFamily="18" charset="0"/>
              </a:rPr>
              <a:t>4.  Dry Ear precautions</a:t>
            </a:r>
          </a:p>
          <a:p>
            <a:pPr marL="0" indent="0">
              <a:spcBef>
                <a:spcPct val="50000"/>
              </a:spcBef>
              <a:buNone/>
              <a:defRPr/>
            </a:pPr>
            <a:r>
              <a:rPr lang="en-US" altLang="es-DO" sz="2400" dirty="0" smtClean="0">
                <a:latin typeface="Times New Roman" panose="02020603050405020304" pitchFamily="18" charset="0"/>
                <a:cs typeface="Times New Roman" panose="02020603050405020304" pitchFamily="18" charset="0"/>
              </a:rPr>
              <a:t>5.  Patient instructions in proper use of ear </a:t>
            </a:r>
            <a:r>
              <a:rPr lang="en-US" altLang="es-DO" sz="2400" dirty="0" smtClean="0">
                <a:latin typeface="Times New Roman" panose="02020603050405020304" pitchFamily="18" charset="0"/>
                <a:cs typeface="Times New Roman" panose="02020603050405020304" pitchFamily="18" charset="0"/>
              </a:rPr>
              <a:t>drops</a:t>
            </a:r>
          </a:p>
          <a:p>
            <a:pPr marL="0" indent="0">
              <a:spcBef>
                <a:spcPct val="50000"/>
              </a:spcBef>
              <a:buNone/>
              <a:defRPr/>
            </a:pPr>
            <a:r>
              <a:rPr lang="en-US" altLang="es-DO" sz="2400" dirty="0" smtClean="0">
                <a:solidFill>
                  <a:schemeClr val="tx1"/>
                </a:solidFill>
                <a:latin typeface="Times New Roman" panose="02020603050405020304" pitchFamily="18" charset="0"/>
                <a:cs typeface="Times New Roman" panose="02020603050405020304" pitchFamily="18" charset="0"/>
              </a:rPr>
              <a:t>6.  Ear wick?</a:t>
            </a:r>
            <a:endParaRPr 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44624"/>
            <a:ext cx="7444680" cy="648072"/>
          </a:xfrm>
        </p:spPr>
        <p:txBody>
          <a:bodyPr>
            <a:normAutofit/>
          </a:bodyPr>
          <a:lstStyle/>
          <a:p>
            <a:r>
              <a:rPr lang="en-US" altLang="es-DO" sz="4000" b="1" u="sng" dirty="0" smtClean="0">
                <a:solidFill>
                  <a:schemeClr val="tx1"/>
                </a:solidFill>
                <a:latin typeface="Times New Roman" panose="02020603050405020304" pitchFamily="18" charset="0"/>
                <a:cs typeface="Times New Roman" panose="02020603050405020304" pitchFamily="18" charset="0"/>
              </a:rPr>
              <a:t>TREATMENT</a:t>
            </a:r>
            <a:endParaRPr lang="en-US"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179512" y="692695"/>
            <a:ext cx="8579296" cy="4104457"/>
          </a:xfrm>
        </p:spPr>
        <p:txBody>
          <a:bodyPr>
            <a:noAutofit/>
          </a:bodyPr>
          <a:lstStyle/>
          <a:p>
            <a:pPr marL="0" indent="0">
              <a:spcBef>
                <a:spcPct val="50000"/>
              </a:spcBef>
              <a:buNone/>
              <a:defRPr/>
            </a:pPr>
            <a:r>
              <a:rPr lang="en-US" altLang="es-DO" sz="2800" u="sng" dirty="0" smtClean="0">
                <a:latin typeface="Times New Roman" panose="02020603050405020304" pitchFamily="18" charset="0"/>
                <a:cs typeface="Times New Roman" panose="02020603050405020304" pitchFamily="18" charset="0"/>
              </a:rPr>
              <a:t>Topical </a:t>
            </a:r>
            <a:r>
              <a:rPr lang="en-US" altLang="es-DO" sz="2800" u="sng" dirty="0" smtClean="0">
                <a:latin typeface="Times New Roman" panose="02020603050405020304" pitchFamily="18" charset="0"/>
                <a:cs typeface="Times New Roman" panose="02020603050405020304" pitchFamily="18" charset="0"/>
              </a:rPr>
              <a:t>Antibiotic Treatment Options</a:t>
            </a:r>
          </a:p>
          <a:p>
            <a:pPr marL="0" indent="0">
              <a:spcBef>
                <a:spcPct val="50000"/>
              </a:spcBef>
              <a:buNone/>
              <a:defRPr/>
            </a:pPr>
            <a:r>
              <a:rPr lang="en-US" altLang="es-DO" sz="2800" dirty="0" err="1" smtClean="0">
                <a:latin typeface="Times New Roman" panose="02020603050405020304" pitchFamily="18" charset="0"/>
                <a:cs typeface="Times New Roman" panose="02020603050405020304" pitchFamily="18" charset="0"/>
              </a:rPr>
              <a:t>Aminoglycosides</a:t>
            </a:r>
            <a:endParaRPr lang="en-US" altLang="es-DO" sz="2800" dirty="0" smtClean="0">
              <a:latin typeface="Times New Roman" panose="02020603050405020304" pitchFamily="18" charset="0"/>
              <a:cs typeface="Times New Roman" panose="02020603050405020304" pitchFamily="18" charset="0"/>
            </a:endParaRPr>
          </a:p>
          <a:p>
            <a:pPr>
              <a:defRPr/>
            </a:pPr>
            <a:r>
              <a:rPr lang="en-US" altLang="es-DO" sz="2800" dirty="0" smtClean="0">
                <a:latin typeface="Times New Roman" panose="02020603050405020304" pitchFamily="18" charset="0"/>
                <a:cs typeface="Times New Roman" panose="02020603050405020304" pitchFamily="18" charset="0"/>
              </a:rPr>
              <a:t>- neomycin is often combined with a second antibiotic (</a:t>
            </a:r>
            <a:r>
              <a:rPr lang="en-US" altLang="es-DO" sz="2800" dirty="0" err="1" smtClean="0">
                <a:latin typeface="Times New Roman" panose="02020603050405020304" pitchFamily="18" charset="0"/>
                <a:cs typeface="Times New Roman" panose="02020603050405020304" pitchFamily="18" charset="0"/>
              </a:rPr>
              <a:t>polymixin</a:t>
            </a:r>
            <a:r>
              <a:rPr lang="en-US" altLang="es-DO" sz="2800" dirty="0" smtClean="0">
                <a:latin typeface="Times New Roman" panose="02020603050405020304" pitchFamily="18" charset="0"/>
                <a:cs typeface="Times New Roman" panose="02020603050405020304" pitchFamily="18" charset="0"/>
              </a:rPr>
              <a:t>) and a steroid</a:t>
            </a:r>
          </a:p>
          <a:p>
            <a:pPr>
              <a:defRPr/>
            </a:pPr>
            <a:r>
              <a:rPr lang="en-US" altLang="es-DO" sz="2800" dirty="0" smtClean="0">
                <a:latin typeface="Times New Roman" panose="02020603050405020304" pitchFamily="18" charset="0"/>
                <a:cs typeface="Times New Roman" panose="02020603050405020304" pitchFamily="18" charset="0"/>
              </a:rPr>
              <a:t>- </a:t>
            </a:r>
            <a:r>
              <a:rPr lang="en-US" altLang="es-DO" sz="2800" dirty="0" err="1" smtClean="0">
                <a:latin typeface="Times New Roman" panose="02020603050405020304" pitchFamily="18" charset="0"/>
                <a:cs typeface="Times New Roman" panose="02020603050405020304" pitchFamily="18" charset="0"/>
              </a:rPr>
              <a:t>polymixin</a:t>
            </a:r>
            <a:r>
              <a:rPr lang="en-US" altLang="es-DO" sz="2800" dirty="0" smtClean="0">
                <a:latin typeface="Times New Roman" panose="02020603050405020304" pitchFamily="18" charset="0"/>
                <a:cs typeface="Times New Roman" panose="02020603050405020304" pitchFamily="18" charset="0"/>
              </a:rPr>
              <a:t> covers pseudomonas.  </a:t>
            </a:r>
            <a:r>
              <a:rPr lang="en-US" altLang="es-DO" sz="2800" dirty="0" err="1" smtClean="0">
                <a:latin typeface="Times New Roman" panose="02020603050405020304" pitchFamily="18" charset="0"/>
                <a:cs typeface="Times New Roman" panose="02020603050405020304" pitchFamily="18" charset="0"/>
              </a:rPr>
              <a:t>Polymixin</a:t>
            </a:r>
            <a:r>
              <a:rPr lang="en-US" altLang="es-DO" sz="2800" dirty="0" smtClean="0">
                <a:latin typeface="Times New Roman" panose="02020603050405020304" pitchFamily="18" charset="0"/>
                <a:cs typeface="Times New Roman" panose="02020603050405020304" pitchFamily="18" charset="0"/>
              </a:rPr>
              <a:t>/neomycin have 87-97% cure rates</a:t>
            </a:r>
          </a:p>
          <a:p>
            <a:pPr>
              <a:defRPr/>
            </a:pPr>
            <a:r>
              <a:rPr lang="en-US" altLang="es-DO" sz="2800" dirty="0" smtClean="0">
                <a:latin typeface="Times New Roman" panose="02020603050405020304" pitchFamily="18" charset="0"/>
                <a:cs typeface="Times New Roman" panose="02020603050405020304" pitchFamily="18" charset="0"/>
              </a:rPr>
              <a:t>- gentamicin also sometimes </a:t>
            </a:r>
            <a:r>
              <a:rPr lang="en-US" altLang="es-DO" sz="2800" dirty="0" smtClean="0">
                <a:latin typeface="Times New Roman" panose="02020603050405020304" pitchFamily="18" charset="0"/>
                <a:cs typeface="Times New Roman" panose="02020603050405020304" pitchFamily="18" charset="0"/>
              </a:rPr>
              <a:t>used</a:t>
            </a:r>
          </a:p>
          <a:p>
            <a:pPr>
              <a:defRPr/>
            </a:pPr>
            <a:r>
              <a:rPr lang="en-US" altLang="es-DO" sz="2800" dirty="0" smtClean="0">
                <a:latin typeface="Times New Roman" panose="02020603050405020304" pitchFamily="18" charset="0"/>
                <a:cs typeface="Times New Roman" panose="02020603050405020304" pitchFamily="18" charset="0"/>
              </a:rPr>
              <a:t> </a:t>
            </a:r>
            <a:r>
              <a:rPr lang="en-US" altLang="es-DO" sz="2800" u="sng" dirty="0" smtClean="0">
                <a:latin typeface="Times New Roman" panose="02020603050405020304" pitchFamily="18" charset="0"/>
                <a:cs typeface="Times New Roman" panose="02020603050405020304" pitchFamily="18" charset="0"/>
              </a:rPr>
              <a:t>Quinolones</a:t>
            </a:r>
            <a:endParaRPr lang="en-US" altLang="es-DO" sz="2800" u="sng" dirty="0" smtClean="0">
              <a:latin typeface="Times New Roman" panose="02020603050405020304" pitchFamily="18" charset="0"/>
              <a:cs typeface="Times New Roman" panose="02020603050405020304" pitchFamily="18" charset="0"/>
            </a:endParaRPr>
          </a:p>
          <a:p>
            <a:pPr marL="0" indent="0">
              <a:spcBef>
                <a:spcPct val="50000"/>
              </a:spcBef>
              <a:buNone/>
              <a:defRPr/>
            </a:pPr>
            <a:r>
              <a:rPr lang="en-US" altLang="es-DO" sz="2800" b="1" u="sng" dirty="0" smtClean="0">
                <a:latin typeface="Times New Roman" panose="02020603050405020304" pitchFamily="18" charset="0"/>
                <a:cs typeface="Times New Roman" panose="02020603050405020304" pitchFamily="18" charset="0"/>
              </a:rPr>
              <a:t>Now Considered First-line Therapy</a:t>
            </a:r>
            <a:endParaRPr lang="en-US" sz="2000" dirty="0">
              <a:latin typeface="Times New Roman" panose="02020603050405020304" pitchFamily="18" charset="0"/>
              <a:cs typeface="Times New Roman" panose="02020603050405020304" pitchFamily="18" charset="0"/>
            </a:endParaRPr>
          </a:p>
        </p:txBody>
      </p:sp>
      <p:pic>
        <p:nvPicPr>
          <p:cNvPr id="4" name="Picture 8"/>
          <p:cNvPicPr>
            <a:picLocks noChangeAspect="1" noChangeArrowheads="1"/>
          </p:cNvPicPr>
          <p:nvPr/>
        </p:nvPicPr>
        <p:blipFill>
          <a:blip r:embed="rId2"/>
          <a:srcRect/>
          <a:stretch>
            <a:fillRect/>
          </a:stretch>
        </p:blipFill>
        <p:spPr bwMode="auto">
          <a:xfrm>
            <a:off x="378790" y="5219700"/>
            <a:ext cx="2190750" cy="1638300"/>
          </a:xfrm>
          <a:prstGeom prst="rect">
            <a:avLst/>
          </a:prstGeom>
          <a:noFill/>
          <a:ln w="9525">
            <a:noFill/>
            <a:miter lim="800000"/>
            <a:headEnd/>
            <a:tailEnd/>
          </a:ln>
        </p:spPr>
      </p:pic>
      <p:pic>
        <p:nvPicPr>
          <p:cNvPr id="5" name="Picture 10"/>
          <p:cNvPicPr>
            <a:picLocks noChangeAspect="1" noChangeArrowheads="1"/>
          </p:cNvPicPr>
          <p:nvPr/>
        </p:nvPicPr>
        <p:blipFill>
          <a:blip r:embed="rId3"/>
          <a:srcRect/>
          <a:stretch>
            <a:fillRect/>
          </a:stretch>
        </p:blipFill>
        <p:spPr bwMode="auto">
          <a:xfrm>
            <a:off x="2830860" y="5219700"/>
            <a:ext cx="2286000" cy="1638300"/>
          </a:xfrm>
          <a:prstGeom prst="rect">
            <a:avLst/>
          </a:prstGeom>
          <a:noFill/>
          <a:ln w="9525">
            <a:noFill/>
            <a:miter lim="800000"/>
            <a:headEnd/>
            <a:tailEnd/>
          </a:ln>
        </p:spPr>
      </p:pic>
      <p:pic>
        <p:nvPicPr>
          <p:cNvPr id="6" name="Picture 6"/>
          <p:cNvPicPr>
            <a:picLocks noChangeAspect="1" noChangeArrowheads="1"/>
          </p:cNvPicPr>
          <p:nvPr/>
        </p:nvPicPr>
        <p:blipFill>
          <a:blip r:embed="rId4"/>
          <a:srcRect/>
          <a:stretch>
            <a:fillRect/>
          </a:stretch>
        </p:blipFill>
        <p:spPr bwMode="auto">
          <a:xfrm>
            <a:off x="5524378" y="5096037"/>
            <a:ext cx="2190750" cy="16383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543824" cy="608630"/>
          </a:xfrm>
        </p:spPr>
        <p:txBody>
          <a:bodyPr>
            <a:normAutofit/>
          </a:bodyPr>
          <a:lstStyle/>
          <a:p>
            <a:r>
              <a:rPr lang="en-US" b="1" dirty="0" smtClean="0">
                <a:latin typeface="Times New Roman" panose="02020603050405020304" pitchFamily="18" charset="0"/>
                <a:cs typeface="Times New Roman" panose="02020603050405020304" pitchFamily="18" charset="0"/>
              </a:rPr>
              <a:t>GENERAL TREATMENT</a:t>
            </a:r>
            <a:endParaRPr lang="en-US"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457200" y="1196752"/>
            <a:ext cx="7886700" cy="4351338"/>
          </a:xfrm>
        </p:spPr>
        <p:txBody>
          <a:bodyPr/>
          <a:lstStyle/>
          <a:p>
            <a:r>
              <a:rPr lang="en-US" dirty="0" smtClean="0">
                <a:latin typeface="Times New Roman" panose="02020603050405020304" pitchFamily="18" charset="0"/>
                <a:cs typeface="Times New Roman" panose="02020603050405020304" pitchFamily="18" charset="0"/>
              </a:rPr>
              <a:t>Analgesics</a:t>
            </a:r>
          </a:p>
          <a:p>
            <a:r>
              <a:rPr lang="en-US" dirty="0" smtClean="0">
                <a:latin typeface="Times New Roman" panose="02020603050405020304" pitchFamily="18" charset="0"/>
                <a:cs typeface="Times New Roman" panose="02020603050405020304" pitchFamily="18" charset="0"/>
              </a:rPr>
              <a:t>Anti-</a:t>
            </a:r>
            <a:r>
              <a:rPr lang="en-US" dirty="0" err="1" smtClean="0">
                <a:latin typeface="Times New Roman" panose="02020603050405020304" pitchFamily="18" charset="0"/>
                <a:cs typeface="Times New Roman" panose="02020603050405020304" pitchFamily="18" charset="0"/>
              </a:rPr>
              <a:t>inflammatories</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Antihistamines</a:t>
            </a:r>
          </a:p>
          <a:p>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686700" cy="608630"/>
          </a:xfrm>
        </p:spPr>
        <p:txBody>
          <a:bodyPr>
            <a:normAutofit/>
          </a:bodyPr>
          <a:lstStyle/>
          <a:p>
            <a:pPr algn="ctr"/>
            <a:r>
              <a:rPr lang="en-US" altLang="es-DO" sz="2400" b="1" u="sng" dirty="0" smtClean="0">
                <a:solidFill>
                  <a:schemeClr val="tx1"/>
                </a:solidFill>
                <a:latin typeface="Times New Roman" panose="02020603050405020304" pitchFamily="18" charset="0"/>
                <a:cs typeface="Times New Roman" panose="02020603050405020304" pitchFamily="18" charset="0"/>
              </a:rPr>
              <a:t>COMPLICATIONS/SEQUELAE</a:t>
            </a:r>
            <a:endParaRPr lang="en-US" sz="2400"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107504" y="1609416"/>
            <a:ext cx="8928992" cy="4846320"/>
          </a:xfrm>
        </p:spPr>
        <p:txBody>
          <a:bodyPr/>
          <a:lstStyle/>
          <a:p>
            <a:pPr>
              <a:spcAft>
                <a:spcPts val="1200"/>
              </a:spcAft>
              <a:defRPr/>
            </a:pPr>
            <a:r>
              <a:rPr lang="en-US" sz="2800" dirty="0" smtClean="0">
                <a:latin typeface="Times New Roman" panose="02020603050405020304" pitchFamily="18" charset="0"/>
                <a:cs typeface="Times New Roman" panose="02020603050405020304" pitchFamily="18" charset="0"/>
              </a:rPr>
              <a:t>Stenosis </a:t>
            </a:r>
            <a:r>
              <a:rPr lang="en-US" sz="2800" dirty="0" smtClean="0">
                <a:latin typeface="Times New Roman" panose="02020603050405020304" pitchFamily="18" charset="0"/>
                <a:cs typeface="Times New Roman" panose="02020603050405020304" pitchFamily="18" charset="0"/>
              </a:rPr>
              <a:t>of the ear canal</a:t>
            </a:r>
          </a:p>
          <a:p>
            <a:pPr>
              <a:spcAft>
                <a:spcPts val="1200"/>
              </a:spcAft>
              <a:defRPr/>
            </a:pPr>
            <a:r>
              <a:rPr lang="en-US" sz="2800" dirty="0" smtClean="0">
                <a:latin typeface="Times New Roman" panose="02020603050405020304" pitchFamily="18" charset="0"/>
                <a:cs typeface="Times New Roman" panose="02020603050405020304" pitchFamily="18" charset="0"/>
              </a:rPr>
              <a:t>Cellulitis/chondritis</a:t>
            </a:r>
            <a:endParaRPr lang="en-US" sz="2800" dirty="0" smtClean="0">
              <a:latin typeface="Times New Roman" panose="02020603050405020304" pitchFamily="18" charset="0"/>
              <a:cs typeface="Times New Roman" panose="02020603050405020304" pitchFamily="18" charset="0"/>
            </a:endParaRPr>
          </a:p>
          <a:p>
            <a:pPr>
              <a:spcAft>
                <a:spcPts val="1200"/>
              </a:spcAft>
              <a:defRPr/>
            </a:pPr>
            <a:r>
              <a:rPr lang="en-US" sz="2800" dirty="0" smtClean="0">
                <a:latin typeface="Times New Roman" panose="02020603050405020304" pitchFamily="18" charset="0"/>
                <a:cs typeface="Times New Roman" panose="02020603050405020304" pitchFamily="18" charset="0"/>
              </a:rPr>
              <a:t>Parotiditis</a:t>
            </a:r>
            <a:endParaRPr lang="en-US" sz="2800" dirty="0" smtClean="0">
              <a:latin typeface="Times New Roman" panose="02020603050405020304" pitchFamily="18" charset="0"/>
              <a:cs typeface="Times New Roman" panose="02020603050405020304" pitchFamily="18" charset="0"/>
            </a:endParaRPr>
          </a:p>
          <a:p>
            <a:pPr>
              <a:spcAft>
                <a:spcPts val="1200"/>
              </a:spcAft>
              <a:defRPr/>
            </a:pPr>
            <a:r>
              <a:rPr lang="en-US" sz="2800" dirty="0" smtClean="0">
                <a:latin typeface="Times New Roman" panose="02020603050405020304" pitchFamily="18" charset="0"/>
                <a:cs typeface="Times New Roman" panose="02020603050405020304" pitchFamily="18" charset="0"/>
              </a:rPr>
              <a:t>Necrotizing </a:t>
            </a:r>
            <a:r>
              <a:rPr lang="en-US" sz="2800" dirty="0" smtClean="0">
                <a:latin typeface="Times New Roman" panose="02020603050405020304" pitchFamily="18" charset="0"/>
                <a:cs typeface="Times New Roman" panose="02020603050405020304" pitchFamily="18" charset="0"/>
              </a:rPr>
              <a:t>OE</a:t>
            </a:r>
          </a:p>
          <a:p>
            <a:pPr marL="0" indent="0">
              <a:spcAft>
                <a:spcPts val="1200"/>
              </a:spcAft>
              <a:buNone/>
              <a:defRPr/>
            </a:pPr>
            <a:r>
              <a:rPr lang="en-US" sz="2800" dirty="0" smtClean="0">
                <a:latin typeface="Times New Roman" panose="02020603050405020304" pitchFamily="18" charset="0"/>
                <a:cs typeface="Times New Roman" panose="02020603050405020304" pitchFamily="18" charset="0"/>
              </a:rPr>
              <a:t>Patient who are susceptible have immune dysfunction</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leukemia</a:t>
            </a:r>
            <a:r>
              <a:rPr lang="en-US" sz="2800" dirty="0" smtClean="0">
                <a:latin typeface="Times New Roman" panose="02020603050405020304" pitchFamily="18" charset="0"/>
                <a:cs typeface="Times New Roman" panose="02020603050405020304" pitchFamily="18" charset="0"/>
              </a:rPr>
              <a:t>, drug-induce leukopenia, immunoglobulin deficiency, and DM)</a:t>
            </a:r>
            <a:endParaRPr lang="en-US" sz="2400" dirty="0" smtClean="0">
              <a:latin typeface="Times New Roman" panose="02020603050405020304" pitchFamily="18" charset="0"/>
              <a:cs typeface="Times New Roman" panose="02020603050405020304" pitchFamily="18" charset="0"/>
            </a:endParaRPr>
          </a:p>
          <a:p>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39000" cy="608630"/>
          </a:xfrm>
        </p:spPr>
        <p:txBody>
          <a:bodyPr>
            <a:normAutofit/>
          </a:bodyPr>
          <a:lstStyle/>
          <a:p>
            <a:pPr algn="ctr"/>
            <a:r>
              <a:rPr lang="en-US" sz="2000" b="1" dirty="0" smtClean="0">
                <a:latin typeface="Times New Roman" panose="02020603050405020304" pitchFamily="18" charset="0"/>
                <a:cs typeface="Times New Roman" panose="02020603050405020304" pitchFamily="18" charset="0"/>
              </a:rPr>
              <a:t>CHRONIC OTITIS EXTERNA- ETIOLOGIES</a:t>
            </a:r>
            <a:endParaRPr lang="en-US" sz="2000"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457200" y="1428736"/>
            <a:ext cx="8043890" cy="5027000"/>
          </a:xfrm>
        </p:spPr>
        <p:txBody>
          <a:bodyPr>
            <a:normAutofit/>
          </a:bodyPr>
          <a:lstStyle/>
          <a:p>
            <a:r>
              <a:rPr lang="en-US" sz="2000" dirty="0" smtClean="0">
                <a:latin typeface="Times New Roman" pitchFamily="18" charset="0"/>
                <a:cs typeface="Times New Roman" pitchFamily="18" charset="0"/>
              </a:rPr>
              <a:t>Allergic: reactions to topical agents, manifest as maculopapular eruptions on the skin of the conceal and ear canal.</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Contact dermatitis: reaction to hairspray, shampoo, hair dye, hearing aid moulds.</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Psoriasis: such as seborrhea can involve ear canal-results in hyperkeratosis and </a:t>
            </a:r>
            <a:r>
              <a:rPr lang="en-US" sz="2000" dirty="0" err="1" smtClean="0">
                <a:latin typeface="Times New Roman" pitchFamily="18" charset="0"/>
                <a:cs typeface="Times New Roman" pitchFamily="18" charset="0"/>
              </a:rPr>
              <a:t>lichenification</a:t>
            </a:r>
            <a:r>
              <a:rPr lang="en-US" sz="2000" dirty="0" smtClean="0">
                <a:latin typeface="Times New Roman" pitchFamily="18" charset="0"/>
                <a:cs typeface="Times New Roman" pitchFamily="18" charset="0"/>
              </a:rPr>
              <a:t> of the ear canal skin.</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0653"/>
            <a:ext cx="7886700" cy="518028"/>
          </a:xfrm>
        </p:spPr>
        <p:txBody>
          <a:bodyPr>
            <a:noAutofit/>
          </a:bodyPr>
          <a:lstStyle/>
          <a:p>
            <a:pPr algn="ctr"/>
            <a:r>
              <a:rPr lang="en-US" sz="3600" b="1" dirty="0" smtClean="0">
                <a:latin typeface="Times New Roman" panose="02020603050405020304" pitchFamily="18" charset="0"/>
                <a:cs typeface="Times New Roman" panose="02020603050405020304" pitchFamily="18" charset="0"/>
              </a:rPr>
              <a:t>WAX</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23528" y="1124744"/>
            <a:ext cx="8964488" cy="4692179"/>
          </a:xfrm>
        </p:spPr>
        <p:txBody>
          <a:bodyPr>
            <a:normAutofit/>
          </a:bodyPr>
          <a:lstStyle/>
          <a:p>
            <a:pPr marL="0" indent="0">
              <a:buNone/>
            </a:pPr>
            <a:r>
              <a:rPr lang="en-US" sz="2000" dirty="0" smtClean="0">
                <a:latin typeface="Times New Roman" panose="02020603050405020304" pitchFamily="18" charset="0"/>
                <a:cs typeface="Times New Roman" panose="02020603050405020304" pitchFamily="18" charset="0"/>
              </a:rPr>
              <a:t>Wax </a:t>
            </a:r>
            <a:r>
              <a:rPr lang="en-US" sz="2000" dirty="0">
                <a:latin typeface="Times New Roman" panose="02020603050405020304" pitchFamily="18" charset="0"/>
                <a:cs typeface="Times New Roman" panose="02020603050405020304" pitchFamily="18" charset="0"/>
              </a:rPr>
              <a:t>is usually a </a:t>
            </a:r>
            <a:r>
              <a:rPr lang="en-US" sz="2000" b="1" dirty="0">
                <a:latin typeface="Times New Roman" panose="02020603050405020304" pitchFamily="18" charset="0"/>
                <a:cs typeface="Times New Roman" panose="02020603050405020304" pitchFamily="18" charset="0"/>
              </a:rPr>
              <a:t>mixture of secretions of ceruminous </a:t>
            </a:r>
            <a:r>
              <a:rPr lang="en-US" sz="2000" dirty="0">
                <a:latin typeface="Times New Roman" panose="02020603050405020304" pitchFamily="18" charset="0"/>
                <a:cs typeface="Times New Roman" panose="02020603050405020304" pitchFamily="18" charset="0"/>
              </a:rPr>
              <a:t>and </a:t>
            </a:r>
            <a:r>
              <a:rPr lang="en-US" sz="2000" b="1" dirty="0">
                <a:latin typeface="Times New Roman" panose="02020603050405020304" pitchFamily="18" charset="0"/>
                <a:cs typeface="Times New Roman" panose="02020603050405020304" pitchFamily="18" charset="0"/>
              </a:rPr>
              <a:t>sebaceous </a:t>
            </a:r>
            <a:r>
              <a:rPr lang="en-US" sz="2000" b="1" dirty="0" smtClean="0">
                <a:latin typeface="Times New Roman" panose="02020603050405020304" pitchFamily="18" charset="0"/>
                <a:cs typeface="Times New Roman" panose="02020603050405020304" pitchFamily="18" charset="0"/>
              </a:rPr>
              <a:t>glands</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ceruminous glands are modified sweat (apocrine) glands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located in the cartilaginous part of EAC </a:t>
            </a:r>
            <a:r>
              <a:rPr lang="en-US" sz="2000" dirty="0">
                <a:latin typeface="Times New Roman" panose="02020603050405020304" pitchFamily="18" charset="0"/>
                <a:cs typeface="Times New Roman" panose="02020603050405020304" pitchFamily="18" charset="0"/>
              </a:rPr>
              <a:t>and </a:t>
            </a:r>
            <a:r>
              <a:rPr lang="en-US" sz="2000" b="1" dirty="0">
                <a:latin typeface="Times New Roman" panose="02020603050405020304" pitchFamily="18" charset="0"/>
                <a:cs typeface="Times New Roman" panose="02020603050405020304" pitchFamily="18" charset="0"/>
              </a:rPr>
              <a:t>produce cerumen</a:t>
            </a:r>
            <a:r>
              <a:rPr lang="en-US" sz="2000" dirty="0">
                <a:latin typeface="Times New Roman" panose="02020603050405020304" pitchFamily="18" charset="0"/>
                <a:cs typeface="Times New Roman" panose="02020603050405020304" pitchFamily="18" charset="0"/>
              </a:rPr>
              <a:t>, the main constituent of wax</a:t>
            </a:r>
            <a:r>
              <a:rPr lang="en-US" sz="2000" dirty="0" smtClean="0">
                <a:latin typeface="Times New Roman" panose="02020603050405020304" pitchFamily="18" charset="0"/>
                <a:cs typeface="Times New Roman" panose="02020603050405020304" pitchFamily="18" charset="0"/>
              </a:rPr>
              <a:t>.</a:t>
            </a:r>
          </a:p>
          <a:p>
            <a:pPr marL="0" indent="0">
              <a:buNone/>
            </a:pPr>
            <a:r>
              <a:rPr lang="en-US" sz="2000"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CLINICAL FEATURES </a:t>
            </a:r>
          </a:p>
          <a:p>
            <a:pPr marL="0" indent="0">
              <a:buNone/>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patient can present with </a:t>
            </a:r>
            <a:r>
              <a:rPr lang="en-US" sz="2000" b="1" dirty="0">
                <a:latin typeface="Times New Roman" panose="02020603050405020304" pitchFamily="18" charset="0"/>
                <a:cs typeface="Times New Roman" panose="02020603050405020304" pitchFamily="18" charset="0"/>
              </a:rPr>
              <a:t>blocked ear</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hearing loss, earache</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itching in the </a:t>
            </a:r>
            <a:r>
              <a:rPr lang="en-US" sz="2000" b="1" dirty="0" smtClean="0">
                <a:latin typeface="Times New Roman" panose="02020603050405020304" pitchFamily="18" charset="0"/>
                <a:cs typeface="Times New Roman" panose="02020603050405020304" pitchFamily="18" charset="0"/>
              </a:rPr>
              <a:t>ear </a:t>
            </a:r>
            <a:r>
              <a:rPr lang="en-US" sz="2000" dirty="0" smtClean="0">
                <a:latin typeface="Times New Roman" panose="02020603050405020304" pitchFamily="18" charset="0"/>
                <a:cs typeface="Times New Roman" panose="02020603050405020304" pitchFamily="18" charset="0"/>
              </a:rPr>
              <a:t>and</a:t>
            </a:r>
            <a:r>
              <a:rPr lang="en-US" sz="2000" b="1" dirty="0" smtClean="0">
                <a:latin typeface="Times New Roman" panose="02020603050405020304" pitchFamily="18" charset="0"/>
                <a:cs typeface="Times New Roman" panose="02020603050405020304" pitchFamily="18" charset="0"/>
              </a:rPr>
              <a:t> tinnitus.</a:t>
            </a:r>
            <a:endParaRPr lang="en-US" sz="2000" dirty="0" smtClean="0">
              <a:latin typeface="Times New Roman" panose="02020603050405020304" pitchFamily="18" charset="0"/>
              <a:cs typeface="Times New Roman" panose="02020603050405020304" pitchFamily="18" charset="0"/>
            </a:endParaRPr>
          </a:p>
          <a:p>
            <a:pPr marL="0" indent="0">
              <a:buNone/>
            </a:pPr>
            <a:r>
              <a:rPr lang="en-US" sz="2000" b="1" dirty="0" smtClean="0">
                <a:latin typeface="Times New Roman" panose="02020603050405020304" pitchFamily="18" charset="0"/>
                <a:cs typeface="Times New Roman" panose="02020603050405020304" pitchFamily="18" charset="0"/>
              </a:rPr>
              <a:t>MANAGEMENT </a:t>
            </a:r>
          </a:p>
          <a:p>
            <a:pPr marL="0" indent="0">
              <a:buNone/>
            </a:pPr>
            <a:r>
              <a:rPr lang="en-US" sz="2000" dirty="0" smtClean="0">
                <a:latin typeface="Times New Roman" panose="02020603050405020304" pitchFamily="18" charset="0"/>
                <a:cs typeface="Times New Roman" panose="02020603050405020304" pitchFamily="18" charset="0"/>
              </a:rPr>
              <a:t>Wax </a:t>
            </a:r>
            <a:r>
              <a:rPr lang="en-US" sz="2000" dirty="0">
                <a:latin typeface="Times New Roman" panose="02020603050405020304" pitchFamily="18" charset="0"/>
                <a:cs typeface="Times New Roman" panose="02020603050405020304" pitchFamily="18" charset="0"/>
              </a:rPr>
              <a:t>softening agents are administered and then the wax removal is done under </a:t>
            </a:r>
            <a:r>
              <a:rPr lang="en-US" sz="2000" b="1" dirty="0">
                <a:latin typeface="Times New Roman" panose="02020603050405020304" pitchFamily="18" charset="0"/>
                <a:cs typeface="Times New Roman" panose="02020603050405020304" pitchFamily="18" charset="0"/>
              </a:rPr>
              <a:t>direct vision by headlight</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microscope or endoscope with Jobson-Horne probe or by </a:t>
            </a:r>
            <a:r>
              <a:rPr lang="en-US" sz="2000" b="1" dirty="0" smtClean="0">
                <a:latin typeface="Times New Roman" panose="02020603050405020304" pitchFamily="18" charset="0"/>
                <a:cs typeface="Times New Roman" panose="02020603050405020304" pitchFamily="18" charset="0"/>
              </a:rPr>
              <a:t>syringing</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srcRect l="1980" t="1295" r="4269" b="-307"/>
          <a:stretch/>
        </p:blipFill>
        <p:spPr>
          <a:xfrm>
            <a:off x="4716016" y="4293096"/>
            <a:ext cx="4320480" cy="2520280"/>
          </a:xfrm>
          <a:prstGeom prst="rect">
            <a:avLst/>
          </a:prstGeom>
        </p:spPr>
      </p:pic>
    </p:spTree>
    <p:extLst>
      <p:ext uri="{BB962C8B-B14F-4D97-AF65-F5344CB8AC3E}">
        <p14:creationId xmlns:p14="http://schemas.microsoft.com/office/powerpoint/2010/main" val="60188610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39000" cy="608630"/>
          </a:xfrm>
        </p:spPr>
        <p:txBody>
          <a:bodyPr>
            <a:normAutofit/>
          </a:bodyPr>
          <a:lstStyle/>
          <a:p>
            <a:r>
              <a:rPr lang="en-US" b="1" dirty="0" smtClean="0">
                <a:latin typeface="Times New Roman" panose="02020603050405020304" pitchFamily="18" charset="0"/>
                <a:cs typeface="Times New Roman" panose="02020603050405020304" pitchFamily="18" charset="0"/>
              </a:rPr>
              <a:t>ACUTE OTITIS MEDIA (AOM)</a:t>
            </a:r>
            <a:endParaRPr lang="en-US"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107504" y="1428736"/>
            <a:ext cx="8856984" cy="5027000"/>
          </a:xfrm>
        </p:spPr>
        <p:txBody>
          <a:bodyPr>
            <a:normAutofit/>
          </a:bodyPr>
          <a:lstStyle/>
          <a:p>
            <a:pPr marL="0" indent="0">
              <a:lnSpc>
                <a:spcPct val="80000"/>
              </a:lnSpc>
              <a:buNone/>
            </a:pPr>
            <a:r>
              <a:rPr lang="en-US" sz="2200" dirty="0" smtClean="0">
                <a:latin typeface="Times New Roman" panose="02020603050405020304" pitchFamily="18" charset="0"/>
                <a:cs typeface="Times New Roman" panose="02020603050405020304" pitchFamily="18" charset="0"/>
              </a:rPr>
              <a:t>Inflammation of mucous membrane of the meddle ear cavity is a common </a:t>
            </a:r>
            <a:r>
              <a:rPr lang="en-US" sz="2400" dirty="0" smtClean="0">
                <a:latin typeface="Times New Roman" panose="02020603050405020304" pitchFamily="18" charset="0"/>
                <a:cs typeface="Times New Roman" panose="02020603050405020304" pitchFamily="18" charset="0"/>
              </a:rPr>
              <a:t>condition</a:t>
            </a:r>
            <a:r>
              <a:rPr lang="en-US" sz="2200" dirty="0" smtClean="0">
                <a:latin typeface="Times New Roman" panose="02020603050405020304" pitchFamily="18" charset="0"/>
                <a:cs typeface="Times New Roman" panose="02020603050405020304" pitchFamily="18" charset="0"/>
              </a:rPr>
              <a:t> and is frequently </a:t>
            </a:r>
            <a:r>
              <a:rPr lang="en-US" sz="2200" dirty="0" smtClean="0">
                <a:latin typeface="Times New Roman" panose="02020603050405020304" pitchFamily="18" charset="0"/>
                <a:cs typeface="Times New Roman" panose="02020603050405020304" pitchFamily="18" charset="0"/>
              </a:rPr>
              <a:t>bilateral. It </a:t>
            </a:r>
            <a:r>
              <a:rPr lang="en-US" sz="2200" dirty="0" smtClean="0">
                <a:latin typeface="Times New Roman" panose="02020603050405020304" pitchFamily="18" charset="0"/>
                <a:cs typeface="Times New Roman" panose="02020603050405020304" pitchFamily="18" charset="0"/>
              </a:rPr>
              <a:t>occurs most commonly in children. There is nearly always a proceeding upper respiratory infection. </a:t>
            </a:r>
            <a:endParaRPr lang="en-US" sz="2200" dirty="0" smtClean="0">
              <a:latin typeface="Times New Roman" panose="02020603050405020304" pitchFamily="18" charset="0"/>
              <a:cs typeface="Times New Roman" panose="02020603050405020304" pitchFamily="18" charset="0"/>
            </a:endParaRPr>
          </a:p>
          <a:p>
            <a:pPr marL="0" indent="0">
              <a:lnSpc>
                <a:spcPct val="80000"/>
              </a:lnSpc>
              <a:buNone/>
            </a:pPr>
            <a:endParaRPr lang="en-US" sz="2200" dirty="0">
              <a:latin typeface="Times New Roman" panose="02020603050405020304" pitchFamily="18" charset="0"/>
              <a:cs typeface="Times New Roman" panose="02020603050405020304" pitchFamily="18" charset="0"/>
            </a:endParaRPr>
          </a:p>
          <a:p>
            <a:pPr marL="0" indent="0">
              <a:lnSpc>
                <a:spcPct val="80000"/>
              </a:lnSpc>
              <a:buNone/>
            </a:pPr>
            <a:r>
              <a:rPr lang="en-US" sz="2200" b="1" dirty="0" smtClean="0">
                <a:latin typeface="Times New Roman" panose="02020603050405020304" pitchFamily="18" charset="0"/>
                <a:cs typeface="Times New Roman" panose="02020603050405020304" pitchFamily="18" charset="0"/>
              </a:rPr>
              <a:t>AETIOLOGY</a:t>
            </a:r>
          </a:p>
          <a:p>
            <a:pPr marL="0" indent="0">
              <a:lnSpc>
                <a:spcPct val="80000"/>
              </a:lnSpc>
              <a:buNone/>
            </a:pPr>
            <a:r>
              <a:rPr lang="en-US" sz="2400" dirty="0">
                <a:latin typeface="Times New Roman" panose="02020603050405020304" pitchFamily="18" charset="0"/>
                <a:cs typeface="Times New Roman" panose="02020603050405020304" pitchFamily="18" charset="0"/>
              </a:rPr>
              <a:t>Acute otitis media is caused due to </a:t>
            </a:r>
            <a:r>
              <a:rPr lang="en-US" sz="2400" b="1" dirty="0">
                <a:latin typeface="Times New Roman" panose="02020603050405020304" pitchFamily="18" charset="0"/>
                <a:cs typeface="Times New Roman" panose="02020603050405020304" pitchFamily="18" charset="0"/>
              </a:rPr>
              <a:t>viral</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bacterial</a:t>
            </a:r>
            <a:r>
              <a:rPr lang="en-US" sz="2400" dirty="0">
                <a:latin typeface="Times New Roman" panose="02020603050405020304" pitchFamily="18" charset="0"/>
                <a:cs typeface="Times New Roman" panose="02020603050405020304" pitchFamily="18" charset="0"/>
              </a:rPr>
              <a:t> or </a:t>
            </a:r>
            <a:r>
              <a:rPr lang="en-US" sz="2400" b="1" dirty="0">
                <a:latin typeface="Times New Roman" panose="02020603050405020304" pitchFamily="18" charset="0"/>
                <a:cs typeface="Times New Roman" panose="02020603050405020304" pitchFamily="18" charset="0"/>
              </a:rPr>
              <a:t>coexisting </a:t>
            </a:r>
            <a:r>
              <a:rPr lang="en-US" sz="2400" b="1" dirty="0" smtClean="0">
                <a:latin typeface="Times New Roman" panose="02020603050405020304" pitchFamily="18" charset="0"/>
                <a:cs typeface="Times New Roman" panose="02020603050405020304" pitchFamily="18" charset="0"/>
              </a:rPr>
              <a:t>causes</a:t>
            </a:r>
          </a:p>
          <a:p>
            <a:pPr marL="0" indent="0">
              <a:lnSpc>
                <a:spcPct val="80000"/>
              </a:lnSpc>
              <a:buNone/>
            </a:pPr>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bacteria most commonly </a:t>
            </a:r>
            <a:r>
              <a:rPr lang="en-US" sz="2200" dirty="0">
                <a:latin typeface="Times New Roman" panose="02020603050405020304" pitchFamily="18" charset="0"/>
                <a:cs typeface="Times New Roman" panose="02020603050405020304" pitchFamily="18" charset="0"/>
              </a:rPr>
              <a:t>involved are </a:t>
            </a:r>
            <a:r>
              <a:rPr lang="en-US" sz="2200" b="1" dirty="0">
                <a:latin typeface="Times New Roman" panose="02020603050405020304" pitchFamily="18" charset="0"/>
                <a:cs typeface="Times New Roman" panose="02020603050405020304" pitchFamily="18" charset="0"/>
              </a:rPr>
              <a:t>H. influenza</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Streptococcus pneumonia</a:t>
            </a: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and </a:t>
            </a:r>
            <a:r>
              <a:rPr lang="en-US" sz="2200" b="1" dirty="0">
                <a:latin typeface="Times New Roman" panose="02020603050405020304" pitchFamily="18" charset="0"/>
                <a:cs typeface="Times New Roman" panose="02020603050405020304" pitchFamily="18" charset="0"/>
              </a:rPr>
              <a:t>Streptococcus aureus. </a:t>
            </a:r>
            <a:endParaRPr lang="en-US" sz="2200" b="1" dirty="0" smtClean="0">
              <a:latin typeface="Times New Roman" panose="02020603050405020304" pitchFamily="18" charset="0"/>
              <a:cs typeface="Times New Roman" panose="02020603050405020304" pitchFamily="18" charset="0"/>
            </a:endParaRPr>
          </a:p>
          <a:p>
            <a:pPr marL="0" indent="0">
              <a:lnSpc>
                <a:spcPct val="80000"/>
              </a:lnSpc>
              <a:buNone/>
            </a:pPr>
            <a:r>
              <a:rPr lang="en-US" sz="2000" dirty="0">
                <a:latin typeface="Times New Roman" panose="02020603050405020304" pitchFamily="18" charset="0"/>
                <a:cs typeface="Times New Roman" panose="02020603050405020304" pitchFamily="18" charset="0"/>
              </a:rPr>
              <a:t>The most </a:t>
            </a:r>
            <a:r>
              <a:rPr lang="en-US" sz="2000" b="1" dirty="0">
                <a:latin typeface="Times New Roman" panose="02020603050405020304" pitchFamily="18" charset="0"/>
                <a:cs typeface="Times New Roman" panose="02020603050405020304" pitchFamily="18" charset="0"/>
              </a:rPr>
              <a:t>common viral pathogens </a:t>
            </a:r>
            <a:r>
              <a:rPr lang="en-US" sz="2000" dirty="0">
                <a:latin typeface="Times New Roman" panose="02020603050405020304" pitchFamily="18" charset="0"/>
                <a:cs typeface="Times New Roman" panose="02020603050405020304" pitchFamily="18" charset="0"/>
              </a:rPr>
              <a:t>include the </a:t>
            </a:r>
            <a:r>
              <a:rPr lang="en-US" sz="2000" b="1" dirty="0">
                <a:latin typeface="Times New Roman" panose="02020603050405020304" pitchFamily="18" charset="0"/>
                <a:cs typeface="Times New Roman" panose="02020603050405020304" pitchFamily="18" charset="0"/>
              </a:rPr>
              <a:t>respiratory syncytial virus </a:t>
            </a:r>
            <a:r>
              <a:rPr lang="en-US" sz="2000" dirty="0">
                <a:latin typeface="Times New Roman" panose="02020603050405020304" pitchFamily="18" charset="0"/>
                <a:cs typeface="Times New Roman" panose="02020603050405020304" pitchFamily="18" charset="0"/>
              </a:rPr>
              <a:t>(RSV), </a:t>
            </a:r>
            <a:r>
              <a:rPr lang="en-US" sz="2000" b="1" dirty="0">
                <a:latin typeface="Times New Roman" panose="02020603050405020304" pitchFamily="18" charset="0"/>
                <a:cs typeface="Times New Roman" panose="02020603050405020304" pitchFamily="18" charset="0"/>
              </a:rPr>
              <a:t>corona viruses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influenza viruses</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and </a:t>
            </a:r>
            <a:r>
              <a:rPr lang="en-US" sz="2000" b="1" dirty="0" smtClean="0">
                <a:latin typeface="Times New Roman" panose="02020603050405020304" pitchFamily="18" charset="0"/>
                <a:cs typeface="Times New Roman" panose="02020603050405020304" pitchFamily="18" charset="0"/>
              </a:rPr>
              <a:t>adenoviruses</a:t>
            </a:r>
            <a:r>
              <a:rPr lang="en-US" sz="2000" dirty="0">
                <a:latin typeface="Times New Roman" panose="02020603050405020304" pitchFamily="18" charset="0"/>
                <a:cs typeface="Times New Roman" panose="02020603050405020304" pitchFamily="18" charset="0"/>
              </a:rPr>
              <a:t>.</a:t>
            </a:r>
            <a:endParaRPr lang="en-US" sz="2200" b="1" dirty="0" smtClean="0">
              <a:latin typeface="Times New Roman" panose="02020603050405020304" pitchFamily="18" charset="0"/>
              <a:cs typeface="Times New Roman" panose="02020603050405020304" pitchFamily="18" charset="0"/>
            </a:endParaRPr>
          </a:p>
          <a:p>
            <a:pPr>
              <a:lnSpc>
                <a:spcPct val="80000"/>
              </a:lnSpc>
            </a:pPr>
            <a:endParaRPr lang="en-US" sz="2200" u="sng" dirty="0" smtClean="0">
              <a:latin typeface="Times New Roman" panose="02020603050405020304" pitchFamily="18" charset="0"/>
              <a:cs typeface="Times New Roman" panose="02020603050405020304" pitchFamily="18" charset="0"/>
            </a:endParaRPr>
          </a:p>
          <a:p>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ROUTES OF INFECTION </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The most common route of spread of infection is via the Eustachian tube. This is especially common in children, due to the Eustachian tube being more horizontal, shorter and patulous. This risk increases with careless bottle feeding or use of pacifiers. </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The infection may directly travel to the middle ear via the tympanic membrane perforation. </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Haematogenous</a:t>
            </a:r>
            <a:r>
              <a:rPr lang="en-US" dirty="0">
                <a:latin typeface="Times New Roman" panose="02020603050405020304" pitchFamily="18" charset="0"/>
                <a:cs typeface="Times New Roman" panose="02020603050405020304" pitchFamily="18" charset="0"/>
              </a:rPr>
              <a:t> route is also a possible route for spread of infection to the middle ear.</a:t>
            </a:r>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7137720" y="1998360"/>
              <a:ext cx="1144440" cy="53280"/>
            </p14:xfrm>
          </p:contentPart>
        </mc:Choice>
        <mc:Fallback>
          <p:pic>
            <p:nvPicPr>
              <p:cNvPr id="4" name="Ink 3"/>
              <p:cNvPicPr/>
              <p:nvPr/>
            </p:nvPicPr>
            <p:blipFill>
              <a:blip r:embed="rId3"/>
              <a:stretch>
                <a:fillRect/>
              </a:stretch>
            </p:blipFill>
            <p:spPr>
              <a:xfrm>
                <a:off x="7121880" y="1935000"/>
                <a:ext cx="117612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p14:cNvContentPartPr/>
              <p14:nvPr/>
            </p14:nvContentPartPr>
            <p14:xfrm>
              <a:off x="624960" y="2341800"/>
              <a:ext cx="502200" cy="44280"/>
            </p14:xfrm>
          </p:contentPart>
        </mc:Choice>
        <mc:Fallback>
          <p:pic>
            <p:nvPicPr>
              <p:cNvPr id="5" name="Ink 4"/>
              <p:cNvPicPr/>
              <p:nvPr/>
            </p:nvPicPr>
            <p:blipFill>
              <a:blip r:embed="rId5"/>
              <a:stretch>
                <a:fillRect/>
              </a:stretch>
            </p:blipFill>
            <p:spPr>
              <a:xfrm>
                <a:off x="609120" y="2278440"/>
                <a:ext cx="533880" cy="171360"/>
              </a:xfrm>
              <a:prstGeom prst="rect">
                <a:avLst/>
              </a:prstGeom>
            </p:spPr>
          </p:pic>
        </mc:Fallback>
      </mc:AlternateContent>
    </p:spTree>
    <p:extLst>
      <p:ext uri="{BB962C8B-B14F-4D97-AF65-F5344CB8AC3E}">
        <p14:creationId xmlns:p14="http://schemas.microsoft.com/office/powerpoint/2010/main" val="102514115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cute Otitis Media Stages"/>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3577"/>
          <a:stretch/>
        </p:blipFill>
        <p:spPr bwMode="auto">
          <a:xfrm>
            <a:off x="0" y="7665"/>
            <a:ext cx="7886700" cy="484373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107504" y="4509120"/>
            <a:ext cx="3264068" cy="2262532"/>
          </a:xfrm>
          <a:prstGeom prst="rect">
            <a:avLst/>
          </a:prstGeom>
        </p:spPr>
      </p:pic>
    </p:spTree>
    <p:extLst>
      <p:ext uri="{BB962C8B-B14F-4D97-AF65-F5344CB8AC3E}">
        <p14:creationId xmlns:p14="http://schemas.microsoft.com/office/powerpoint/2010/main" val="391451553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924090" y="2458164"/>
            <a:ext cx="3295819" cy="3086259"/>
          </a:xfrm>
          <a:prstGeom prst="rect">
            <a:avLst/>
          </a:prstGeom>
        </p:spPr>
      </p:pic>
      <p:pic>
        <p:nvPicPr>
          <p:cNvPr id="5" name="Picture 4"/>
          <p:cNvPicPr>
            <a:picLocks noChangeAspect="1"/>
          </p:cNvPicPr>
          <p:nvPr/>
        </p:nvPicPr>
        <p:blipFill>
          <a:blip r:embed="rId3"/>
          <a:stretch>
            <a:fillRect/>
          </a:stretch>
        </p:blipFill>
        <p:spPr>
          <a:xfrm>
            <a:off x="-313498" y="2458164"/>
            <a:ext cx="3264068" cy="2262532"/>
          </a:xfrm>
          <a:prstGeom prst="rect">
            <a:avLst/>
          </a:prstGeom>
        </p:spPr>
      </p:pic>
      <p:pic>
        <p:nvPicPr>
          <p:cNvPr id="6" name="Picture 5"/>
          <p:cNvPicPr>
            <a:picLocks noChangeAspect="1"/>
          </p:cNvPicPr>
          <p:nvPr/>
        </p:nvPicPr>
        <p:blipFill>
          <a:blip r:embed="rId4"/>
          <a:stretch>
            <a:fillRect/>
          </a:stretch>
        </p:blipFill>
        <p:spPr>
          <a:xfrm>
            <a:off x="2882813" y="1911272"/>
            <a:ext cx="3378374" cy="3035456"/>
          </a:xfrm>
          <a:prstGeom prst="rect">
            <a:avLst/>
          </a:prstGeom>
        </p:spPr>
      </p:pic>
    </p:spTree>
    <p:extLst>
      <p:ext uri="{BB962C8B-B14F-4D97-AF65-F5344CB8AC3E}">
        <p14:creationId xmlns:p14="http://schemas.microsoft.com/office/powerpoint/2010/main" val="230188667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39000" cy="608630"/>
          </a:xfrm>
        </p:spPr>
        <p:txBody>
          <a:bodyPr/>
          <a:lstStyle/>
          <a:p>
            <a:pPr algn="ctr"/>
            <a:r>
              <a:rPr lang="en-US" b="1" dirty="0" smtClean="0">
                <a:latin typeface="Times New Roman" panose="02020603050405020304" pitchFamily="18" charset="0"/>
                <a:cs typeface="Times New Roman" panose="02020603050405020304" pitchFamily="18" charset="0"/>
              </a:rPr>
              <a:t>TREATMENT</a:t>
            </a:r>
            <a:endParaRPr lang="en-US"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p:txBody>
          <a:bodyPr>
            <a:normAutofit/>
          </a:bodyPr>
          <a:lstStyle/>
          <a:p>
            <a:pPr marL="0" indent="0">
              <a:buNone/>
            </a:pPr>
            <a:r>
              <a:rPr lang="en-US" sz="2400" b="1" dirty="0" smtClean="0">
                <a:latin typeface="Times New Roman" panose="02020603050405020304" pitchFamily="18" charset="0"/>
                <a:cs typeface="Times New Roman" panose="02020603050405020304" pitchFamily="18" charset="0"/>
              </a:rPr>
              <a:t>Local: </a:t>
            </a:r>
          </a:p>
          <a:p>
            <a:r>
              <a:rPr lang="en-US" sz="2400" dirty="0" smtClean="0">
                <a:latin typeface="Times New Roman" panose="02020603050405020304" pitchFamily="18" charset="0"/>
                <a:cs typeface="Times New Roman" panose="02020603050405020304" pitchFamily="18" charset="0"/>
              </a:rPr>
              <a:t>Inhalation of water vapor 3 times a day.</a:t>
            </a:r>
          </a:p>
          <a:p>
            <a:r>
              <a:rPr lang="en-US" sz="2400" dirty="0" smtClean="0">
                <a:latin typeface="Times New Roman" panose="02020603050405020304" pitchFamily="18" charset="0"/>
                <a:cs typeface="Times New Roman" panose="02020603050405020304" pitchFamily="18" charset="0"/>
              </a:rPr>
              <a:t>Nose drops: </a:t>
            </a:r>
            <a:r>
              <a:rPr lang="en-US" sz="2400" dirty="0" err="1" smtClean="0">
                <a:latin typeface="Times New Roman" panose="02020603050405020304" pitchFamily="18" charset="0"/>
                <a:cs typeface="Times New Roman" panose="02020603050405020304" pitchFamily="18" charset="0"/>
              </a:rPr>
              <a:t>Betadrops</a:t>
            </a:r>
            <a:r>
              <a:rPr lang="en-US" sz="2400" dirty="0" smtClean="0">
                <a:latin typeface="Times New Roman" panose="02020603050405020304" pitchFamily="18" charset="0"/>
                <a:cs typeface="Times New Roman" panose="02020603050405020304" pitchFamily="18" charset="0"/>
              </a:rPr>
              <a:t>, Ephedrine.</a:t>
            </a:r>
          </a:p>
          <a:p>
            <a:endParaRPr lang="en-US" sz="2400" dirty="0" smtClean="0">
              <a:latin typeface="Times New Roman" panose="02020603050405020304" pitchFamily="18" charset="0"/>
              <a:cs typeface="Times New Roman" panose="02020603050405020304" pitchFamily="18" charset="0"/>
            </a:endParaRPr>
          </a:p>
          <a:p>
            <a:pPr marL="0" indent="0">
              <a:buNone/>
            </a:pPr>
            <a:r>
              <a:rPr lang="en-US" sz="2400" b="1" dirty="0" smtClean="0">
                <a:latin typeface="Times New Roman" panose="02020603050405020304" pitchFamily="18" charset="0"/>
                <a:cs typeface="Times New Roman" panose="02020603050405020304" pitchFamily="18" charset="0"/>
              </a:rPr>
              <a:t>General:</a:t>
            </a:r>
          </a:p>
          <a:p>
            <a:r>
              <a:rPr lang="en-US" sz="2400" dirty="0" smtClean="0">
                <a:latin typeface="Times New Roman" panose="02020603050405020304" pitchFamily="18" charset="0"/>
                <a:cs typeface="Times New Roman" panose="02020603050405020304" pitchFamily="18" charset="0"/>
              </a:rPr>
              <a:t> Antibiotics</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Analgesics</a:t>
            </a:r>
          </a:p>
          <a:p>
            <a:r>
              <a:rPr lang="en-US" sz="2400" dirty="0" smtClean="0">
                <a:latin typeface="Times New Roman" panose="02020603050405020304" pitchFamily="18" charset="0"/>
                <a:cs typeface="Times New Roman" panose="02020603050405020304" pitchFamily="18" charset="0"/>
              </a:rPr>
              <a:t>Anti-</a:t>
            </a:r>
            <a:r>
              <a:rPr lang="en-US" sz="2400" dirty="0" err="1" smtClean="0">
                <a:latin typeface="Times New Roman" panose="02020603050405020304" pitchFamily="18" charset="0"/>
                <a:cs typeface="Times New Roman" panose="02020603050405020304" pitchFamily="18" charset="0"/>
              </a:rPr>
              <a:t>inflammatories</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Antihistamine</a:t>
            </a:r>
          </a:p>
          <a:p>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CHRONIC OTITIS MEDIA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9512" y="1484784"/>
            <a:ext cx="8856984" cy="5256583"/>
          </a:xfrm>
        </p:spPr>
        <p:txBody>
          <a:bodyPr>
            <a:normAutofit fontScale="85000" lnSpcReduction="20000"/>
          </a:bodyPr>
          <a:lstStyle/>
          <a:p>
            <a:pPr marL="0" indent="0">
              <a:buNone/>
            </a:pPr>
            <a:r>
              <a:rPr lang="en-US" dirty="0">
                <a:latin typeface="Times New Roman" panose="02020603050405020304" pitchFamily="18" charset="0"/>
                <a:cs typeface="Times New Roman" panose="02020603050405020304" pitchFamily="18" charset="0"/>
              </a:rPr>
              <a:t>The chronic otitis media (COM) is defined as inflammation of the middle ear cleft which results in permanent abnormality of the tympanic membrane involving pars </a:t>
            </a:r>
            <a:r>
              <a:rPr lang="en-US" dirty="0" err="1">
                <a:latin typeface="Times New Roman" panose="02020603050405020304" pitchFamily="18" charset="0"/>
                <a:cs typeface="Times New Roman" panose="02020603050405020304" pitchFamily="18" charset="0"/>
              </a:rPr>
              <a:t>tensa</a:t>
            </a:r>
            <a:r>
              <a:rPr lang="en-US" dirty="0">
                <a:latin typeface="Times New Roman" panose="02020603050405020304" pitchFamily="18" charset="0"/>
                <a:cs typeface="Times New Roman" panose="02020603050405020304" pitchFamily="18" charset="0"/>
              </a:rPr>
              <a:t> or </a:t>
            </a:r>
            <a:r>
              <a:rPr lang="en-US" dirty="0" err="1">
                <a:latin typeface="Times New Roman" panose="02020603050405020304" pitchFamily="18" charset="0"/>
                <a:cs typeface="Times New Roman" panose="02020603050405020304" pitchFamily="18" charset="0"/>
              </a:rPr>
              <a:t>flaccida</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AETIOLOGY</a:t>
            </a:r>
          </a:p>
          <a:p>
            <a:pPr marL="0" indent="0">
              <a:buNone/>
            </a:pPr>
            <a:r>
              <a:rPr lang="en-US" b="1" dirty="0" smtClean="0">
                <a:latin typeface="Times New Roman" panose="02020603050405020304" pitchFamily="18" charset="0"/>
                <a:cs typeface="Times New Roman" panose="02020603050405020304" pitchFamily="18" charset="0"/>
              </a:rPr>
              <a:t>1.Environmental</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There is a close correlation between low socioeconomic status and overcrowding with the COM. </a:t>
            </a: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2</a:t>
            </a:r>
            <a:r>
              <a:rPr lang="en-US" b="1" dirty="0">
                <a:latin typeface="Times New Roman" panose="02020603050405020304" pitchFamily="18" charset="0"/>
                <a:cs typeface="Times New Roman" panose="02020603050405020304" pitchFamily="18" charset="0"/>
              </a:rPr>
              <a:t>. Genetic: </a:t>
            </a:r>
            <a:r>
              <a:rPr lang="en-US" dirty="0">
                <a:latin typeface="Times New Roman" panose="02020603050405020304" pitchFamily="18" charset="0"/>
                <a:cs typeface="Times New Roman" panose="02020603050405020304" pitchFamily="18" charset="0"/>
              </a:rPr>
              <a:t>The mastoid air cell system has been seen to be </a:t>
            </a:r>
            <a:r>
              <a:rPr lang="en-US" dirty="0" err="1">
                <a:latin typeface="Times New Roman" panose="02020603050405020304" pitchFamily="18" charset="0"/>
                <a:cs typeface="Times New Roman" panose="02020603050405020304" pitchFamily="18" charset="0"/>
              </a:rPr>
              <a:t>sclerosed</a:t>
            </a:r>
            <a:r>
              <a:rPr lang="en-US" dirty="0">
                <a:latin typeface="Times New Roman" panose="02020603050405020304" pitchFamily="18" charset="0"/>
                <a:cs typeface="Times New Roman" panose="02020603050405020304" pitchFamily="18" charset="0"/>
              </a:rPr>
              <a:t> in COM patients. This happens because of the disease process or it is the primary factor for disease formation is not established. </a:t>
            </a: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3</a:t>
            </a:r>
            <a:r>
              <a:rPr lang="en-US" b="1" dirty="0">
                <a:latin typeface="Times New Roman" panose="02020603050405020304" pitchFamily="18" charset="0"/>
                <a:cs typeface="Times New Roman" panose="02020603050405020304" pitchFamily="18" charset="0"/>
              </a:rPr>
              <a:t>. Recurrent attacks of AOM: </a:t>
            </a:r>
            <a:r>
              <a:rPr lang="en-US" dirty="0">
                <a:latin typeface="Times New Roman" panose="02020603050405020304" pitchFamily="18" charset="0"/>
                <a:cs typeface="Times New Roman" panose="02020603050405020304" pitchFamily="18" charset="0"/>
              </a:rPr>
              <a:t>It leads to thinning of the fibrous layer or a permanent defect in the tympanic membrane. </a:t>
            </a: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4</a:t>
            </a:r>
            <a:r>
              <a:rPr lang="en-US" b="1" dirty="0">
                <a:latin typeface="Times New Roman" panose="02020603050405020304" pitchFamily="18" charset="0"/>
                <a:cs typeface="Times New Roman" panose="02020603050405020304" pitchFamily="18" charset="0"/>
              </a:rPr>
              <a:t>. Infections: </a:t>
            </a:r>
            <a:r>
              <a:rPr lang="en-US" dirty="0">
                <a:latin typeface="Times New Roman" panose="02020603050405020304" pitchFamily="18" charset="0"/>
                <a:cs typeface="Times New Roman" panose="02020603050405020304" pitchFamily="18" charset="0"/>
              </a:rPr>
              <a:t>This has been established that bacteria in ears with COM are secondary invaders of the mucosa which has been inflamed by other factors like allergy, rather than the primary cause for disease. </a:t>
            </a: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5</a:t>
            </a:r>
            <a:r>
              <a:rPr lang="en-US" b="1" dirty="0">
                <a:latin typeface="Times New Roman" panose="02020603050405020304" pitchFamily="18" charset="0"/>
                <a:cs typeface="Times New Roman" panose="02020603050405020304" pitchFamily="18" charset="0"/>
              </a:rPr>
              <a:t>. Upper respiratory tract infections: </a:t>
            </a:r>
            <a:r>
              <a:rPr lang="en-US" dirty="0">
                <a:latin typeface="Times New Roman" panose="02020603050405020304" pitchFamily="18" charset="0"/>
                <a:cs typeface="Times New Roman" panose="02020603050405020304" pitchFamily="18" charset="0"/>
              </a:rPr>
              <a:t>These have a viral </a:t>
            </a:r>
            <a:r>
              <a:rPr lang="en-US" dirty="0" err="1">
                <a:latin typeface="Times New Roman" panose="02020603050405020304" pitchFamily="18" charset="0"/>
                <a:cs typeface="Times New Roman" panose="02020603050405020304" pitchFamily="18" charset="0"/>
              </a:rPr>
              <a:t>aetiology</a:t>
            </a:r>
            <a:r>
              <a:rPr lang="en-US" dirty="0">
                <a:latin typeface="Times New Roman" panose="02020603050405020304" pitchFamily="18" charset="0"/>
                <a:cs typeface="Times New Roman" panose="02020603050405020304" pitchFamily="18" charset="0"/>
              </a:rPr>
              <a:t> to start with, but later develop superadded bacterial infection which reach the middle ear cleft via Eustachian tube. </a:t>
            </a: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6</a:t>
            </a:r>
            <a:r>
              <a:rPr lang="en-US" b="1" dirty="0">
                <a:latin typeface="Times New Roman" panose="02020603050405020304" pitchFamily="18" charset="0"/>
                <a:cs typeface="Times New Roman" panose="02020603050405020304" pitchFamily="18" charset="0"/>
              </a:rPr>
              <a:t>. Allergy </a:t>
            </a:r>
            <a:endParaRPr lang="en-US" b="1"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7</a:t>
            </a:r>
            <a:r>
              <a:rPr lang="en-US" b="1" dirty="0">
                <a:latin typeface="Times New Roman" panose="02020603050405020304" pitchFamily="18" charset="0"/>
                <a:cs typeface="Times New Roman" panose="02020603050405020304" pitchFamily="18" charset="0"/>
              </a:rPr>
              <a:t>. Nasal obstruction from adenoids </a:t>
            </a:r>
            <a:endParaRPr lang="en-US" b="1"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8</a:t>
            </a:r>
            <a:r>
              <a:rPr lang="en-US" b="1" dirty="0">
                <a:latin typeface="Times New Roman" panose="02020603050405020304" pitchFamily="18" charset="0"/>
                <a:cs typeface="Times New Roman" panose="02020603050405020304" pitchFamily="18" charset="0"/>
              </a:rPr>
              <a:t>. Autoimmune disorders: </a:t>
            </a:r>
            <a:r>
              <a:rPr lang="en-US" dirty="0">
                <a:latin typeface="Times New Roman" panose="02020603050405020304" pitchFamily="18" charset="0"/>
                <a:cs typeface="Times New Roman" panose="02020603050405020304" pitchFamily="18" charset="0"/>
              </a:rPr>
              <a:t>Rheumatoid arthritis has shown a correlation with COM</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796861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CLINICAL FEATURES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Ear discharge: The discharge is the most common presentation of mucosal COM. </a:t>
            </a:r>
            <a:endParaRPr lang="en-US" dirty="0" smtClean="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2. Hearing loss: Majority of patients will complain of hearing loss. It is usually conductive in </a:t>
            </a:r>
            <a:r>
              <a:rPr lang="en-US" dirty="0" smtClean="0">
                <a:latin typeface="Times New Roman" panose="02020603050405020304" pitchFamily="18" charset="0"/>
                <a:cs typeface="Times New Roman" panose="02020603050405020304" pitchFamily="18" charset="0"/>
              </a:rPr>
              <a:t>nature.</a:t>
            </a:r>
          </a:p>
          <a:p>
            <a:pPr marL="0" indent="0">
              <a:buNone/>
            </a:pPr>
            <a:r>
              <a:rPr lang="en-US" dirty="0">
                <a:latin typeface="Times New Roman" panose="02020603050405020304" pitchFamily="18" charset="0"/>
                <a:cs typeface="Times New Roman" panose="02020603050405020304" pitchFamily="18" charset="0"/>
              </a:rPr>
              <a:t>3. Polyps: The mucosal </a:t>
            </a:r>
            <a:r>
              <a:rPr lang="en-US" dirty="0" err="1">
                <a:latin typeface="Times New Roman" panose="02020603050405020304" pitchFamily="18" charset="0"/>
                <a:cs typeface="Times New Roman" panose="02020603050405020304" pitchFamily="18" charset="0"/>
              </a:rPr>
              <a:t>oedema</a:t>
            </a:r>
            <a:r>
              <a:rPr lang="en-US" dirty="0">
                <a:latin typeface="Times New Roman" panose="02020603050405020304" pitchFamily="18" charset="0"/>
                <a:cs typeface="Times New Roman" panose="02020603050405020304" pitchFamily="18" charset="0"/>
              </a:rPr>
              <a:t> may lead to the formation of aural polyps, which may protrude from the perforation into the external auditory canal</a:t>
            </a:r>
            <a:r>
              <a:rPr lang="en-US" dirty="0" smtClean="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4. </a:t>
            </a:r>
            <a:r>
              <a:rPr lang="en-US" dirty="0" err="1">
                <a:latin typeface="Times New Roman" panose="02020603050405020304" pitchFamily="18" charset="0"/>
                <a:cs typeface="Times New Roman" panose="02020603050405020304" pitchFamily="18" charset="0"/>
              </a:rPr>
              <a:t>Ossicular</a:t>
            </a:r>
            <a:r>
              <a:rPr lang="en-US" dirty="0">
                <a:latin typeface="Times New Roman" panose="02020603050405020304" pitchFamily="18" charset="0"/>
                <a:cs typeface="Times New Roman" panose="02020603050405020304" pitchFamily="18" charset="0"/>
              </a:rPr>
              <a:t> chain necrosis: The </a:t>
            </a:r>
            <a:r>
              <a:rPr lang="en-US" dirty="0" err="1">
                <a:latin typeface="Times New Roman" panose="02020603050405020304" pitchFamily="18" charset="0"/>
                <a:cs typeface="Times New Roman" panose="02020603050405020304" pitchFamily="18" charset="0"/>
              </a:rPr>
              <a:t>ossicles</a:t>
            </a:r>
            <a:r>
              <a:rPr lang="en-US" dirty="0">
                <a:latin typeface="Times New Roman" panose="02020603050405020304" pitchFamily="18" charset="0"/>
                <a:cs typeface="Times New Roman" panose="02020603050405020304" pitchFamily="18" charset="0"/>
              </a:rPr>
              <a:t> are usually not involved in mucosal type of COM but may </a:t>
            </a:r>
            <a:r>
              <a:rPr lang="en-US" dirty="0" smtClean="0">
                <a:latin typeface="Times New Roman" panose="02020603050405020304" pitchFamily="18" charset="0"/>
                <a:cs typeface="Times New Roman" panose="02020603050405020304" pitchFamily="18" charset="0"/>
              </a:rPr>
              <a:t>get </a:t>
            </a:r>
            <a:r>
              <a:rPr lang="en-US" dirty="0" err="1" smtClean="0">
                <a:latin typeface="Times New Roman" panose="02020603050405020304" pitchFamily="18" charset="0"/>
                <a:cs typeface="Times New Roman" panose="02020603050405020304" pitchFamily="18" charset="0"/>
              </a:rPr>
              <a:t>necrosed</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 a few </a:t>
            </a:r>
            <a:r>
              <a:rPr lang="en-US" dirty="0" smtClean="0">
                <a:latin typeface="Times New Roman" panose="02020603050405020304" pitchFamily="18" charset="0"/>
                <a:cs typeface="Times New Roman" panose="02020603050405020304" pitchFamily="18" charset="0"/>
              </a:rPr>
              <a:t>cases.</a:t>
            </a:r>
          </a:p>
          <a:p>
            <a:endParaRPr lang="en-US" dirty="0"/>
          </a:p>
        </p:txBody>
      </p:sp>
    </p:spTree>
    <p:extLst>
      <p:ext uri="{BB962C8B-B14F-4D97-AF65-F5344CB8AC3E}">
        <p14:creationId xmlns:p14="http://schemas.microsoft.com/office/powerpoint/2010/main" val="19398212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INVESTIGATIONS</a:t>
            </a:r>
            <a:br>
              <a:rPr lang="en-US" b="1" dirty="0" smtClean="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2400" b="1" dirty="0">
                <a:latin typeface="Times New Roman" panose="02020603050405020304" pitchFamily="18" charset="0"/>
                <a:cs typeface="Times New Roman" panose="02020603050405020304" pitchFamily="18" charset="0"/>
              </a:rPr>
              <a:t>Culture and sensitivity </a:t>
            </a:r>
            <a:r>
              <a:rPr lang="en-US" sz="2400" dirty="0">
                <a:latin typeface="Times New Roman" panose="02020603050405020304" pitchFamily="18" charset="0"/>
                <a:cs typeface="Times New Roman" panose="02020603050405020304" pitchFamily="18" charset="0"/>
              </a:rPr>
              <a:t>is recommended in non-drying ears or in patients with infective complications of COM</a:t>
            </a:r>
            <a:r>
              <a:rPr lang="en-US" sz="2400" dirty="0" smtClean="0">
                <a:latin typeface="Times New Roman" panose="02020603050405020304" pitchFamily="18" charset="0"/>
                <a:cs typeface="Times New Roman" panose="02020603050405020304" pitchFamily="18" charset="0"/>
              </a:rPr>
              <a:t>.</a:t>
            </a:r>
          </a:p>
          <a:p>
            <a:r>
              <a:rPr lang="en-US" sz="2400" b="1" dirty="0">
                <a:latin typeface="Times New Roman" panose="02020603050405020304" pitchFamily="18" charset="0"/>
                <a:cs typeface="Times New Roman" panose="02020603050405020304" pitchFamily="18" charset="0"/>
              </a:rPr>
              <a:t>Examination under microscope (EUM) or </a:t>
            </a:r>
            <a:r>
              <a:rPr lang="en-US" sz="2400" b="1" dirty="0" err="1">
                <a:latin typeface="Times New Roman" panose="02020603050405020304" pitchFamily="18" charset="0"/>
                <a:cs typeface="Times New Roman" panose="02020603050405020304" pitchFamily="18" charset="0"/>
              </a:rPr>
              <a:t>otoendo</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scopy</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are done in all cases to confirm the otoscopic findings</a:t>
            </a:r>
            <a:r>
              <a:rPr lang="en-US" sz="2400" dirty="0" smtClean="0">
                <a:latin typeface="Times New Roman" panose="02020603050405020304" pitchFamily="18" charset="0"/>
                <a:cs typeface="Times New Roman" panose="02020603050405020304" pitchFamily="18" charset="0"/>
              </a:rPr>
              <a:t>.</a:t>
            </a:r>
          </a:p>
          <a:p>
            <a:r>
              <a:rPr lang="en-US" sz="2400" b="1" dirty="0">
                <a:latin typeface="Times New Roman" panose="02020603050405020304" pitchFamily="18" charset="0"/>
                <a:cs typeface="Times New Roman" panose="02020603050405020304" pitchFamily="18" charset="0"/>
              </a:rPr>
              <a:t>Pure tone </a:t>
            </a:r>
            <a:r>
              <a:rPr lang="en-US" sz="2400" b="1" dirty="0" smtClean="0">
                <a:latin typeface="Times New Roman" panose="02020603050405020304" pitchFamily="18" charset="0"/>
                <a:cs typeface="Times New Roman" panose="02020603050405020304" pitchFamily="18" charset="0"/>
              </a:rPr>
              <a:t>audiometry (PTA) </a:t>
            </a:r>
            <a:r>
              <a:rPr lang="en-US" sz="2400" dirty="0">
                <a:latin typeface="Times New Roman" panose="02020603050405020304" pitchFamily="18" charset="0"/>
                <a:cs typeface="Times New Roman" panose="02020603050405020304" pitchFamily="18" charset="0"/>
              </a:rPr>
              <a:t>is done to assess the degree and type of hearing loss</a:t>
            </a:r>
            <a:r>
              <a:rPr lang="en-US" sz="2400" dirty="0" smtClean="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344152126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MANAGEMENT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Cleaning of the ear properly and proper instillation of eardrops are the mainstay in medical management of chronic otitis media</a:t>
            </a:r>
            <a:r>
              <a:rPr lang="en-US" dirty="0" smtClean="0">
                <a:latin typeface="Times New Roman" panose="02020603050405020304" pitchFamily="18" charset="0"/>
                <a:cs typeface="Times New Roman" panose="02020603050405020304" pitchFamily="18" charset="0"/>
              </a:rPr>
              <a:t>.</a:t>
            </a:r>
          </a:p>
          <a:p>
            <a:pPr marL="457200" indent="-457200">
              <a:buAutoNum type="arabicPeriod"/>
            </a:pPr>
            <a:r>
              <a:rPr lang="en-US" b="1" dirty="0" smtClean="0">
                <a:latin typeface="Times New Roman" panose="02020603050405020304" pitchFamily="18" charset="0"/>
                <a:cs typeface="Times New Roman" panose="02020603050405020304" pitchFamily="18" charset="0"/>
              </a:rPr>
              <a:t>Aural toileting: </a:t>
            </a:r>
            <a:r>
              <a:rPr lang="en-US" dirty="0" smtClean="0">
                <a:latin typeface="Times New Roman" panose="02020603050405020304" pitchFamily="18" charset="0"/>
                <a:cs typeface="Times New Roman" panose="02020603050405020304" pitchFamily="18" charset="0"/>
              </a:rPr>
              <a:t>removing </a:t>
            </a:r>
            <a:r>
              <a:rPr lang="en-US" dirty="0">
                <a:latin typeface="Times New Roman" panose="02020603050405020304" pitchFamily="18" charset="0"/>
                <a:cs typeface="Times New Roman" panose="02020603050405020304" pitchFamily="18" charset="0"/>
              </a:rPr>
              <a:t>t</a:t>
            </a:r>
            <a:r>
              <a:rPr lang="en-US" dirty="0" smtClean="0">
                <a:latin typeface="Times New Roman" panose="02020603050405020304" pitchFamily="18" charset="0"/>
                <a:cs typeface="Times New Roman" panose="02020603050405020304" pitchFamily="18" charset="0"/>
              </a:rPr>
              <a:t>he </a:t>
            </a:r>
            <a:r>
              <a:rPr lang="en-US" dirty="0">
                <a:latin typeface="Times New Roman" panose="02020603050405020304" pitchFamily="18" charset="0"/>
                <a:cs typeface="Times New Roman" panose="02020603050405020304" pitchFamily="18" charset="0"/>
              </a:rPr>
              <a:t>debris and discharge in the </a:t>
            </a:r>
            <a:r>
              <a:rPr lang="en-US" dirty="0" smtClean="0">
                <a:latin typeface="Times New Roman" panose="02020603050405020304" pitchFamily="18" charset="0"/>
                <a:cs typeface="Times New Roman" panose="02020603050405020304" pitchFamily="18" charset="0"/>
              </a:rPr>
              <a:t>affected ear</a:t>
            </a:r>
            <a:r>
              <a:rPr lang="en-US" dirty="0" smtClean="0"/>
              <a:t>.</a:t>
            </a:r>
            <a:endParaRPr lang="en-US" dirty="0" smtClean="0">
              <a:latin typeface="Times New Roman" panose="02020603050405020304" pitchFamily="18" charset="0"/>
              <a:cs typeface="Times New Roman" panose="02020603050405020304" pitchFamily="18" charset="0"/>
            </a:endParaRPr>
          </a:p>
          <a:p>
            <a:pPr marL="457200" indent="-457200">
              <a:buAutoNum type="arabicPeriod"/>
            </a:pPr>
            <a:r>
              <a:rPr lang="en-US" b="1" dirty="0" smtClean="0">
                <a:latin typeface="Times New Roman" panose="02020603050405020304" pitchFamily="18" charset="0"/>
                <a:cs typeface="Times New Roman" panose="02020603050405020304" pitchFamily="18" charset="0"/>
              </a:rPr>
              <a:t>Ear drops: </a:t>
            </a:r>
            <a:r>
              <a:rPr lang="en-US" dirty="0">
                <a:latin typeface="Times New Roman" panose="02020603050405020304" pitchFamily="18" charset="0"/>
                <a:cs typeface="Times New Roman" panose="02020603050405020304" pitchFamily="18" charset="0"/>
              </a:rPr>
              <a:t>The antibiotic ear drops used commonly </a:t>
            </a:r>
            <a:r>
              <a:rPr lang="en-US" dirty="0" smtClean="0">
                <a:latin typeface="Times New Roman" panose="02020603050405020304" pitchFamily="18" charset="0"/>
                <a:cs typeface="Times New Roman" panose="02020603050405020304" pitchFamily="18" charset="0"/>
              </a:rPr>
              <a:t>are </a:t>
            </a:r>
            <a:r>
              <a:rPr lang="en-US" dirty="0">
                <a:latin typeface="Times New Roman" panose="02020603050405020304" pitchFamily="18" charset="0"/>
                <a:cs typeface="Times New Roman" panose="02020603050405020304" pitchFamily="18" charset="0"/>
              </a:rPr>
              <a:t>ciprofloxacin, chloramphenicol and </a:t>
            </a:r>
            <a:r>
              <a:rPr lang="en-US" dirty="0" err="1">
                <a:latin typeface="Times New Roman" panose="02020603050405020304" pitchFamily="18" charset="0"/>
                <a:cs typeface="Times New Roman" panose="02020603050405020304" pitchFamily="18" charset="0"/>
              </a:rPr>
              <a:t>polymyxin</a:t>
            </a:r>
            <a:r>
              <a:rPr lang="en-US" dirty="0" smtClean="0">
                <a:latin typeface="Times New Roman" panose="02020603050405020304" pitchFamily="18" charset="0"/>
                <a:cs typeface="Times New Roman" panose="02020603050405020304" pitchFamily="18" charset="0"/>
              </a:rPr>
              <a:t>.</a:t>
            </a:r>
          </a:p>
          <a:p>
            <a:pPr marL="457200" indent="-457200">
              <a:buAutoNum type="arabicPeriod"/>
            </a:pPr>
            <a:r>
              <a:rPr lang="en-US" b="1" dirty="0">
                <a:latin typeface="Times New Roman" panose="02020603050405020304" pitchFamily="18" charset="0"/>
                <a:cs typeface="Times New Roman" panose="02020603050405020304" pitchFamily="18" charset="0"/>
              </a:rPr>
              <a:t>Systemic antibiotics: </a:t>
            </a:r>
            <a:r>
              <a:rPr lang="en-US" dirty="0">
                <a:latin typeface="Times New Roman" panose="02020603050405020304" pitchFamily="18" charset="0"/>
                <a:cs typeface="Times New Roman" panose="02020603050405020304" pitchFamily="18" charset="0"/>
              </a:rPr>
              <a:t>They are reserved for acute infections in COM and patients with associated URI or complications. </a:t>
            </a:r>
            <a:endParaRPr lang="en-US" dirty="0" smtClean="0">
              <a:latin typeface="Times New Roman" panose="02020603050405020304" pitchFamily="18" charset="0"/>
              <a:cs typeface="Times New Roman" panose="02020603050405020304" pitchFamily="18" charset="0"/>
            </a:endParaRPr>
          </a:p>
          <a:p>
            <a:pPr marL="457200" indent="-457200">
              <a:buAutoNum type="arabicPeriod"/>
            </a:pPr>
            <a:r>
              <a:rPr lang="en-US" b="1" dirty="0" smtClean="0">
                <a:latin typeface="Times New Roman" panose="02020603050405020304" pitchFamily="18" charset="0"/>
                <a:cs typeface="Times New Roman" panose="02020603050405020304" pitchFamily="18" charset="0"/>
              </a:rPr>
              <a:t>Acetic </a:t>
            </a:r>
            <a:r>
              <a:rPr lang="en-US" b="1" dirty="0">
                <a:latin typeface="Times New Roman" panose="02020603050405020304" pitchFamily="18" charset="0"/>
                <a:cs typeface="Times New Roman" panose="02020603050405020304" pitchFamily="18" charset="0"/>
              </a:rPr>
              <a:t>acid irrigation (1%) </a:t>
            </a:r>
            <a:r>
              <a:rPr lang="en-US" dirty="0">
                <a:latin typeface="Times New Roman" panose="02020603050405020304" pitchFamily="18" charset="0"/>
                <a:cs typeface="Times New Roman" panose="02020603050405020304" pitchFamily="18" charset="0"/>
              </a:rPr>
              <a:t>may be done in non-drying ears. It has antipseudomonal activity</a:t>
            </a:r>
            <a:r>
              <a:rPr lang="en-US"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6635183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972452" cy="608630"/>
          </a:xfrm>
        </p:spPr>
        <p:txBody>
          <a:bodyPr>
            <a:normAutofit/>
          </a:bodyPr>
          <a:lstStyle/>
          <a:p>
            <a:r>
              <a:rPr lang="en-US" sz="2400" b="1" dirty="0" smtClean="0">
                <a:latin typeface="Times New Roman" panose="02020603050405020304" pitchFamily="18" charset="0"/>
                <a:cs typeface="Times New Roman" panose="02020603050405020304" pitchFamily="18" charset="0"/>
              </a:rPr>
              <a:t>COMPLICATIONS OF OTITIS MEDIA</a:t>
            </a:r>
            <a:endParaRPr lang="en-US" sz="2400"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628650" y="1124744"/>
            <a:ext cx="7886700" cy="5052219"/>
          </a:xfrm>
        </p:spPr>
        <p:txBody>
          <a:bodyPr>
            <a:normAutofit lnSpcReduction="10000"/>
          </a:bodyPr>
          <a:lstStyle/>
          <a:p>
            <a:pPr>
              <a:lnSpc>
                <a:spcPct val="80000"/>
              </a:lnSpc>
              <a:buNone/>
            </a:pPr>
            <a:r>
              <a:rPr lang="en-US" sz="3200" b="1" u="sng" dirty="0" smtClean="0">
                <a:latin typeface="Times New Roman" panose="02020603050405020304" pitchFamily="18" charset="0"/>
                <a:cs typeface="Times New Roman" panose="02020603050405020304" pitchFamily="18" charset="0"/>
              </a:rPr>
              <a:t>Extra cranial.</a:t>
            </a:r>
            <a:endParaRPr lang="en-US" sz="3200" b="1" dirty="0" smtClean="0">
              <a:latin typeface="Times New Roman" panose="02020603050405020304" pitchFamily="18" charset="0"/>
              <a:cs typeface="Times New Roman" panose="02020603050405020304" pitchFamily="18" charset="0"/>
            </a:endParaRPr>
          </a:p>
          <a:p>
            <a:pPr>
              <a:lnSpc>
                <a:spcPct val="80000"/>
              </a:lnSpc>
            </a:pPr>
            <a:r>
              <a:rPr lang="en-US" sz="2400" dirty="0" smtClean="0">
                <a:latin typeface="Times New Roman" panose="02020603050405020304" pitchFamily="18" charset="0"/>
                <a:cs typeface="Times New Roman" panose="02020603050405020304" pitchFamily="18" charset="0"/>
              </a:rPr>
              <a:t>Acute </a:t>
            </a:r>
            <a:r>
              <a:rPr lang="en-US" sz="2400" dirty="0" err="1" smtClean="0">
                <a:latin typeface="Times New Roman" panose="02020603050405020304" pitchFamily="18" charset="0"/>
                <a:cs typeface="Times New Roman" panose="02020603050405020304" pitchFamily="18" charset="0"/>
              </a:rPr>
              <a:t>mastoiditis</a:t>
            </a:r>
            <a:r>
              <a:rPr lang="en-US" sz="2400" dirty="0" smtClean="0">
                <a:latin typeface="Times New Roman" panose="02020603050405020304" pitchFamily="18" charset="0"/>
                <a:cs typeface="Times New Roman" panose="02020603050405020304" pitchFamily="18" charset="0"/>
              </a:rPr>
              <a:t>.</a:t>
            </a:r>
          </a:p>
          <a:p>
            <a:pPr>
              <a:lnSpc>
                <a:spcPct val="80000"/>
              </a:lnSpc>
            </a:pPr>
            <a:r>
              <a:rPr lang="en-US" sz="2400" dirty="0" smtClean="0">
                <a:latin typeface="Times New Roman" panose="02020603050405020304" pitchFamily="18" charset="0"/>
                <a:cs typeface="Times New Roman" panose="02020603050405020304" pitchFamily="18" charset="0"/>
              </a:rPr>
              <a:t>Laberintitis.</a:t>
            </a:r>
          </a:p>
          <a:p>
            <a:pPr>
              <a:lnSpc>
                <a:spcPct val="80000"/>
              </a:lnSpc>
            </a:pPr>
            <a:r>
              <a:rPr lang="en-US" sz="2400" dirty="0" err="1" smtClean="0">
                <a:latin typeface="Times New Roman" panose="02020603050405020304" pitchFamily="18" charset="0"/>
                <a:cs typeface="Times New Roman" panose="02020603050405020304" pitchFamily="18" charset="0"/>
              </a:rPr>
              <a:t>Otic</a:t>
            </a:r>
            <a:r>
              <a:rPr lang="en-US" sz="2400" dirty="0" smtClean="0">
                <a:latin typeface="Times New Roman" panose="02020603050405020304" pitchFamily="18" charset="0"/>
                <a:cs typeface="Times New Roman" panose="02020603050405020304" pitchFamily="18" charset="0"/>
              </a:rPr>
              <a:t> septicemia   </a:t>
            </a:r>
          </a:p>
          <a:p>
            <a:pPr>
              <a:lnSpc>
                <a:spcPct val="80000"/>
              </a:lnSpc>
            </a:pPr>
            <a:r>
              <a:rPr lang="en-US" sz="2400" dirty="0" smtClean="0">
                <a:latin typeface="Times New Roman" panose="02020603050405020304" pitchFamily="18" charset="0"/>
                <a:cs typeface="Times New Roman" panose="02020603050405020304" pitchFamily="18" charset="0"/>
              </a:rPr>
              <a:t>Facial paralysis.</a:t>
            </a:r>
          </a:p>
          <a:p>
            <a:pPr>
              <a:lnSpc>
                <a:spcPct val="80000"/>
              </a:lnSpc>
              <a:buNone/>
            </a:pPr>
            <a:endParaRPr lang="en-US" sz="2400" dirty="0" smtClean="0">
              <a:latin typeface="Times New Roman" panose="02020603050405020304" pitchFamily="18" charset="0"/>
              <a:cs typeface="Times New Roman" panose="02020603050405020304" pitchFamily="18" charset="0"/>
            </a:endParaRPr>
          </a:p>
          <a:p>
            <a:pPr>
              <a:lnSpc>
                <a:spcPct val="80000"/>
              </a:lnSpc>
              <a:buNone/>
            </a:pPr>
            <a:r>
              <a:rPr lang="en-US" sz="3200" b="1" u="sng" dirty="0" smtClean="0">
                <a:latin typeface="Times New Roman" panose="02020603050405020304" pitchFamily="18" charset="0"/>
                <a:cs typeface="Times New Roman" panose="02020603050405020304" pitchFamily="18" charset="0"/>
              </a:rPr>
              <a:t>Intracranial. </a:t>
            </a:r>
            <a:endParaRPr lang="en-US" sz="3200" b="1" dirty="0" smtClean="0">
              <a:latin typeface="Times New Roman" panose="02020603050405020304" pitchFamily="18" charset="0"/>
              <a:cs typeface="Times New Roman" panose="02020603050405020304" pitchFamily="18" charset="0"/>
            </a:endParaRPr>
          </a:p>
          <a:p>
            <a:pPr>
              <a:lnSpc>
                <a:spcPct val="80000"/>
              </a:lnSpc>
            </a:pPr>
            <a:r>
              <a:rPr lang="en-US" sz="2400" dirty="0" smtClean="0">
                <a:latin typeface="Times New Roman" panose="02020603050405020304" pitchFamily="18" charset="0"/>
                <a:cs typeface="Times New Roman" panose="02020603050405020304" pitchFamily="18" charset="0"/>
              </a:rPr>
              <a:t>Per sinus abscess.</a:t>
            </a:r>
          </a:p>
          <a:p>
            <a:pPr>
              <a:lnSpc>
                <a:spcPct val="80000"/>
              </a:lnSpc>
            </a:pPr>
            <a:r>
              <a:rPr lang="en-US" sz="2400" dirty="0" smtClean="0">
                <a:latin typeface="Times New Roman" panose="02020603050405020304" pitchFamily="18" charset="0"/>
                <a:cs typeface="Times New Roman" panose="02020603050405020304" pitchFamily="18" charset="0"/>
              </a:rPr>
              <a:t>Sigmoid lateral sinus thrombosis.</a:t>
            </a:r>
          </a:p>
          <a:p>
            <a:pPr>
              <a:lnSpc>
                <a:spcPct val="80000"/>
              </a:lnSpc>
            </a:pPr>
            <a:r>
              <a:rPr lang="en-US" sz="2400" dirty="0" smtClean="0">
                <a:latin typeface="Times New Roman" panose="02020603050405020304" pitchFamily="18" charset="0"/>
                <a:cs typeface="Times New Roman" panose="02020603050405020304" pitchFamily="18" charset="0"/>
              </a:rPr>
              <a:t>Cavernous thrombosis. </a:t>
            </a:r>
            <a:r>
              <a:rPr lang="en-US" sz="2400" dirty="0" err="1" smtClean="0">
                <a:latin typeface="Times New Roman" panose="02020603050405020304" pitchFamily="18" charset="0"/>
                <a:cs typeface="Times New Roman" panose="02020603050405020304" pitchFamily="18" charset="0"/>
              </a:rPr>
              <a:t>Extradural</a:t>
            </a:r>
            <a:r>
              <a:rPr lang="en-US" sz="2400" dirty="0" smtClean="0">
                <a:latin typeface="Times New Roman" panose="02020603050405020304" pitchFamily="18" charset="0"/>
                <a:cs typeface="Times New Roman" panose="02020603050405020304" pitchFamily="18" charset="0"/>
              </a:rPr>
              <a:t> abscess.</a:t>
            </a:r>
          </a:p>
          <a:p>
            <a:pPr>
              <a:lnSpc>
                <a:spcPct val="80000"/>
              </a:lnSpc>
            </a:pPr>
            <a:r>
              <a:rPr lang="en-US" sz="2400" dirty="0" err="1" smtClean="0">
                <a:latin typeface="Times New Roman" panose="02020603050405020304" pitchFamily="18" charset="0"/>
                <a:cs typeface="Times New Roman" panose="02020603050405020304" pitchFamily="18" charset="0"/>
              </a:rPr>
              <a:t>Otogenic</a:t>
            </a:r>
            <a:r>
              <a:rPr lang="en-US" sz="2400" dirty="0" smtClean="0">
                <a:latin typeface="Times New Roman" panose="02020603050405020304" pitchFamily="18" charset="0"/>
                <a:cs typeface="Times New Roman" panose="02020603050405020304" pitchFamily="18" charset="0"/>
              </a:rPr>
              <a:t> brain abscess. </a:t>
            </a:r>
          </a:p>
          <a:p>
            <a:pPr>
              <a:lnSpc>
                <a:spcPct val="80000"/>
              </a:lnSpc>
            </a:pPr>
            <a:r>
              <a:rPr lang="en-US" sz="2400" dirty="0" smtClean="0">
                <a:latin typeface="Times New Roman" panose="02020603050405020304" pitchFamily="18" charset="0"/>
                <a:cs typeface="Times New Roman" panose="02020603050405020304" pitchFamily="18" charset="0"/>
              </a:rPr>
              <a:t>Meningitis .</a:t>
            </a:r>
          </a:p>
          <a:p>
            <a:pPr>
              <a:lnSpc>
                <a:spcPct val="80000"/>
              </a:lnSpc>
            </a:pPr>
            <a:r>
              <a:rPr lang="en-US" sz="2400" dirty="0" err="1" smtClean="0">
                <a:latin typeface="Times New Roman" panose="02020603050405020304" pitchFamily="18" charset="0"/>
                <a:cs typeface="Times New Roman" panose="02020603050405020304" pitchFamily="18" charset="0"/>
              </a:rPr>
              <a:t>Cerebelar</a:t>
            </a:r>
            <a:r>
              <a:rPr lang="en-US" sz="2400" dirty="0" smtClean="0">
                <a:latin typeface="Times New Roman" panose="02020603050405020304" pitchFamily="18" charset="0"/>
                <a:cs typeface="Times New Roman" panose="02020603050405020304" pitchFamily="18" charset="0"/>
              </a:rPr>
              <a:t> abscess</a:t>
            </a:r>
            <a:endParaRPr lang="en-US" dirty="0" smtClean="0">
              <a:latin typeface="Times New Roman" panose="02020603050405020304" pitchFamily="18" charset="0"/>
              <a:cs typeface="Times New Roman" panose="02020603050405020304" pitchFamily="18" charset="0"/>
            </a:endParaRPr>
          </a:p>
          <a:p>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FORIENG BODY OF EAR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Foreign bodies in the EAC are seen most commonly in children and may be organic (e.g., beans, live insects, etc.) or inorganic (e.g., cotton, paper, beads, button batteries, etc.). </a:t>
            </a: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b="1" dirty="0" smtClean="0">
                <a:latin typeface="Times New Roman" panose="02020603050405020304" pitchFamily="18" charset="0"/>
                <a:cs typeface="Times New Roman" panose="02020603050405020304" pitchFamily="18" charset="0"/>
              </a:rPr>
              <a:t>Clinical </a:t>
            </a:r>
            <a:r>
              <a:rPr lang="en-US" sz="2400" b="1" dirty="0">
                <a:latin typeface="Times New Roman" panose="02020603050405020304" pitchFamily="18" charset="0"/>
                <a:cs typeface="Times New Roman" panose="02020603050405020304" pitchFamily="18" charset="0"/>
              </a:rPr>
              <a:t>Features </a:t>
            </a:r>
            <a:endParaRPr lang="en-US" sz="2400" b="1"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Asymptomatic </a:t>
            </a:r>
          </a:p>
          <a:p>
            <a:r>
              <a:rPr lang="en-US" sz="2400" dirty="0" smtClean="0">
                <a:latin typeface="Times New Roman" panose="02020603050405020304" pitchFamily="18" charset="0"/>
                <a:cs typeface="Times New Roman" panose="02020603050405020304" pitchFamily="18" charset="0"/>
              </a:rPr>
              <a:t>Pain </a:t>
            </a: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Otitis externa</a:t>
            </a:r>
          </a:p>
        </p:txBody>
      </p:sp>
    </p:spTree>
    <p:extLst>
      <p:ext uri="{BB962C8B-B14F-4D97-AF65-F5344CB8AC3E}">
        <p14:creationId xmlns:p14="http://schemas.microsoft.com/office/powerpoint/2010/main" val="142597967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
            <a:ext cx="7903790" cy="1124744"/>
          </a:xfrm>
        </p:spPr>
        <p:txBody>
          <a:bodyPr/>
          <a:lstStyle/>
          <a:p>
            <a:pPr algn="ctr"/>
            <a:r>
              <a:rPr lang="en-US" b="1" dirty="0" smtClean="0">
                <a:latin typeface="Times New Roman" panose="02020603050405020304" pitchFamily="18" charset="0"/>
                <a:cs typeface="Times New Roman" panose="02020603050405020304" pitchFamily="18" charset="0"/>
              </a:rPr>
              <a:t>MANAGEMENT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9552" y="1196752"/>
            <a:ext cx="7975798" cy="4980211"/>
          </a:xfrm>
        </p:spPr>
        <p:txBody>
          <a:bodyPr>
            <a:normAutofit fontScale="92500" lnSpcReduction="10000"/>
          </a:bodyPr>
          <a:lstStyle/>
          <a:p>
            <a:pPr marL="0" indent="0">
              <a:buNone/>
            </a:pPr>
            <a:r>
              <a:rPr lang="en-US" dirty="0">
                <a:latin typeface="Times New Roman" panose="02020603050405020304" pitchFamily="18" charset="0"/>
                <a:cs typeface="Times New Roman" panose="02020603050405020304" pitchFamily="18" charset="0"/>
              </a:rPr>
              <a:t>The method of removal of FB depends on the nature of the foreign body. </a:t>
            </a:r>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Inorganic </a:t>
            </a:r>
            <a:r>
              <a:rPr lang="en-US" b="1" dirty="0">
                <a:latin typeface="Times New Roman" panose="02020603050405020304" pitchFamily="18" charset="0"/>
                <a:cs typeface="Times New Roman" panose="02020603050405020304" pitchFamily="18" charset="0"/>
              </a:rPr>
              <a:t>round non graspable FB </a:t>
            </a:r>
            <a:r>
              <a:rPr lang="en-US" dirty="0">
                <a:latin typeface="Times New Roman" panose="02020603050405020304" pitchFamily="18" charset="0"/>
                <a:cs typeface="Times New Roman" panose="02020603050405020304" pitchFamily="18" charset="0"/>
              </a:rPr>
              <a:t>(e.g., beads, pellets, erasers) should be removed by syringing.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Graspable non-living objects </a:t>
            </a:r>
            <a:r>
              <a:rPr lang="en-US" dirty="0">
                <a:latin typeface="Times New Roman" panose="02020603050405020304" pitchFamily="18" charset="0"/>
                <a:cs typeface="Times New Roman" panose="02020603050405020304" pitchFamily="18" charset="0"/>
              </a:rPr>
              <a:t>(e.g., cotton, paper, dead insects) should be removed with a pair of crocodile forceps. </a:t>
            </a:r>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Living </a:t>
            </a:r>
            <a:r>
              <a:rPr lang="en-US" b="1" dirty="0">
                <a:latin typeface="Times New Roman" panose="02020603050405020304" pitchFamily="18" charset="0"/>
                <a:cs typeface="Times New Roman" panose="02020603050405020304" pitchFamily="18" charset="0"/>
              </a:rPr>
              <a:t>insects</a:t>
            </a:r>
            <a:r>
              <a:rPr lang="en-US" dirty="0">
                <a:latin typeface="Times New Roman" panose="02020603050405020304" pitchFamily="18" charset="0"/>
                <a:cs typeface="Times New Roman" panose="02020603050405020304" pitchFamily="18" charset="0"/>
              </a:rPr>
              <a:t> should be first killed by putting oil into the meatus and then removal by syringing or forceps. </a:t>
            </a:r>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Organic </a:t>
            </a:r>
            <a:r>
              <a:rPr lang="en-US" b="1" dirty="0">
                <a:latin typeface="Times New Roman" panose="02020603050405020304" pitchFamily="18" charset="0"/>
                <a:cs typeface="Times New Roman" panose="02020603050405020304" pitchFamily="18" charset="0"/>
              </a:rPr>
              <a:t>objects </a:t>
            </a:r>
            <a:r>
              <a:rPr lang="en-US" dirty="0">
                <a:latin typeface="Times New Roman" panose="02020603050405020304" pitchFamily="18" charset="0"/>
                <a:cs typeface="Times New Roman" panose="02020603050405020304" pitchFamily="18" charset="0"/>
              </a:rPr>
              <a:t>(e.g., beans) which absorb water and swell, should not be syringed. They should be removed with ear hook. </a:t>
            </a:r>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Button </a:t>
            </a:r>
            <a:r>
              <a:rPr lang="en-US" b="1" dirty="0">
                <a:latin typeface="Times New Roman" panose="02020603050405020304" pitchFamily="18" charset="0"/>
                <a:cs typeface="Times New Roman" panose="02020603050405020304" pitchFamily="18" charset="0"/>
              </a:rPr>
              <a:t>batteries </a:t>
            </a:r>
            <a:r>
              <a:rPr lang="en-US" dirty="0">
                <a:latin typeface="Times New Roman" panose="02020603050405020304" pitchFamily="18" charset="0"/>
                <a:cs typeface="Times New Roman" panose="02020603050405020304" pitchFamily="18" charset="0"/>
              </a:rPr>
              <a:t>should not be syringed as they may leak on exposure of water. </a:t>
            </a:r>
            <a:r>
              <a:rPr lang="en-US" dirty="0" smtClean="0">
                <a:latin typeface="Times New Roman" panose="02020603050405020304" pitchFamily="18" charset="0"/>
                <a:cs typeface="Times New Roman" panose="02020603050405020304" pitchFamily="18" charset="0"/>
              </a:rPr>
              <a:t> </a:t>
            </a:r>
          </a:p>
          <a:p>
            <a:r>
              <a:rPr lang="en-US" dirty="0" smtClean="0">
                <a:latin typeface="Times New Roman" panose="02020603050405020304" pitchFamily="18" charset="0"/>
                <a:cs typeface="Times New Roman" panose="02020603050405020304" pitchFamily="18" charset="0"/>
              </a:rPr>
              <a:t>Firmly </a:t>
            </a:r>
            <a:r>
              <a:rPr lang="en-US" dirty="0">
                <a:latin typeface="Times New Roman" panose="02020603050405020304" pitchFamily="18" charset="0"/>
                <a:cs typeface="Times New Roman" panose="02020603050405020304" pitchFamily="18" charset="0"/>
              </a:rPr>
              <a:t>impacted FB medial to isthmus of EAC are removed surgically or by instrumentation. </a:t>
            </a: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Syringing</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After pulling the pinna </a:t>
            </a:r>
            <a:r>
              <a:rPr lang="en-US" b="1" dirty="0">
                <a:latin typeface="Times New Roman" panose="02020603050405020304" pitchFamily="18" charset="0"/>
                <a:cs typeface="Times New Roman" panose="02020603050405020304" pitchFamily="18" charset="0"/>
              </a:rPr>
              <a:t>upward and backward,</a:t>
            </a:r>
            <a:r>
              <a:rPr lang="en-US" dirty="0">
                <a:latin typeface="Times New Roman" panose="02020603050405020304" pitchFamily="18" charset="0"/>
                <a:cs typeface="Times New Roman" panose="02020603050405020304" pitchFamily="18" charset="0"/>
              </a:rPr>
              <a:t> water at body temperature is delivered through a </a:t>
            </a:r>
            <a:r>
              <a:rPr lang="en-US" dirty="0">
                <a:solidFill>
                  <a:srgbClr val="FF0000"/>
                </a:solidFill>
                <a:latin typeface="Times New Roman" panose="02020603050405020304" pitchFamily="18" charset="0"/>
                <a:cs typeface="Times New Roman" panose="02020603050405020304" pitchFamily="18" charset="0"/>
              </a:rPr>
              <a:t>syringe along the posterosuperior wall of EAC</a:t>
            </a:r>
            <a:r>
              <a:rPr lang="en-US" dirty="0">
                <a:latin typeface="Times New Roman" panose="02020603050405020304" pitchFamily="18" charset="0"/>
                <a:cs typeface="Times New Roman" panose="02020603050405020304" pitchFamily="18" charset="0"/>
              </a:rPr>
              <a:t>. The pressure of water builds up in the meatal recess and pushes the wax out.</a:t>
            </a:r>
          </a:p>
        </p:txBody>
      </p:sp>
    </p:spTree>
    <p:extLst>
      <p:ext uri="{BB962C8B-B14F-4D97-AF65-F5344CB8AC3E}">
        <p14:creationId xmlns:p14="http://schemas.microsoft.com/office/powerpoint/2010/main" val="47100455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23528" y="548681"/>
            <a:ext cx="8191822" cy="4505849"/>
          </a:xfrm>
          <a:prstGeom prst="rect">
            <a:avLst/>
          </a:prstGeom>
        </p:spPr>
        <p:txBody>
          <a:bodyPr wrap="square">
            <a:spAutoFit/>
          </a:bodyPr>
          <a:lstStyle/>
          <a:p>
            <a:pPr marL="0" indent="0">
              <a:buNone/>
            </a:pPr>
            <a:r>
              <a:rPr lang="en-US" b="1" dirty="0" smtClean="0">
                <a:latin typeface="Times New Roman" panose="02020603050405020304" pitchFamily="18" charset="0"/>
                <a:cs typeface="Times New Roman" panose="02020603050405020304" pitchFamily="18" charset="0"/>
              </a:rPr>
              <a:t>COMPLICATIONS OF SYRINGING: </a:t>
            </a:r>
          </a:p>
          <a:p>
            <a:pPr marL="457200" indent="-457200">
              <a:buFont typeface="+mj-lt"/>
              <a:buAutoNum type="arabicPeriod"/>
            </a:pPr>
            <a:r>
              <a:rPr lang="en-US" dirty="0" smtClean="0">
                <a:latin typeface="Times New Roman" panose="02020603050405020304" pitchFamily="18" charset="0"/>
                <a:cs typeface="Times New Roman" panose="02020603050405020304" pitchFamily="18" charset="0"/>
              </a:rPr>
              <a:t>Vertigo </a:t>
            </a:r>
            <a:r>
              <a:rPr lang="en-US" dirty="0">
                <a:latin typeface="Times New Roman" panose="02020603050405020304" pitchFamily="18" charset="0"/>
                <a:cs typeface="Times New Roman" panose="02020603050405020304" pitchFamily="18" charset="0"/>
              </a:rPr>
              <a:t>(if water is too hot or too cold, i.e., not at body temperature, due to caloric stimulation) </a:t>
            </a:r>
            <a:endParaRPr lang="en-US"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dirty="0" smtClean="0">
                <a:latin typeface="Times New Roman" panose="02020603050405020304" pitchFamily="18" charset="0"/>
                <a:cs typeface="Times New Roman" panose="02020603050405020304" pitchFamily="18" charset="0"/>
              </a:rPr>
              <a:t>Rupture </a:t>
            </a:r>
            <a:r>
              <a:rPr lang="en-US" dirty="0">
                <a:latin typeface="Times New Roman" panose="02020603050405020304" pitchFamily="18" charset="0"/>
                <a:cs typeface="Times New Roman" panose="02020603050405020304" pitchFamily="18" charset="0"/>
              </a:rPr>
              <a:t>of TM (if done too forcefully) </a:t>
            </a:r>
            <a:endParaRPr lang="en-US"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dirty="0" smtClean="0">
                <a:latin typeface="Times New Roman" panose="02020603050405020304" pitchFamily="18" charset="0"/>
                <a:cs typeface="Times New Roman" panose="02020603050405020304" pitchFamily="18" charset="0"/>
              </a:rPr>
              <a:t>Reactivation </a:t>
            </a:r>
            <a:r>
              <a:rPr lang="en-US" dirty="0">
                <a:latin typeface="Times New Roman" panose="02020603050405020304" pitchFamily="18" charset="0"/>
                <a:cs typeface="Times New Roman" panose="02020603050405020304" pitchFamily="18" charset="0"/>
              </a:rPr>
              <a:t>of quiescent otitis media (if perforation is already present) </a:t>
            </a: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CONTRAINDICATIONS OF SYRINGING: </a:t>
            </a:r>
          </a:p>
          <a:p>
            <a:pPr marL="457200" indent="-457200">
              <a:buFont typeface="+mj-lt"/>
              <a:buAutoNum type="arabicPeriod"/>
            </a:pPr>
            <a:r>
              <a:rPr lang="en-US" dirty="0" smtClean="0">
                <a:latin typeface="Times New Roman" panose="02020603050405020304" pitchFamily="18" charset="0"/>
                <a:cs typeface="Times New Roman" panose="02020603050405020304" pitchFamily="18" charset="0"/>
              </a:rPr>
              <a:t>Acute </a:t>
            </a:r>
            <a:r>
              <a:rPr lang="en-US" dirty="0">
                <a:latin typeface="Times New Roman" panose="02020603050405020304" pitchFamily="18" charset="0"/>
                <a:cs typeface="Times New Roman" panose="02020603050405020304" pitchFamily="18" charset="0"/>
              </a:rPr>
              <a:t>inflammatory conditions of the external or middle ear</a:t>
            </a:r>
            <a:r>
              <a:rPr lang="en-US" dirty="0" smtClean="0">
                <a:latin typeface="Times New Roman" panose="02020603050405020304" pitchFamily="18" charset="0"/>
                <a:cs typeface="Times New Roman" panose="02020603050405020304" pitchFamily="18" charset="0"/>
              </a:rPr>
              <a:t>.</a:t>
            </a:r>
          </a:p>
          <a:p>
            <a:pPr marL="457200" indent="-457200">
              <a:buFont typeface="+mj-lt"/>
              <a:buAutoNum type="arabicPeriod"/>
            </a:pPr>
            <a:r>
              <a:rPr lang="en-US" dirty="0" smtClean="0">
                <a:latin typeface="Times New Roman" panose="02020603050405020304" pitchFamily="18" charset="0"/>
                <a:cs typeface="Times New Roman" panose="02020603050405020304" pitchFamily="18" charset="0"/>
              </a:rPr>
              <a:t>Perforation </a:t>
            </a:r>
            <a:r>
              <a:rPr lang="en-US" dirty="0">
                <a:latin typeface="Times New Roman" panose="02020603050405020304" pitchFamily="18" charset="0"/>
                <a:cs typeface="Times New Roman" panose="02020603050405020304" pitchFamily="18" charset="0"/>
              </a:rPr>
              <a:t>of the tympanic membrane </a:t>
            </a:r>
            <a:endParaRPr lang="en-US"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dirty="0" smtClean="0">
                <a:latin typeface="Times New Roman" panose="02020603050405020304" pitchFamily="18" charset="0"/>
                <a:cs typeface="Times New Roman" panose="02020603050405020304" pitchFamily="18" charset="0"/>
              </a:rPr>
              <a:t>Presence </a:t>
            </a:r>
            <a:r>
              <a:rPr lang="en-US" dirty="0">
                <a:latin typeface="Times New Roman" panose="02020603050405020304" pitchFamily="18" charset="0"/>
                <a:cs typeface="Times New Roman" panose="02020603050405020304" pitchFamily="18" charset="0"/>
              </a:rPr>
              <a:t>of a grommet </a:t>
            </a:r>
            <a:endParaRPr lang="en-US"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dirty="0" smtClean="0">
                <a:latin typeface="Times New Roman" panose="02020603050405020304" pitchFamily="18" charset="0"/>
                <a:cs typeface="Times New Roman" panose="02020603050405020304" pitchFamily="18" charset="0"/>
              </a:rPr>
              <a:t>History </a:t>
            </a:r>
            <a:r>
              <a:rPr lang="en-US" dirty="0">
                <a:latin typeface="Times New Roman" panose="02020603050405020304" pitchFamily="18" charset="0"/>
                <a:cs typeface="Times New Roman" panose="02020603050405020304" pitchFamily="18" charset="0"/>
              </a:rPr>
              <a:t>of ear surgery </a:t>
            </a:r>
            <a:endParaRPr lang="en-US"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dirty="0" smtClean="0">
                <a:latin typeface="Times New Roman" panose="02020603050405020304" pitchFamily="18" charset="0"/>
                <a:cs typeface="Times New Roman" panose="02020603050405020304" pitchFamily="18" charset="0"/>
              </a:rPr>
              <a:t>Foreign </a:t>
            </a:r>
            <a:r>
              <a:rPr lang="en-US" dirty="0">
                <a:latin typeface="Times New Roman" panose="02020603050405020304" pitchFamily="18" charset="0"/>
                <a:cs typeface="Times New Roman" panose="02020603050405020304" pitchFamily="18" charset="0"/>
              </a:rPr>
              <a:t>body battery in the EAC</a:t>
            </a:r>
          </a:p>
        </p:txBody>
      </p:sp>
    </p:spTree>
    <p:extLst>
      <p:ext uri="{BB962C8B-B14F-4D97-AF65-F5344CB8AC3E}">
        <p14:creationId xmlns:p14="http://schemas.microsoft.com/office/powerpoint/2010/main" val="81313081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39000" cy="394316"/>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HEARING LOSS</a:t>
            </a:r>
            <a:endParaRPr lang="en-US"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Hearing loss affects people of all ages and can be caused by many different factors. The three basic categories of hearing loss are sensorineural hearing loss, conductive hearing loss and mixed hearing loss</a:t>
            </a:r>
            <a:r>
              <a:rPr lang="en-US" dirty="0" smtClean="0"/>
              <a:t>. </a:t>
            </a:r>
          </a:p>
          <a:p>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686700" cy="608630"/>
          </a:xfrm>
        </p:spPr>
        <p:txBody>
          <a:bodyPr>
            <a:normAutofit/>
          </a:bodyPr>
          <a:lstStyle/>
          <a:p>
            <a:r>
              <a:rPr lang="en-US" sz="2400" b="1" dirty="0" smtClean="0">
                <a:latin typeface="Times New Roman" panose="02020603050405020304" pitchFamily="18" charset="0"/>
                <a:cs typeface="Times New Roman" panose="02020603050405020304" pitchFamily="18" charset="0"/>
              </a:rPr>
              <a:t>SENSORINEURAL HEARING LOSS</a:t>
            </a:r>
            <a:endParaRPr lang="en-US" sz="2400"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This type of hearing loss occurs when the inner ear or the actual hearing nerve itself becomes damaged. </a:t>
            </a:r>
          </a:p>
          <a:p>
            <a:r>
              <a:rPr lang="en-US" dirty="0" smtClean="0">
                <a:latin typeface="Times New Roman" panose="02020603050405020304" pitchFamily="18" charset="0"/>
                <a:cs typeface="Times New Roman" panose="02020603050405020304" pitchFamily="18" charset="0"/>
              </a:rPr>
              <a:t> It can be a result of aging, exposure to loud noise, injury, disease, certain drugs or an inherited condition. </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8686800" cy="608630"/>
          </a:xfrm>
        </p:spPr>
        <p:txBody>
          <a:bodyPr>
            <a:normAutofit/>
          </a:bodyPr>
          <a:lstStyle/>
          <a:p>
            <a:r>
              <a:rPr lang="en-US" sz="2400" b="1" dirty="0" smtClean="0">
                <a:latin typeface="Times New Roman" panose="02020603050405020304" pitchFamily="18" charset="0"/>
                <a:cs typeface="Times New Roman" panose="02020603050405020304" pitchFamily="18" charset="0"/>
              </a:rPr>
              <a:t>CONDUCTIVE HEARING LOSS</a:t>
            </a:r>
            <a:endParaRPr lang="en-US" sz="2400"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457200" y="1609416"/>
            <a:ext cx="7543824" cy="4846320"/>
          </a:xfrm>
        </p:spPr>
        <p:txBody>
          <a:bodyPr>
            <a:normAutofit/>
          </a:bodyPr>
          <a:lstStyle/>
          <a:p>
            <a:r>
              <a:rPr lang="en-US" dirty="0" smtClean="0">
                <a:latin typeface="Times New Roman" panose="02020603050405020304" pitchFamily="18" charset="0"/>
                <a:cs typeface="Times New Roman" panose="02020603050405020304" pitchFamily="18" charset="0"/>
              </a:rPr>
              <a:t>This type of hearing loss occurs in the external or middle ear where sound waves are not able to carry all the way through to the inner ear. </a:t>
            </a:r>
          </a:p>
          <a:p>
            <a:r>
              <a:rPr lang="en-US" dirty="0" smtClean="0">
                <a:latin typeface="Times New Roman" panose="02020603050405020304" pitchFamily="18" charset="0"/>
                <a:cs typeface="Times New Roman" panose="02020603050405020304" pitchFamily="18" charset="0"/>
              </a:rPr>
              <a:t>Sound may be blocked by earwax or a foreign object located in the ear canal; the middle ear space may be impacted with fluid, infection or a bone abnormality; or the eardrum may have been injured.</a:t>
            </a:r>
          </a:p>
          <a:p>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428604"/>
            <a:ext cx="7239000" cy="6027132"/>
          </a:xfrm>
        </p:spPr>
        <p:txBody>
          <a:bodyPr>
            <a:normAutofit/>
          </a:bodyPr>
          <a:lstStyle/>
          <a:p>
            <a:r>
              <a:rPr lang="en-US" sz="2800" dirty="0" smtClean="0">
                <a:latin typeface="Times New Roman" panose="02020603050405020304" pitchFamily="18" charset="0"/>
                <a:cs typeface="Times New Roman" panose="02020603050405020304" pitchFamily="18" charset="0"/>
              </a:rPr>
              <a:t>The Weber test compares hearing, by bone conduction, of two ears, simultaneously, and assesses the sensation of lateralization of the sound to one side or the other.</a:t>
            </a:r>
          </a:p>
          <a:p>
            <a:pPr>
              <a:buNone/>
            </a:pPr>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The Rinne test compares hearing by air and by bone conduction, in each ear, separately.</a:t>
            </a:r>
          </a:p>
          <a:p>
            <a:pPr>
              <a:buNone/>
            </a:pPr>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The Schwabach test consists in comparing the time of audition of a vibrating tuning fork, placed at the vertex of the patient, with the time over which he hears, this same tuning fork, a subject with normal hearing, usually the own explorer.</a:t>
            </a:r>
          </a:p>
          <a:p>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39000" cy="608630"/>
          </a:xfrm>
        </p:spPr>
        <p:txBody>
          <a:bodyPr/>
          <a:lstStyle/>
          <a:p>
            <a:pPr algn="ctr"/>
            <a:r>
              <a:rPr lang="en-US" b="1" dirty="0" smtClean="0">
                <a:latin typeface="Times New Roman" panose="02020603050405020304" pitchFamily="18" charset="0"/>
                <a:cs typeface="Times New Roman" panose="02020603050405020304" pitchFamily="18" charset="0"/>
              </a:rPr>
              <a:t>AUDIOMETRY</a:t>
            </a:r>
            <a:endParaRPr lang="en-US" b="1" dirty="0">
              <a:latin typeface="Times New Roman" panose="02020603050405020304" pitchFamily="18" charset="0"/>
              <a:cs typeface="Times New Roman" panose="02020603050405020304" pitchFamily="18" charset="0"/>
            </a:endParaRPr>
          </a:p>
        </p:txBody>
      </p:sp>
      <p:sp>
        <p:nvSpPr>
          <p:cNvPr id="3" name="2 Marcador de contenido"/>
          <p:cNvSpPr>
            <a:spLocks noGrp="1"/>
          </p:cNvSpPr>
          <p:nvPr>
            <p:ph idx="1"/>
          </p:nvPr>
        </p:nvSpPr>
        <p:spPr>
          <a:xfrm>
            <a:off x="127077" y="1484784"/>
            <a:ext cx="7615262" cy="4955562"/>
          </a:xfrm>
        </p:spPr>
        <p:txBody>
          <a:bodyPr>
            <a:normAutofit/>
          </a:bodyPr>
          <a:lstStyle/>
          <a:p>
            <a:pPr fontAlgn="base"/>
            <a:r>
              <a:rPr lang="en-US" dirty="0" smtClean="0">
                <a:latin typeface="Times New Roman" panose="02020603050405020304" pitchFamily="18" charset="0"/>
                <a:cs typeface="Times New Roman" panose="02020603050405020304" pitchFamily="18" charset="0"/>
              </a:rPr>
              <a:t>An </a:t>
            </a:r>
            <a:r>
              <a:rPr lang="en-US" dirty="0" err="1" smtClean="0">
                <a:latin typeface="Times New Roman" panose="02020603050405020304" pitchFamily="18" charset="0"/>
                <a:cs typeface="Times New Roman" panose="02020603050405020304" pitchFamily="18" charset="0"/>
              </a:rPr>
              <a:t>audiometry</a:t>
            </a:r>
            <a:r>
              <a:rPr lang="en-US" dirty="0" smtClean="0">
                <a:latin typeface="Times New Roman" panose="02020603050405020304" pitchFamily="18" charset="0"/>
                <a:cs typeface="Times New Roman" panose="02020603050405020304" pitchFamily="18" charset="0"/>
              </a:rPr>
              <a:t> exam tests your ability to hear sounds. Sounds vary, based on their loudness (intensity) and the speed of sound wave vibrations (tone).</a:t>
            </a:r>
          </a:p>
          <a:p>
            <a:pPr fontAlgn="base"/>
            <a:r>
              <a:rPr lang="en-US" dirty="0" smtClean="0">
                <a:latin typeface="Times New Roman" panose="02020603050405020304" pitchFamily="18" charset="0"/>
                <a:cs typeface="Times New Roman" panose="02020603050405020304" pitchFamily="18" charset="0"/>
              </a:rPr>
              <a:t>Hearing occurs when sound waves stimulate the nerves of the inner ear. The sound then travels along nerve pathways to the brain.</a:t>
            </a:r>
          </a:p>
          <a:p>
            <a:pPr fontAlgn="base"/>
            <a:r>
              <a:rPr lang="en-US" dirty="0" smtClean="0">
                <a:latin typeface="Times New Roman" panose="02020603050405020304" pitchFamily="18" charset="0"/>
                <a:cs typeface="Times New Roman" panose="02020603050405020304" pitchFamily="18" charset="0"/>
              </a:rPr>
              <a:t>Sound waves can travel to the inner ear through the ear canal, eardrum, and bones of the middle ear (air conduction). They can also pass through the bones around and behind the ear (bone conduction).</a:t>
            </a:r>
          </a:p>
          <a:p>
            <a:endParaRPr lang="en-US" dirty="0"/>
          </a:p>
        </p:txBody>
      </p:sp>
      <p:pic>
        <p:nvPicPr>
          <p:cNvPr id="59395" name="Picture 3" descr="C:\Users\user\Desktop\ORL\Class\CONFERENCIAS\Mis conferencias\Otology\audiometry-test-resized.jpg"/>
          <p:cNvPicPr>
            <a:picLocks noChangeAspect="1" noChangeArrowheads="1"/>
          </p:cNvPicPr>
          <p:nvPr/>
        </p:nvPicPr>
        <p:blipFill>
          <a:blip r:embed="rId2"/>
          <a:srcRect/>
          <a:stretch>
            <a:fillRect/>
          </a:stretch>
        </p:blipFill>
        <p:spPr bwMode="auto">
          <a:xfrm>
            <a:off x="7286644" y="12383"/>
            <a:ext cx="1857356" cy="1544409"/>
          </a:xfrm>
          <a:prstGeom prst="rect">
            <a:avLst/>
          </a:prstGeom>
          <a:noFill/>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descr="C:\Users\user\Desktop\ORL\Class\CONFERENCIAS\Mis conferencias\Otology\how-to-read-an-audiogram.png"/>
          <p:cNvPicPr>
            <a:picLocks noChangeAspect="1" noChangeArrowheads="1"/>
          </p:cNvPicPr>
          <p:nvPr/>
        </p:nvPicPr>
        <p:blipFill>
          <a:blip r:embed="rId2"/>
          <a:srcRect/>
          <a:stretch>
            <a:fillRect/>
          </a:stretch>
        </p:blipFill>
        <p:spPr bwMode="auto">
          <a:xfrm>
            <a:off x="428596" y="438150"/>
            <a:ext cx="7929618" cy="6205560"/>
          </a:xfrm>
          <a:prstGeom prst="rect">
            <a:avLst/>
          </a:prstGeom>
          <a:noFill/>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p:nvPr/>
        </p:nvPicPr>
        <p:blipFill>
          <a:blip r:embed="rId2"/>
          <a:srcRect/>
          <a:stretch>
            <a:fillRect/>
          </a:stretch>
        </p:blipFill>
        <p:spPr bwMode="auto">
          <a:xfrm>
            <a:off x="285720" y="1785926"/>
            <a:ext cx="7256175" cy="4214842"/>
          </a:xfrm>
          <a:prstGeom prst="rect">
            <a:avLst/>
          </a:prstGeom>
          <a:noFill/>
          <a:ln w="9525">
            <a:noFill/>
            <a:miter lim="800000"/>
            <a:headEnd/>
            <a:tailEnd/>
          </a:ln>
        </p:spPr>
      </p:pic>
      <p:pic>
        <p:nvPicPr>
          <p:cNvPr id="5" name="4 Imagen"/>
          <p:cNvPicPr/>
          <p:nvPr/>
        </p:nvPicPr>
        <p:blipFill>
          <a:blip r:embed="rId3"/>
          <a:srcRect/>
          <a:stretch>
            <a:fillRect/>
          </a:stretch>
        </p:blipFill>
        <p:spPr bwMode="auto">
          <a:xfrm>
            <a:off x="214282" y="357166"/>
            <a:ext cx="1571636" cy="642942"/>
          </a:xfrm>
          <a:prstGeom prst="rect">
            <a:avLst/>
          </a:prstGeom>
          <a:noFill/>
          <a:ln w="9525">
            <a:noFill/>
            <a:miter lim="800000"/>
            <a:headEnd/>
            <a:tailEnd/>
          </a:ln>
        </p:spPr>
      </p:pic>
      <p:sp>
        <p:nvSpPr>
          <p:cNvPr id="61442" name="Text Box 2"/>
          <p:cNvSpPr txBox="1">
            <a:spLocks noChangeArrowheads="1"/>
          </p:cNvSpPr>
          <p:nvPr/>
        </p:nvSpPr>
        <p:spPr bwMode="auto">
          <a:xfrm>
            <a:off x="2571736" y="357166"/>
            <a:ext cx="1790704" cy="57150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0" i="0" u="none" strike="noStrike" cap="none" normalizeH="0" baseline="0" dirty="0" smtClean="0">
                <a:ln>
                  <a:noFill/>
                </a:ln>
                <a:solidFill>
                  <a:schemeClr val="tx1"/>
                </a:solidFill>
                <a:effectLst/>
                <a:latin typeface="Calibri" pitchFamily="34" charset="0"/>
                <a:cs typeface="Arial" pitchFamily="34" charset="0"/>
              </a:rPr>
              <a:t>Bone conduction</a:t>
            </a:r>
            <a:endParaRPr kumimoji="0" lang="en-US" sz="1400" b="0" i="0" u="none" strike="noStrike" cap="none" normalizeH="0" baseline="0" dirty="0" smtClean="0">
              <a:ln>
                <a:noFill/>
              </a:ln>
              <a:solidFill>
                <a:schemeClr val="tx1"/>
              </a:solidFill>
              <a:effectLst/>
              <a:latin typeface="Arial" pitchFamily="34" charset="0"/>
              <a:cs typeface="Arial" pitchFamily="34" charset="0"/>
            </a:endParaRPr>
          </a:p>
        </p:txBody>
      </p:sp>
      <p:sp>
        <p:nvSpPr>
          <p:cNvPr id="61443" name="Text Box 3"/>
          <p:cNvSpPr txBox="1">
            <a:spLocks noChangeArrowheads="1"/>
          </p:cNvSpPr>
          <p:nvPr/>
        </p:nvSpPr>
        <p:spPr bwMode="auto">
          <a:xfrm>
            <a:off x="6215074" y="642918"/>
            <a:ext cx="1576390" cy="57150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smtClean="0">
                <a:ln>
                  <a:noFill/>
                </a:ln>
                <a:solidFill>
                  <a:schemeClr val="tx1"/>
                </a:solidFill>
                <a:effectLst/>
                <a:latin typeface="Calibri" pitchFamily="34" charset="0"/>
                <a:cs typeface="Arial" pitchFamily="34" charset="0"/>
              </a:rPr>
              <a:t>Bone conduction</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61444" name="Text Box 4"/>
          <p:cNvSpPr txBox="1">
            <a:spLocks noChangeArrowheads="1"/>
          </p:cNvSpPr>
          <p:nvPr/>
        </p:nvSpPr>
        <p:spPr bwMode="auto">
          <a:xfrm>
            <a:off x="7715272" y="1714488"/>
            <a:ext cx="1428728" cy="64294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smtClean="0">
                <a:ln>
                  <a:noFill/>
                </a:ln>
                <a:solidFill>
                  <a:schemeClr val="tx1"/>
                </a:solidFill>
                <a:effectLst/>
                <a:latin typeface="Calibri" pitchFamily="34" charset="0"/>
                <a:cs typeface="Arial" pitchFamily="34" charset="0"/>
              </a:rPr>
              <a:t>Air conduction</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cxnSp>
        <p:nvCxnSpPr>
          <p:cNvPr id="11" name="10 Conector recto de flecha"/>
          <p:cNvCxnSpPr/>
          <p:nvPr/>
        </p:nvCxnSpPr>
        <p:spPr>
          <a:xfrm rot="16200000" flipH="1">
            <a:off x="-250065" y="1393017"/>
            <a:ext cx="1643074" cy="7143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12 Conector recto de flecha"/>
          <p:cNvCxnSpPr/>
          <p:nvPr/>
        </p:nvCxnSpPr>
        <p:spPr>
          <a:xfrm rot="5400000">
            <a:off x="2285984" y="1357298"/>
            <a:ext cx="1428760" cy="5715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14 Conector recto de flecha"/>
          <p:cNvCxnSpPr/>
          <p:nvPr/>
        </p:nvCxnSpPr>
        <p:spPr>
          <a:xfrm rot="5400000">
            <a:off x="6000760" y="1571612"/>
            <a:ext cx="1143008" cy="4286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16 Conector recto de flecha"/>
          <p:cNvCxnSpPr/>
          <p:nvPr/>
        </p:nvCxnSpPr>
        <p:spPr>
          <a:xfrm rot="10800000" flipV="1">
            <a:off x="7072330" y="2357430"/>
            <a:ext cx="1143008" cy="9286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17 Rectángulo"/>
          <p:cNvSpPr/>
          <p:nvPr/>
        </p:nvSpPr>
        <p:spPr>
          <a:xfrm>
            <a:off x="0" y="1142984"/>
            <a:ext cx="2285984" cy="276999"/>
          </a:xfrm>
          <a:prstGeom prst="rect">
            <a:avLst/>
          </a:prstGeom>
        </p:spPr>
        <p:txBody>
          <a:bodyPr wrap="square">
            <a:spAutoFit/>
          </a:bodyPr>
          <a:lstStyle/>
          <a:p>
            <a:r>
              <a:rPr lang="en-US" sz="1200" dirty="0" smtClean="0"/>
              <a:t>Continuous lines</a:t>
            </a:r>
            <a:endParaRPr lang="en-US" sz="1200" dirty="0"/>
          </a:p>
        </p:txBody>
      </p:sp>
      <p:sp>
        <p:nvSpPr>
          <p:cNvPr id="19" name="18 Rectángulo"/>
          <p:cNvSpPr/>
          <p:nvPr/>
        </p:nvSpPr>
        <p:spPr>
          <a:xfrm>
            <a:off x="2143108" y="1142984"/>
            <a:ext cx="2451312" cy="307777"/>
          </a:xfrm>
          <a:prstGeom prst="rect">
            <a:avLst/>
          </a:prstGeom>
        </p:spPr>
        <p:txBody>
          <a:bodyPr wrap="none">
            <a:spAutoFit/>
          </a:bodyPr>
          <a:lstStyle/>
          <a:p>
            <a:r>
              <a:rPr lang="en-US" sz="1400" dirty="0" smtClean="0"/>
              <a:t>Discontinue lines</a:t>
            </a:r>
            <a:endParaRPr lang="en-US" sz="1400" dirty="0"/>
          </a:p>
        </p:txBody>
      </p:sp>
      <p:sp>
        <p:nvSpPr>
          <p:cNvPr id="61445" name="Text Box 5"/>
          <p:cNvSpPr txBox="1">
            <a:spLocks noChangeArrowheads="1"/>
          </p:cNvSpPr>
          <p:nvPr/>
        </p:nvSpPr>
        <p:spPr bwMode="auto">
          <a:xfrm>
            <a:off x="4395788" y="5929330"/>
            <a:ext cx="3390922" cy="64294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1" i="0" u="none" strike="noStrike" cap="none" normalizeH="0" baseline="0" dirty="0" smtClean="0">
                <a:ln>
                  <a:noFill/>
                </a:ln>
                <a:solidFill>
                  <a:schemeClr val="tx1"/>
                </a:solidFill>
                <a:effectLst/>
                <a:latin typeface="Calibri" pitchFamily="34" charset="0"/>
                <a:cs typeface="Arial" pitchFamily="34" charset="0"/>
              </a:rPr>
              <a:t>Conductive hearing loss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sp>
        <p:nvSpPr>
          <p:cNvPr id="61446" name="Text Box 6"/>
          <p:cNvSpPr txBox="1">
            <a:spLocks noChangeArrowheads="1"/>
          </p:cNvSpPr>
          <p:nvPr/>
        </p:nvSpPr>
        <p:spPr bwMode="auto">
          <a:xfrm>
            <a:off x="785786" y="6072206"/>
            <a:ext cx="2786082" cy="35719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1" i="0" u="none" strike="noStrike" cap="none" normalizeH="0" baseline="0" dirty="0" smtClean="0">
                <a:ln>
                  <a:noFill/>
                </a:ln>
                <a:solidFill>
                  <a:schemeClr val="tx1"/>
                </a:solidFill>
                <a:effectLst/>
                <a:latin typeface="Calibri" pitchFamily="34" charset="0"/>
                <a:cs typeface="Arial" pitchFamily="34" charset="0"/>
              </a:rPr>
              <a:t>Normal Hearing</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p:nvPr/>
        </p:nvPicPr>
        <p:blipFill>
          <a:blip r:embed="rId2"/>
          <a:srcRect/>
          <a:stretch>
            <a:fillRect/>
          </a:stretch>
        </p:blipFill>
        <p:spPr bwMode="auto">
          <a:xfrm>
            <a:off x="642910" y="928670"/>
            <a:ext cx="7072362" cy="4500593"/>
          </a:xfrm>
          <a:prstGeom prst="rect">
            <a:avLst/>
          </a:prstGeom>
          <a:noFill/>
          <a:ln w="9525">
            <a:noFill/>
            <a:miter lim="800000"/>
            <a:headEnd/>
            <a:tailEnd/>
          </a:ln>
        </p:spPr>
      </p:pic>
      <p:sp>
        <p:nvSpPr>
          <p:cNvPr id="62466" name="Text Box 2"/>
          <p:cNvSpPr txBox="1">
            <a:spLocks noChangeArrowheads="1"/>
          </p:cNvSpPr>
          <p:nvPr/>
        </p:nvSpPr>
        <p:spPr bwMode="auto">
          <a:xfrm>
            <a:off x="2357422" y="5643578"/>
            <a:ext cx="4714908" cy="490539"/>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smtClean="0">
                <a:ln>
                  <a:noFill/>
                </a:ln>
                <a:solidFill>
                  <a:schemeClr val="tx1"/>
                </a:solidFill>
                <a:effectLst/>
                <a:latin typeface="Calibri" pitchFamily="34" charset="0"/>
                <a:cs typeface="Arial" pitchFamily="34" charset="0"/>
              </a:rPr>
              <a:t>Sensorineural Hearing loss</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endParaRPr lang="en-US"/>
          </a:p>
        </p:txBody>
      </p:sp>
      <p:graphicFrame>
        <p:nvGraphicFramePr>
          <p:cNvPr id="4" name="3 Marcador de contenido"/>
          <p:cNvGraphicFramePr>
            <a:graphicFrameLocks/>
          </p:cNvGraphicFramePr>
          <p:nvPr/>
        </p:nvGraphicFramePr>
        <p:xfrm>
          <a:off x="285720" y="714356"/>
          <a:ext cx="8401080" cy="5641937"/>
        </p:xfrm>
        <a:graphic>
          <a:graphicData uri="http://schemas.openxmlformats.org/drawingml/2006/table">
            <a:tbl>
              <a:tblPr firstRow="1" bandRow="1">
                <a:tableStyleId>{5C22544A-7EE6-4342-B048-85BDC9FD1C3A}</a:tableStyleId>
              </a:tblPr>
              <a:tblGrid>
                <a:gridCol w="2800360"/>
                <a:gridCol w="2800360"/>
                <a:gridCol w="2800360"/>
              </a:tblGrid>
              <a:tr h="656711">
                <a:tc>
                  <a:txBody>
                    <a:bodyPr/>
                    <a:lstStyle/>
                    <a:p>
                      <a:r>
                        <a:rPr lang="en-US" dirty="0" smtClean="0"/>
                        <a:t>Aspects</a:t>
                      </a:r>
                      <a:endParaRPr lang="en-US" dirty="0"/>
                    </a:p>
                  </a:txBody>
                  <a:tcPr/>
                </a:tc>
                <a:tc>
                  <a:txBody>
                    <a:bodyPr/>
                    <a:lstStyle/>
                    <a:p>
                      <a:r>
                        <a:rPr lang="en-US" dirty="0" smtClean="0"/>
                        <a:t>Sensorineural Hearing loss</a:t>
                      </a:r>
                      <a:endParaRPr lang="en-US" dirty="0"/>
                    </a:p>
                  </a:txBody>
                  <a:tcPr/>
                </a:tc>
                <a:tc>
                  <a:txBody>
                    <a:bodyPr/>
                    <a:lstStyle/>
                    <a:p>
                      <a:r>
                        <a:rPr lang="en-US" dirty="0" smtClean="0"/>
                        <a:t>Conductive Hearing loss</a:t>
                      </a:r>
                      <a:endParaRPr lang="en-US" dirty="0"/>
                    </a:p>
                  </a:txBody>
                  <a:tcPr/>
                </a:tc>
              </a:tr>
              <a:tr h="656711">
                <a:tc>
                  <a:txBody>
                    <a:bodyPr/>
                    <a:lstStyle/>
                    <a:p>
                      <a:r>
                        <a:rPr lang="en-US" sz="1800" dirty="0" err="1" smtClean="0">
                          <a:latin typeface="Arial" panose="020B0604020202020204" pitchFamily="34" charset="0"/>
                          <a:cs typeface="Arial" panose="020B0604020202020204" pitchFamily="34" charset="0"/>
                        </a:rPr>
                        <a:t>Rinne’s</a:t>
                      </a:r>
                      <a:r>
                        <a:rPr lang="en-US" sz="1800" dirty="0" smtClean="0">
                          <a:latin typeface="Arial" panose="020B0604020202020204" pitchFamily="34" charset="0"/>
                          <a:cs typeface="Arial" panose="020B0604020202020204" pitchFamily="34" charset="0"/>
                        </a:rPr>
                        <a:t> Test</a:t>
                      </a:r>
                      <a:endParaRPr lang="en-US" dirty="0"/>
                    </a:p>
                  </a:txBody>
                  <a:tcPr/>
                </a:tc>
                <a:tc>
                  <a:txBody>
                    <a:bodyPr/>
                    <a:lstStyle/>
                    <a:p>
                      <a:r>
                        <a:rPr lang="en-US" dirty="0" smtClean="0"/>
                        <a:t>Shortened positive</a:t>
                      </a:r>
                      <a:endParaRPr lang="en-US" dirty="0"/>
                    </a:p>
                  </a:txBody>
                  <a:tcPr/>
                </a:tc>
                <a:tc>
                  <a:txBody>
                    <a:bodyPr/>
                    <a:lstStyle/>
                    <a:p>
                      <a:r>
                        <a:rPr lang="en-US" dirty="0" smtClean="0"/>
                        <a:t>Negative </a:t>
                      </a:r>
                      <a:endParaRPr lang="en-US" dirty="0"/>
                    </a:p>
                  </a:txBody>
                  <a:tcPr/>
                </a:tc>
              </a:tr>
              <a:tr h="1501053">
                <a:tc>
                  <a:txBody>
                    <a:bodyPr/>
                    <a:lstStyle/>
                    <a:p>
                      <a:r>
                        <a:rPr lang="en-US" sz="1800" dirty="0" smtClean="0">
                          <a:latin typeface="Arial" panose="020B0604020202020204" pitchFamily="34" charset="0"/>
                          <a:cs typeface="Arial" panose="020B0604020202020204" pitchFamily="34" charset="0"/>
                        </a:rPr>
                        <a:t>Weber’s Test</a:t>
                      </a:r>
                      <a:endParaRPr lang="en-US" dirty="0"/>
                    </a:p>
                  </a:txBody>
                  <a:tcPr/>
                </a:tc>
                <a:tc>
                  <a:txBody>
                    <a:bodyPr/>
                    <a:lstStyle/>
                    <a:p>
                      <a:r>
                        <a:rPr lang="en-US" dirty="0" smtClean="0"/>
                        <a:t>Lateralized to the healthy side or better</a:t>
                      </a:r>
                      <a:endParaRPr lang="en-US" dirty="0"/>
                    </a:p>
                  </a:txBody>
                  <a:tcPr/>
                </a:tc>
                <a:tc>
                  <a:txBody>
                    <a:bodyPr/>
                    <a:lstStyle/>
                    <a:p>
                      <a:r>
                        <a:rPr lang="en-US" dirty="0" smtClean="0"/>
                        <a:t>Lateralized towards the diseased or more injured side</a:t>
                      </a:r>
                      <a:endParaRPr lang="en-US" dirty="0"/>
                    </a:p>
                  </a:txBody>
                  <a:tcPr/>
                </a:tc>
              </a:tr>
              <a:tr h="656711">
                <a:tc>
                  <a:txBody>
                    <a:bodyPr/>
                    <a:lstStyle/>
                    <a:p>
                      <a:r>
                        <a:rPr lang="en-US" sz="1800" dirty="0" err="1" smtClean="0">
                          <a:latin typeface="Arial" panose="020B0604020202020204" pitchFamily="34" charset="0"/>
                          <a:cs typeface="Arial" panose="020B0604020202020204" pitchFamily="34" charset="0"/>
                        </a:rPr>
                        <a:t>Schwabach's</a:t>
                      </a:r>
                      <a:r>
                        <a:rPr lang="en-US" sz="1800" dirty="0" smtClean="0">
                          <a:latin typeface="Arial" panose="020B0604020202020204" pitchFamily="34" charset="0"/>
                          <a:cs typeface="Arial" panose="020B0604020202020204" pitchFamily="34" charset="0"/>
                        </a:rPr>
                        <a:t> Test</a:t>
                      </a:r>
                      <a:endParaRPr lang="en-US" dirty="0"/>
                    </a:p>
                  </a:txBody>
                  <a:tcPr/>
                </a:tc>
                <a:tc>
                  <a:txBody>
                    <a:bodyPr/>
                    <a:lstStyle/>
                    <a:p>
                      <a:r>
                        <a:rPr lang="en-US" dirty="0" smtClean="0"/>
                        <a:t>Shortened</a:t>
                      </a:r>
                      <a:endParaRPr lang="en-US" dirty="0"/>
                    </a:p>
                  </a:txBody>
                  <a:tcPr/>
                </a:tc>
                <a:tc>
                  <a:txBody>
                    <a:bodyPr/>
                    <a:lstStyle/>
                    <a:p>
                      <a:r>
                        <a:rPr lang="en-US" dirty="0" smtClean="0"/>
                        <a:t>Elongated</a:t>
                      </a:r>
                      <a:endParaRPr lang="en-US" dirty="0"/>
                    </a:p>
                  </a:txBody>
                  <a:tcPr/>
                </a:tc>
              </a:tr>
              <a:tr h="656711">
                <a:tc>
                  <a:txBody>
                    <a:bodyPr/>
                    <a:lstStyle/>
                    <a:p>
                      <a:r>
                        <a:rPr lang="en-US" dirty="0" err="1" smtClean="0"/>
                        <a:t>Audiometry</a:t>
                      </a:r>
                      <a:endParaRPr lang="en-US" dirty="0"/>
                    </a:p>
                  </a:txBody>
                  <a:tcPr/>
                </a:tc>
                <a:tc>
                  <a:txBody>
                    <a:bodyPr/>
                    <a:lstStyle/>
                    <a:p>
                      <a:r>
                        <a:rPr lang="en-US" dirty="0" smtClean="0"/>
                        <a:t>Sensorineural hearing loss</a:t>
                      </a:r>
                      <a:endParaRPr lang="en-US" dirty="0"/>
                    </a:p>
                  </a:txBody>
                  <a:tcPr/>
                </a:tc>
                <a:tc>
                  <a:txBody>
                    <a:bodyPr/>
                    <a:lstStyle/>
                    <a:p>
                      <a:r>
                        <a:rPr lang="en-US" dirty="0" smtClean="0"/>
                        <a:t>Conductive hearing loss</a:t>
                      </a:r>
                      <a:endParaRPr lang="en-US" dirty="0"/>
                    </a:p>
                  </a:txBody>
                  <a:tcPr/>
                </a:tc>
              </a:tr>
              <a:tr h="575882">
                <a:tc>
                  <a:txBody>
                    <a:bodyPr/>
                    <a:lstStyle/>
                    <a:p>
                      <a:r>
                        <a:rPr lang="en-US" dirty="0" err="1" smtClean="0"/>
                        <a:t>Tympanometry</a:t>
                      </a:r>
                      <a:endParaRPr lang="en-US" dirty="0"/>
                    </a:p>
                  </a:txBody>
                  <a:tcPr/>
                </a:tc>
                <a:tc>
                  <a:txBody>
                    <a:bodyPr/>
                    <a:lstStyle/>
                    <a:p>
                      <a:r>
                        <a:rPr lang="en-US" dirty="0" smtClean="0"/>
                        <a:t>Normal</a:t>
                      </a:r>
                      <a:endParaRPr lang="en-US" dirty="0"/>
                    </a:p>
                  </a:txBody>
                  <a:tcPr/>
                </a:tc>
                <a:tc>
                  <a:txBody>
                    <a:bodyPr/>
                    <a:lstStyle/>
                    <a:p>
                      <a:r>
                        <a:rPr lang="en-US" dirty="0" smtClean="0"/>
                        <a:t>Altered</a:t>
                      </a:r>
                      <a:endParaRPr lang="en-US" dirty="0"/>
                    </a:p>
                  </a:txBody>
                  <a:tcPr/>
                </a:tc>
              </a:tr>
              <a:tr h="938158">
                <a:tc>
                  <a:txBody>
                    <a:bodyPr/>
                    <a:lstStyle/>
                    <a:p>
                      <a:r>
                        <a:rPr lang="en-US" sz="1800" dirty="0" err="1" smtClean="0"/>
                        <a:t>Stapedial</a:t>
                      </a:r>
                      <a:r>
                        <a:rPr lang="en-US" sz="1800" dirty="0" smtClean="0"/>
                        <a:t>/ </a:t>
                      </a:r>
                      <a:r>
                        <a:rPr lang="en-US" sz="1800" dirty="0" err="1" smtClean="0"/>
                        <a:t>Acousticreflexes</a:t>
                      </a:r>
                      <a:endParaRPr lang="en-US" dirty="0"/>
                    </a:p>
                  </a:txBody>
                  <a:tcPr/>
                </a:tc>
                <a:tc>
                  <a:txBody>
                    <a:bodyPr/>
                    <a:lstStyle/>
                    <a:p>
                      <a:r>
                        <a:rPr lang="en-US" dirty="0" smtClean="0"/>
                        <a:t>Absent</a:t>
                      </a:r>
                      <a:endParaRPr lang="en-US" dirty="0"/>
                    </a:p>
                  </a:txBody>
                  <a:tcPr/>
                </a:tc>
                <a:tc>
                  <a:txBody>
                    <a:bodyPr/>
                    <a:lstStyle/>
                    <a:p>
                      <a:r>
                        <a:rPr lang="en-US" dirty="0" smtClean="0"/>
                        <a:t>Present</a:t>
                      </a:r>
                      <a:endParaRPr lang="en-US" dirty="0"/>
                    </a:p>
                  </a:txBody>
                  <a:tcPr/>
                </a:tc>
              </a:tr>
            </a:tbl>
          </a:graphicData>
        </a:graphic>
      </p:graphicFrame>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contenido"/>
          <p:cNvSpPr>
            <a:spLocks noGrp="1"/>
          </p:cNvSpPr>
          <p:nvPr>
            <p:ph idx="1"/>
          </p:nvPr>
        </p:nvSpPr>
        <p:spPr>
          <a:xfrm>
            <a:off x="1714480" y="2857496"/>
            <a:ext cx="4748416" cy="923330"/>
          </a:xfrm>
          <a:prstGeom prst="rect">
            <a:avLst/>
          </a:prstGeom>
          <a:noFill/>
        </p:spPr>
        <p:txBody>
          <a:bodyPr wrap="square" lIns="91440" tIns="45720" rIns="91440" bIns="45720">
            <a:spAutoFit/>
          </a:bodyPr>
          <a:lstStyle/>
          <a:p>
            <a:pPr algn="ctr"/>
            <a:r>
              <a:rPr lang="es-ES" sz="5400" b="1" cap="none" spc="0" dirty="0" err="1"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Thanks</a:t>
            </a:r>
            <a:endParaRPr lang="es-ES" sz="5400" b="1" cap="none" spc="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2512</TotalTime>
  <Words>2635</Words>
  <Application>Microsoft Office PowerPoint</Application>
  <PresentationFormat>On-screen Show (4:3)</PresentationFormat>
  <Paragraphs>284</Paragraphs>
  <Slides>60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ＭＳ Ｐゴシック</vt:lpstr>
      <vt:lpstr>Arial</vt:lpstr>
      <vt:lpstr>Calibri</vt:lpstr>
      <vt:lpstr>Calibri Light</vt:lpstr>
      <vt:lpstr>Times New Roman</vt:lpstr>
      <vt:lpstr>Wingdings</vt:lpstr>
      <vt:lpstr>ヒラギノ角ゴ Pro W3</vt:lpstr>
      <vt:lpstr>Office Theme</vt:lpstr>
      <vt:lpstr>ANATOMY AND DISEASES OF THE EAR  </vt:lpstr>
      <vt:lpstr>OBJECTIVE</vt:lpstr>
      <vt:lpstr>For the purpose of anatomical description the ear divided into three separate portions.</vt:lpstr>
      <vt:lpstr>EXTERNAL AUDITORY CANAL ANATOMY</vt:lpstr>
      <vt:lpstr>EXTERNAL AUDITORY CANAL (EAC)</vt:lpstr>
      <vt:lpstr>PowerPoint Presentation</vt:lpstr>
      <vt:lpstr>THE MIDDLE EAR:</vt:lpstr>
      <vt:lpstr>PowerPoint Presentation</vt:lpstr>
      <vt:lpstr>CHARACTERISTICS OF NORMAL TYMPANIC MEMBRANE</vt:lpstr>
      <vt:lpstr>PowerPoint Presentation</vt:lpstr>
      <vt:lpstr>The Eustachian tube</vt:lpstr>
      <vt:lpstr>PowerPoint Presentation</vt:lpstr>
      <vt:lpstr>THE INNER EAR.</vt:lpstr>
      <vt:lpstr>PowerPoint Presentation</vt:lpstr>
      <vt:lpstr>DISEASES OF THE EAR</vt:lpstr>
      <vt:lpstr>INTRODUCTION OF OTITIS EXTERNA</vt:lpstr>
      <vt:lpstr>CLASSIFICATION OF OTITIS EXTERNA </vt:lpstr>
      <vt:lpstr>PowerPoint Presentation</vt:lpstr>
      <vt:lpstr>PowerPoint Presentation</vt:lpstr>
      <vt:lpstr>PowerPoint Presentation</vt:lpstr>
      <vt:lpstr>PowerPoint Presentation</vt:lpstr>
      <vt:lpstr>MICROBIOLOGY</vt:lpstr>
      <vt:lpstr>In the patient’s history</vt:lpstr>
      <vt:lpstr>LOCALIZED OTITIS EXTERNA</vt:lpstr>
      <vt:lpstr> DIFFUSE OTITIS EXTERNA  </vt:lpstr>
      <vt:lpstr>PowerPoint Presentation</vt:lpstr>
      <vt:lpstr> VIRAL OTITIS EXTERNA  </vt:lpstr>
      <vt:lpstr>PowerPoint Presentation</vt:lpstr>
      <vt:lpstr>Fungal otitis externa or otomycosis</vt:lpstr>
      <vt:lpstr>LABS/WORKUP</vt:lpstr>
      <vt:lpstr>IMAGING</vt:lpstr>
      <vt:lpstr>TREATMENT</vt:lpstr>
      <vt:lpstr>TREATMENT</vt:lpstr>
      <vt:lpstr>GENERAL TREATMENT</vt:lpstr>
      <vt:lpstr>COMPLICATIONS/SEQUELAE</vt:lpstr>
      <vt:lpstr>CHRONIC OTITIS EXTERNA- ETIOLOGIES</vt:lpstr>
      <vt:lpstr>WAX</vt:lpstr>
      <vt:lpstr>ACUTE OTITIS MEDIA (AOM)</vt:lpstr>
      <vt:lpstr>ROUTES OF INFECTION </vt:lpstr>
      <vt:lpstr>PowerPoint Presentation</vt:lpstr>
      <vt:lpstr>PowerPoint Presentation</vt:lpstr>
      <vt:lpstr>TREATMENT</vt:lpstr>
      <vt:lpstr>CHRONIC OTITIS MEDIA </vt:lpstr>
      <vt:lpstr>CLINICAL FEATURES </vt:lpstr>
      <vt:lpstr>INVESTIGATIONS </vt:lpstr>
      <vt:lpstr>MANAGEMENT </vt:lpstr>
      <vt:lpstr>COMPLICATIONS OF OTITIS MEDIA</vt:lpstr>
      <vt:lpstr>FORIENG BODY OF EAR </vt:lpstr>
      <vt:lpstr>MANAGEMENT</vt:lpstr>
      <vt:lpstr>PowerPoint Presentation</vt:lpstr>
      <vt:lpstr>HEARING LOSS</vt:lpstr>
      <vt:lpstr>SENSORINEURAL HEARING LOSS</vt:lpstr>
      <vt:lpstr>CONDUCTIVE HEARING LOSS</vt:lpstr>
      <vt:lpstr>PowerPoint Presentation</vt:lpstr>
      <vt:lpstr>AUDIOMETRY</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user</dc:creator>
  <cp:lastModifiedBy>Microsoft account</cp:lastModifiedBy>
  <cp:revision>112</cp:revision>
  <dcterms:created xsi:type="dcterms:W3CDTF">2023-06-13T06:38:43Z</dcterms:created>
  <dcterms:modified xsi:type="dcterms:W3CDTF">2025-07-21T07:24:06Z</dcterms:modified>
</cp:coreProperties>
</file>