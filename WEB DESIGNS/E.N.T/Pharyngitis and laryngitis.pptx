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1" r:id="rId3"/>
    <p:sldId id="258" r:id="rId4"/>
    <p:sldId id="259" r:id="rId5"/>
    <p:sldId id="330" r:id="rId6"/>
    <p:sldId id="331" r:id="rId7"/>
    <p:sldId id="260" r:id="rId8"/>
    <p:sldId id="261" r:id="rId9"/>
    <p:sldId id="262" r:id="rId10"/>
    <p:sldId id="263" r:id="rId11"/>
    <p:sldId id="264" r:id="rId12"/>
    <p:sldId id="265" r:id="rId13"/>
    <p:sldId id="266" r:id="rId14"/>
    <p:sldId id="267" r:id="rId15"/>
    <p:sldId id="268" r:id="rId16"/>
    <p:sldId id="269" r:id="rId17"/>
    <p:sldId id="272" r:id="rId18"/>
    <p:sldId id="273" r:id="rId19"/>
    <p:sldId id="274" r:id="rId20"/>
    <p:sldId id="275" r:id="rId21"/>
    <p:sldId id="276" r:id="rId22"/>
    <p:sldId id="277" r:id="rId23"/>
    <p:sldId id="278" r:id="rId24"/>
    <p:sldId id="279" r:id="rId25"/>
    <p:sldId id="298" r:id="rId26"/>
    <p:sldId id="280" r:id="rId27"/>
    <p:sldId id="281" r:id="rId28"/>
    <p:sldId id="282" r:id="rId29"/>
    <p:sldId id="290" r:id="rId30"/>
    <p:sldId id="283" r:id="rId31"/>
    <p:sldId id="284" r:id="rId32"/>
    <p:sldId id="288" r:id="rId33"/>
    <p:sldId id="332" r:id="rId34"/>
    <p:sldId id="287" r:id="rId35"/>
    <p:sldId id="289" r:id="rId36"/>
    <p:sldId id="299" r:id="rId37"/>
    <p:sldId id="300" r:id="rId38"/>
    <p:sldId id="301" r:id="rId39"/>
    <p:sldId id="302" r:id="rId40"/>
    <p:sldId id="303" r:id="rId41"/>
    <p:sldId id="304" r:id="rId42"/>
    <p:sldId id="305" r:id="rId43"/>
    <p:sldId id="306" r:id="rId44"/>
    <p:sldId id="307" r:id="rId45"/>
    <p:sldId id="308" r:id="rId46"/>
    <p:sldId id="309" r:id="rId47"/>
    <p:sldId id="311" r:id="rId48"/>
    <p:sldId id="312" r:id="rId49"/>
    <p:sldId id="313" r:id="rId50"/>
    <p:sldId id="314" r:id="rId51"/>
    <p:sldId id="315" r:id="rId52"/>
    <p:sldId id="316" r:id="rId53"/>
    <p:sldId id="333" r:id="rId54"/>
    <p:sldId id="310" r:id="rId55"/>
    <p:sldId id="317" r:id="rId56"/>
    <p:sldId id="318" r:id="rId57"/>
    <p:sldId id="319" r:id="rId58"/>
    <p:sldId id="320" r:id="rId59"/>
    <p:sldId id="322" r:id="rId60"/>
    <p:sldId id="323" r:id="rId61"/>
    <p:sldId id="324" r:id="rId62"/>
    <p:sldId id="325" r:id="rId63"/>
    <p:sldId id="326" r:id="rId64"/>
    <p:sldId id="285" r:id="rId65"/>
    <p:sldId id="286" r:id="rId66"/>
    <p:sldId id="291" r:id="rId67"/>
    <p:sldId id="292" r:id="rId68"/>
    <p:sldId id="329" r:id="rId69"/>
    <p:sldId id="327" r:id="rId70"/>
    <p:sldId id="328" r:id="rId71"/>
    <p:sldId id="293" r:id="rId72"/>
    <p:sldId id="294" r:id="rId73"/>
    <p:sldId id="295" r:id="rId74"/>
    <p:sldId id="296" r:id="rId75"/>
    <p:sldId id="297" r:id="rId76"/>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400" y="3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6 Triángulo isósceles"/>
          <p:cNvSpPr/>
          <p:nvPr/>
        </p:nvSpPr>
        <p:spPr>
          <a:xfrm rot="16200000">
            <a:off x="7554353" y="5254283"/>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Título"/>
          <p:cNvSpPr>
            <a:spLocks noGrp="1"/>
          </p:cNvSpPr>
          <p:nvPr>
            <p:ph type="ctrTitle"/>
          </p:nvPr>
        </p:nvSpPr>
        <p:spPr>
          <a:xfrm>
            <a:off x="540544" y="776288"/>
            <a:ext cx="8062912" cy="1470025"/>
          </a:xfrm>
        </p:spPr>
        <p:txBody>
          <a:bodyPr anchor="b">
            <a:normAutofit/>
          </a:bodyPr>
          <a:lstStyle>
            <a:lvl1pPr algn="r">
              <a:defRPr sz="4400"/>
            </a:lvl1pPr>
          </a:lstStyle>
          <a:p>
            <a:r>
              <a:rPr kumimoji="0" lang="es-ES"/>
              <a:t>Haga clic para modificar el estilo de título del patrón</a:t>
            </a:r>
            <a:endParaRPr kumimoji="0" lang="en-US"/>
          </a:p>
        </p:txBody>
      </p:sp>
      <p:sp>
        <p:nvSpPr>
          <p:cNvPr id="9" name="8 Subtítulo"/>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a:t>Haga clic para modificar el estilo de subtítulo del patrón</a:t>
            </a:r>
            <a:endParaRPr kumimoji="0" lang="en-US"/>
          </a:p>
        </p:txBody>
      </p:sp>
      <p:sp>
        <p:nvSpPr>
          <p:cNvPr id="28" name="27 Marcador de fecha"/>
          <p:cNvSpPr>
            <a:spLocks noGrp="1"/>
          </p:cNvSpPr>
          <p:nvPr>
            <p:ph type="dt" sz="half" idx="10"/>
          </p:nvPr>
        </p:nvSpPr>
        <p:spPr>
          <a:xfrm>
            <a:off x="1371600" y="6012656"/>
            <a:ext cx="5791200" cy="365125"/>
          </a:xfrm>
        </p:spPr>
        <p:txBody>
          <a:bodyPr tIns="0" bIns="0" anchor="t"/>
          <a:lstStyle>
            <a:lvl1pPr algn="r">
              <a:defRPr sz="1000"/>
            </a:lvl1pPr>
          </a:lstStyle>
          <a:p>
            <a:fld id="{7A847CFC-816F-41D0-AAC0-9BF4FEBC753E}" type="datetimeFigureOut">
              <a:rPr lang="es-ES" smtClean="0"/>
              <a:pPr/>
              <a:t>27/07/2025</a:t>
            </a:fld>
            <a:endParaRPr lang="es-ES"/>
          </a:p>
        </p:txBody>
      </p:sp>
      <p:sp>
        <p:nvSpPr>
          <p:cNvPr id="17" name="16 Marcador de pie de página"/>
          <p:cNvSpPr>
            <a:spLocks noGrp="1"/>
          </p:cNvSpPr>
          <p:nvPr>
            <p:ph type="ftr" sz="quarter" idx="11"/>
          </p:nvPr>
        </p:nvSpPr>
        <p:spPr>
          <a:xfrm>
            <a:off x="1371600" y="5650704"/>
            <a:ext cx="5791200" cy="365125"/>
          </a:xfrm>
        </p:spPr>
        <p:txBody>
          <a:bodyPr tIns="0" bIns="0" anchor="b"/>
          <a:lstStyle>
            <a:lvl1pPr algn="r">
              <a:defRPr sz="1100"/>
            </a:lvl1pPr>
          </a:lstStyle>
          <a:p>
            <a:endParaRPr lang="es-ES"/>
          </a:p>
        </p:txBody>
      </p:sp>
      <p:sp>
        <p:nvSpPr>
          <p:cNvPr id="29" name="28 Marcador de número de diapositiva"/>
          <p:cNvSpPr>
            <a:spLocks noGrp="1"/>
          </p:cNvSpPr>
          <p:nvPr>
            <p:ph type="sldNum" sz="quarter" idx="12"/>
          </p:nvPr>
        </p:nvSpPr>
        <p:spPr>
          <a:xfrm>
            <a:off x="8392247" y="5752307"/>
            <a:ext cx="502920" cy="365125"/>
          </a:xfrm>
        </p:spPr>
        <p:txBody>
          <a:bodyPr anchor="ctr"/>
          <a:lstStyle>
            <a:lvl1pPr algn="ctr">
              <a:defRPr sz="1300">
                <a:solidFill>
                  <a:srgbClr val="FFFFFF"/>
                </a:solidFill>
              </a:defRPr>
            </a:lvl1pPr>
          </a:lstStyle>
          <a:p>
            <a:fld id="{132FADFE-3B8F-471C-ABF0-DBC7717ECBBC}" type="slidenum">
              <a:rPr lang="es-ES" smtClean="0"/>
              <a:pPr/>
              <a:t>‹#›</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67494"/>
            <a:ext cx="8229600" cy="1399032"/>
          </a:xfrm>
        </p:spPr>
        <p:txBody>
          <a:bodyPr/>
          <a:lstStyle/>
          <a:p>
            <a:r>
              <a:rPr kumimoji="0" lang="es-ES"/>
              <a:t>Haga clic para modificar el estilo de título del patrón</a:t>
            </a:r>
            <a:endParaRPr kumimoji="0" lang="en-US"/>
          </a:p>
        </p:txBody>
      </p:sp>
      <p:sp>
        <p:nvSpPr>
          <p:cNvPr id="3" name="2 Marcador de contenido"/>
          <p:cNvSpPr>
            <a:spLocks noGrp="1"/>
          </p:cNvSpPr>
          <p:nvPr>
            <p:ph idx="1"/>
          </p:nvPr>
        </p:nvSpPr>
        <p:spPr>
          <a:xfrm>
            <a:off x="457200" y="1882808"/>
            <a:ext cx="8229600" cy="4572000"/>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a:xfrm>
            <a:off x="4791456" y="6480048"/>
            <a:ext cx="2133600" cy="301752"/>
          </a:xfrm>
        </p:spPr>
        <p:txBody>
          <a:bodyPr/>
          <a:lstStyle/>
          <a:p>
            <a:fld id="{7A847CFC-816F-41D0-AAC0-9BF4FEBC753E}" type="datetimeFigureOut">
              <a:rPr lang="es-ES" smtClean="0"/>
              <a:pPr/>
              <a:t>27/07/2025</a:t>
            </a:fld>
            <a:endParaRPr lang="es-ES"/>
          </a:p>
        </p:txBody>
      </p:sp>
      <p:sp>
        <p:nvSpPr>
          <p:cNvPr id="5" name="4 Marcador de pie de página"/>
          <p:cNvSpPr>
            <a:spLocks noGrp="1"/>
          </p:cNvSpPr>
          <p:nvPr>
            <p:ph type="ftr" sz="quarter" idx="11"/>
          </p:nvPr>
        </p:nvSpPr>
        <p:spPr>
          <a:xfrm>
            <a:off x="457200" y="6480969"/>
            <a:ext cx="4260056" cy="300831"/>
          </a:xfrm>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2">
        <a:schemeClr val="bg1"/>
      </p:bgRef>
    </p:bg>
    <p:spTree>
      <p:nvGrpSpPr>
        <p:cNvPr id="1" name=""/>
        <p:cNvGrpSpPr/>
        <p:nvPr/>
      </p:nvGrpSpPr>
      <p:grpSpPr>
        <a:xfrm>
          <a:off x="0" y="0"/>
          <a:ext cx="0" cy="0"/>
          <a:chOff x="0" y="0"/>
          <a:chExt cx="0" cy="0"/>
        </a:xfrm>
      </p:grpSpPr>
      <p:sp>
        <p:nvSpPr>
          <p:cNvPr id="9" name="8 Triángulo rectángulo"/>
          <p:cNvSpPr/>
          <p:nvPr/>
        </p:nvSpPr>
        <p:spPr>
          <a:xfrm flipV="1">
            <a:off x="7034" y="7034"/>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algn="ctr" defTabSz="914400" rtl="0" eaLnBrk="1" latinLnBrk="0" hangingPunct="1"/>
            <a:endParaRPr kumimoji="0" lang="en-US" sz="1800" kern="1200">
              <a:solidFill>
                <a:schemeClr val="lt1"/>
              </a:solidFill>
              <a:latin typeface="+mn-lt"/>
              <a:ea typeface="+mn-ea"/>
              <a:cs typeface="+mn-cs"/>
            </a:endParaRPr>
          </a:p>
        </p:txBody>
      </p:sp>
      <p:sp>
        <p:nvSpPr>
          <p:cNvPr id="8" name="7 Triángulo isósceles"/>
          <p:cNvSpPr/>
          <p:nvPr/>
        </p:nvSpPr>
        <p:spPr>
          <a:xfrm rot="5400000" flipV="1">
            <a:off x="7554353" y="309490"/>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 name="3 Marcador de fecha"/>
          <p:cNvSpPr>
            <a:spLocks noGrp="1"/>
          </p:cNvSpPr>
          <p:nvPr>
            <p:ph type="dt" sz="half" idx="10"/>
          </p:nvPr>
        </p:nvSpPr>
        <p:spPr>
          <a:xfrm>
            <a:off x="6955632" y="6477000"/>
            <a:ext cx="2133600" cy="304800"/>
          </a:xfrm>
        </p:spPr>
        <p:txBody>
          <a:bodyPr/>
          <a:lstStyle/>
          <a:p>
            <a:fld id="{7A847CFC-816F-41D0-AAC0-9BF4FEBC753E}" type="datetimeFigureOut">
              <a:rPr lang="es-ES" smtClean="0"/>
              <a:pPr/>
              <a:t>27/07/2025</a:t>
            </a:fld>
            <a:endParaRPr lang="es-ES"/>
          </a:p>
        </p:txBody>
      </p:sp>
      <p:sp>
        <p:nvSpPr>
          <p:cNvPr id="5" name="4 Marcador de pie de página"/>
          <p:cNvSpPr>
            <a:spLocks noGrp="1"/>
          </p:cNvSpPr>
          <p:nvPr>
            <p:ph type="ftr" sz="quarter" idx="11"/>
          </p:nvPr>
        </p:nvSpPr>
        <p:spPr>
          <a:xfrm>
            <a:off x="2619376" y="6480969"/>
            <a:ext cx="4260056" cy="300831"/>
          </a:xfrm>
        </p:spPr>
        <p:txBody>
          <a:bodyPr/>
          <a:lstStyle/>
          <a:p>
            <a:endParaRPr lang="es-ES"/>
          </a:p>
        </p:txBody>
      </p:sp>
      <p:sp>
        <p:nvSpPr>
          <p:cNvPr id="6" name="5 Marcador de número de diapositiva"/>
          <p:cNvSpPr>
            <a:spLocks noGrp="1"/>
          </p:cNvSpPr>
          <p:nvPr>
            <p:ph type="sldNum" sz="quarter" idx="12"/>
          </p:nvPr>
        </p:nvSpPr>
        <p:spPr>
          <a:xfrm>
            <a:off x="8451056" y="809624"/>
            <a:ext cx="502920" cy="300831"/>
          </a:xfrm>
        </p:spPr>
        <p:txBody>
          <a:bodyPr/>
          <a:lstStyle/>
          <a:p>
            <a:fld id="{132FADFE-3B8F-471C-ABF0-DBC7717ECBBC}" type="slidenum">
              <a:rPr lang="es-ES" smtClean="0"/>
              <a:pPr/>
              <a:t>‹#›</a:t>
            </a:fld>
            <a:endParaRPr lang="es-ES"/>
          </a:p>
        </p:txBody>
      </p:sp>
      <p:cxnSp>
        <p:nvCxnSpPr>
          <p:cNvPr id="11" name="10 Conector recto"/>
          <p:cNvCxnSpPr/>
          <p:nvPr/>
        </p:nvCxnSpPr>
        <p:spPr>
          <a:xfrm rot="10800000">
            <a:off x="6468794" y="9381"/>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0" name="9 Conector recto"/>
          <p:cNvCxnSpPr/>
          <p:nvPr/>
        </p:nvCxnSpPr>
        <p:spPr>
          <a:xfrm flipV="1">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1 Título"/>
          <p:cNvSpPr>
            <a:spLocks noGrp="1"/>
          </p:cNvSpPr>
          <p:nvPr>
            <p:ph type="title"/>
          </p:nvPr>
        </p:nvSpPr>
        <p:spPr>
          <a:xfrm>
            <a:off x="381000" y="271464"/>
            <a:ext cx="7239000" cy="1362075"/>
          </a:xfrm>
        </p:spPr>
        <p:txBody>
          <a:bodyPr anchor="ctr"/>
          <a:lstStyle>
            <a:lvl1pPr marL="0" algn="l">
              <a:buNone/>
              <a:defRPr sz="3600" b="1" cap="none" baseline="0"/>
            </a:lvl1pPr>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381000" y="1633536"/>
            <a:ext cx="3886200" cy="2286000"/>
          </a:xfrm>
        </p:spPr>
        <p:txBody>
          <a:bodyPr anchor="t"/>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a:t>Haga clic para modificar el estilo de texto del patrón</a:t>
            </a: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marL="0" algn="l">
              <a:defRPr/>
            </a:lvl1pPr>
          </a:lstStyle>
          <a:p>
            <a:r>
              <a:rPr kumimoji="0" lang="es-ES"/>
              <a:t>Haga clic para modificar el estilo de título del patrón</a:t>
            </a:r>
            <a:endParaRPr kumimoji="0" lang="en-US"/>
          </a:p>
        </p:txBody>
      </p:sp>
      <p:sp>
        <p:nvSpPr>
          <p:cNvPr id="3" name="2 Marcador de contenido"/>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contenido"/>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a:xfrm>
            <a:off x="4791456" y="6480969"/>
            <a:ext cx="2133600" cy="301752"/>
          </a:xfrm>
        </p:spPr>
        <p:txBody>
          <a:bodyPr/>
          <a:lstStyle/>
          <a:p>
            <a:fld id="{7A847CFC-816F-41D0-AAC0-9BF4FEBC753E}" type="datetimeFigureOut">
              <a:rPr lang="es-ES" smtClean="0"/>
              <a:pPr/>
              <a:t>27/07/2025</a:t>
            </a:fld>
            <a:endParaRPr lang="es-ES"/>
          </a:p>
        </p:txBody>
      </p:sp>
      <p:sp>
        <p:nvSpPr>
          <p:cNvPr id="6" name="5 Marcador de pie de página"/>
          <p:cNvSpPr>
            <a:spLocks noGrp="1"/>
          </p:cNvSpPr>
          <p:nvPr>
            <p:ph type="ftr" sz="quarter" idx="11"/>
          </p:nvPr>
        </p:nvSpPr>
        <p:spPr>
          <a:xfrm>
            <a:off x="457200" y="6480969"/>
            <a:ext cx="4260056" cy="301752"/>
          </a:xfrm>
        </p:spPr>
        <p:txBody>
          <a:bodyPr/>
          <a:lstStyle/>
          <a:p>
            <a:endParaRPr lang="es-ES"/>
          </a:p>
        </p:txBody>
      </p:sp>
      <p:sp>
        <p:nvSpPr>
          <p:cNvPr id="7" name="6 Marcador de número de diapositiva"/>
          <p:cNvSpPr>
            <a:spLocks noGrp="1"/>
          </p:cNvSpPr>
          <p:nvPr>
            <p:ph type="sldNum" sz="quarter" idx="12"/>
          </p:nvPr>
        </p:nvSpPr>
        <p:spPr>
          <a:xfrm>
            <a:off x="7589520" y="6480969"/>
            <a:ext cx="502920" cy="301752"/>
          </a:xfrm>
        </p:spPr>
        <p:txBody>
          <a:bodyPr/>
          <a:lstStyle/>
          <a:p>
            <a:fld id="{132FADFE-3B8F-471C-ABF0-DBC7717ECBBC}" type="slidenum">
              <a:rPr lang="es-ES" smtClean="0"/>
              <a:pPr/>
              <a:t>‹#›</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bg>
      <p:bgRef idx="1002">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a:t>Haga clic para modificar el estilo de texto del patrón</a:t>
            </a:r>
          </a:p>
        </p:txBody>
      </p:sp>
      <p:sp>
        <p:nvSpPr>
          <p:cNvPr id="4" name="3 Marcador de texto"/>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a:t>Haga clic para modificar el estilo de texto del patrón</a:t>
            </a:r>
          </a:p>
        </p:txBody>
      </p:sp>
      <p:sp>
        <p:nvSpPr>
          <p:cNvPr id="5" name="4 Marcador de contenido"/>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6" name="5 Marcador de contenido"/>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7" name="6 Marcador de fecha"/>
          <p:cNvSpPr>
            <a:spLocks noGrp="1"/>
          </p:cNvSpPr>
          <p:nvPr>
            <p:ph type="dt" sz="half" idx="10"/>
          </p:nvPr>
        </p:nvSpPr>
        <p:spPr>
          <a:xfrm>
            <a:off x="4791456" y="6480969"/>
            <a:ext cx="2130552" cy="301752"/>
          </a:xfrm>
        </p:spPr>
        <p:txBody>
          <a:bodyPr/>
          <a:lstStyle/>
          <a:p>
            <a:fld id="{7A847CFC-816F-41D0-AAC0-9BF4FEBC753E}" type="datetimeFigureOut">
              <a:rPr lang="es-ES" smtClean="0"/>
              <a:pPr/>
              <a:t>27/07/2025</a:t>
            </a:fld>
            <a:endParaRPr lang="es-ES"/>
          </a:p>
        </p:txBody>
      </p:sp>
      <p:sp>
        <p:nvSpPr>
          <p:cNvPr id="8" name="7 Marcador de pie de página"/>
          <p:cNvSpPr>
            <a:spLocks noGrp="1"/>
          </p:cNvSpPr>
          <p:nvPr>
            <p:ph type="ftr" sz="quarter" idx="11"/>
          </p:nvPr>
        </p:nvSpPr>
        <p:spPr>
          <a:xfrm>
            <a:off x="457200" y="6480969"/>
            <a:ext cx="4261104" cy="301752"/>
          </a:xfrm>
        </p:spPr>
        <p:txBody>
          <a:bodyPr/>
          <a:lstStyle/>
          <a:p>
            <a:endParaRPr lang="es-ES"/>
          </a:p>
        </p:txBody>
      </p:sp>
      <p:sp>
        <p:nvSpPr>
          <p:cNvPr id="9" name="8 Marcador de número de diapositiva"/>
          <p:cNvSpPr>
            <a:spLocks noGrp="1"/>
          </p:cNvSpPr>
          <p:nvPr>
            <p:ph type="sldNum" sz="quarter" idx="12"/>
          </p:nvPr>
        </p:nvSpPr>
        <p:spPr>
          <a:xfrm>
            <a:off x="7589520" y="6483096"/>
            <a:ext cx="502920" cy="301752"/>
          </a:xfrm>
        </p:spPr>
        <p:txBody>
          <a:bodyPr/>
          <a:lstStyle>
            <a:lvl1pPr algn="ctr">
              <a:defRPr/>
            </a:lvl1pPr>
          </a:lstStyle>
          <a:p>
            <a:fld id="{132FADFE-3B8F-471C-ABF0-DBC7717ECBBC}" type="slidenum">
              <a:rPr lang="es-ES" smtClean="0"/>
              <a:pPr/>
              <a:t>‹#›</a:t>
            </a:fld>
            <a:endParaRPr lang="es-ES"/>
          </a:p>
        </p:txBody>
      </p:sp>
    </p:spTree>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b="0"/>
            </a:lvl1pPr>
          </a:lstStyle>
          <a:p>
            <a:r>
              <a:rPr kumimoji="0" lang="es-ES"/>
              <a:t>Haga clic para modificar el estilo de título del patrón</a:t>
            </a:r>
            <a:endParaRPr kumimoji="0" lang="en-US"/>
          </a:p>
        </p:txBody>
      </p:sp>
      <p:sp>
        <p:nvSpPr>
          <p:cNvPr id="3" name="2 Marcador de fecha"/>
          <p:cNvSpPr>
            <a:spLocks noGrp="1"/>
          </p:cNvSpPr>
          <p:nvPr>
            <p:ph type="dt" sz="half" idx="10"/>
          </p:nvPr>
        </p:nvSpPr>
        <p:spPr/>
        <p:txBody>
          <a:bodyPr/>
          <a:lstStyle/>
          <a:p>
            <a:fld id="{7A847CFC-816F-41D0-AAC0-9BF4FEBC753E}" type="datetimeFigureOut">
              <a:rPr lang="es-ES" smtClean="0"/>
              <a:pPr/>
              <a:t>27/07/2025</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a:xfrm>
            <a:off x="4791456" y="6480969"/>
            <a:ext cx="2133600" cy="301752"/>
          </a:xfrm>
        </p:spPr>
        <p:txBody>
          <a:bodyPr/>
          <a:lstStyle/>
          <a:p>
            <a:fld id="{7A847CFC-816F-41D0-AAC0-9BF4FEBC753E}" type="datetimeFigureOut">
              <a:rPr lang="es-ES" smtClean="0"/>
              <a:pPr/>
              <a:t>27/07/2025</a:t>
            </a:fld>
            <a:endParaRPr lang="es-ES"/>
          </a:p>
        </p:txBody>
      </p:sp>
      <p:sp>
        <p:nvSpPr>
          <p:cNvPr id="3" name="2 Marcador de pie de página"/>
          <p:cNvSpPr>
            <a:spLocks noGrp="1"/>
          </p:cNvSpPr>
          <p:nvPr>
            <p:ph type="ftr" sz="quarter" idx="11"/>
          </p:nvPr>
        </p:nvSpPr>
        <p:spPr>
          <a:xfrm>
            <a:off x="457200" y="6481890"/>
            <a:ext cx="4260056" cy="300831"/>
          </a:xfrm>
        </p:spPr>
        <p:txBody>
          <a:bodyPr/>
          <a:lstStyle/>
          <a:p>
            <a:endParaRPr lang="es-ES"/>
          </a:p>
        </p:txBody>
      </p:sp>
      <p:sp>
        <p:nvSpPr>
          <p:cNvPr id="4" name="3 Marcador de número de diapositiva"/>
          <p:cNvSpPr>
            <a:spLocks noGrp="1"/>
          </p:cNvSpPr>
          <p:nvPr>
            <p:ph type="sldNum" sz="quarter" idx="12"/>
          </p:nvPr>
        </p:nvSpPr>
        <p:spPr>
          <a:xfrm>
            <a:off x="7589520" y="6480969"/>
            <a:ext cx="502920" cy="301752"/>
          </a:xfrm>
        </p:spPr>
        <p:txBody>
          <a:bodyPr/>
          <a:lstStyle/>
          <a:p>
            <a:fld id="{132FADFE-3B8F-471C-ABF0-DBC7717ECBBC}" type="slidenum">
              <a:rPr lang="es-ES" smtClean="0"/>
              <a:pPr/>
              <a:t>‹#›</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2">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kumimoji="0" lang="es-ES"/>
              <a:t>Haga clic para modificar el estilo de título del patrón</a:t>
            </a:r>
            <a:endParaRPr kumimoji="0" lang="en-US"/>
          </a:p>
        </p:txBody>
      </p:sp>
      <p:sp>
        <p:nvSpPr>
          <p:cNvPr id="3" name="2 Marcador de texto"/>
          <p:cNvSpPr>
            <a:spLocks noGrp="1"/>
          </p:cNvSpPr>
          <p:nvPr>
            <p:ph type="body" idx="2"/>
          </p:nvPr>
        </p:nvSpPr>
        <p:spPr>
          <a:xfrm>
            <a:off x="1135856" y="367664"/>
            <a:ext cx="2438400" cy="5943600"/>
          </a:xfrm>
        </p:spPr>
        <p:txBody>
          <a:bodyPr anchor="t"/>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es-ES"/>
              <a:t>Haga clic para modificar el estilo de texto del patrón</a:t>
            </a:r>
          </a:p>
        </p:txBody>
      </p:sp>
      <p:sp>
        <p:nvSpPr>
          <p:cNvPr id="4" name="3 Marcador de contenido"/>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a:xfrm>
            <a:off x="6278976" y="6556248"/>
            <a:ext cx="2133600" cy="301752"/>
          </a:xfrm>
        </p:spPr>
        <p:txBody>
          <a:bodyPr/>
          <a:lstStyle>
            <a:lvl1pPr>
              <a:defRPr sz="900"/>
            </a:lvl1pPr>
          </a:lstStyle>
          <a:p>
            <a:fld id="{7A847CFC-816F-41D0-AAC0-9BF4FEBC753E}" type="datetimeFigureOut">
              <a:rPr lang="es-ES" smtClean="0"/>
              <a:pPr/>
              <a:t>27/07/2025</a:t>
            </a:fld>
            <a:endParaRPr lang="es-ES"/>
          </a:p>
        </p:txBody>
      </p:sp>
      <p:sp>
        <p:nvSpPr>
          <p:cNvPr id="6" name="5 Marcador de pie de página"/>
          <p:cNvSpPr>
            <a:spLocks noGrp="1"/>
          </p:cNvSpPr>
          <p:nvPr>
            <p:ph type="ftr" sz="quarter" idx="11"/>
          </p:nvPr>
        </p:nvSpPr>
        <p:spPr>
          <a:xfrm>
            <a:off x="1135856" y="6556248"/>
            <a:ext cx="5143120" cy="301752"/>
          </a:xfrm>
        </p:spPr>
        <p:txBody>
          <a:bodyPr/>
          <a:lstStyle>
            <a:lvl1pPr>
              <a:defRPr sz="900"/>
            </a:lvl1pPr>
          </a:lstStyle>
          <a:p>
            <a:endParaRPr lang="es-ES"/>
          </a:p>
        </p:txBody>
      </p:sp>
      <p:sp>
        <p:nvSpPr>
          <p:cNvPr id="7" name="6 Marcador de número de diapositiva"/>
          <p:cNvSpPr>
            <a:spLocks noGrp="1"/>
          </p:cNvSpPr>
          <p:nvPr>
            <p:ph type="sldNum" sz="quarter" idx="12"/>
          </p:nvPr>
        </p:nvSpPr>
        <p:spPr>
          <a:xfrm>
            <a:off x="8410576" y="6556248"/>
            <a:ext cx="502920" cy="301752"/>
          </a:xfrm>
        </p:spPr>
        <p:txBody>
          <a:bodyPr/>
          <a:lstStyle>
            <a:lvl1pPr>
              <a:defRPr sz="900"/>
            </a:lvl1pPr>
          </a:lstStyle>
          <a:p>
            <a:fld id="{132FADFE-3B8F-471C-ABF0-DBC7717ECBBC}" type="slidenum">
              <a:rPr lang="es-ES" smtClean="0"/>
              <a:pPr/>
              <a:t>‹#›</a:t>
            </a:fld>
            <a:endParaRPr lang="es-ES"/>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2">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219456" y="150896"/>
            <a:ext cx="914400" cy="6400800"/>
          </a:xfrm>
        </p:spPr>
        <p:txBody>
          <a:bodyPr vert="vert270" anchor="b"/>
          <a:lstStyle>
            <a:lvl1pPr marL="0" algn="l">
              <a:buNone/>
              <a:defRPr sz="3000" b="0" cap="all" baseline="0"/>
            </a:lvl1pPr>
          </a:lstStyle>
          <a:p>
            <a:r>
              <a:rPr kumimoji="0" lang="es-ES"/>
              <a:t>Haga clic para modificar el estilo de título del patrón</a:t>
            </a:r>
            <a:endParaRPr kumimoji="0" lang="en-US"/>
          </a:p>
        </p:txBody>
      </p:sp>
      <p:sp>
        <p:nvSpPr>
          <p:cNvPr id="3" name="2 Marcador de posición de imagen"/>
          <p:cNvSpPr>
            <a:spLocks noGrp="1"/>
          </p:cNvSpPr>
          <p:nvPr>
            <p:ph type="pic" idx="1"/>
          </p:nvPr>
        </p:nvSpPr>
        <p:spPr>
          <a:xfrm>
            <a:off x="1138237" y="373966"/>
            <a:ext cx="7333488" cy="5486400"/>
          </a:xfrm>
          <a:solidFill>
            <a:schemeClr val="bg2">
              <a:shade val="50000"/>
            </a:schemeClr>
          </a:solidFill>
        </p:spPr>
        <p:txBody>
          <a:bodyPr/>
          <a:lstStyle>
            <a:lvl1pPr marL="0" indent="0">
              <a:buNone/>
              <a:defRPr sz="3200"/>
            </a:lvl1pPr>
          </a:lstStyle>
          <a:p>
            <a:r>
              <a:rPr kumimoji="0" lang="es-ES"/>
              <a:t>Haga clic en el icono para agregar una imagen</a:t>
            </a:r>
            <a:endParaRPr kumimoji="0" lang="en-US" dirty="0"/>
          </a:p>
        </p:txBody>
      </p:sp>
      <p:sp>
        <p:nvSpPr>
          <p:cNvPr id="4" name="3 Marcador de texto"/>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eaLnBrk="1" latinLnBrk="0" hangingPunct="1"/>
            <a:r>
              <a:rPr kumimoji="0" lang="es-ES"/>
              <a:t>Haga clic para modificar el estilo de texto del patrón</a:t>
            </a:r>
          </a:p>
        </p:txBody>
      </p:sp>
      <p:sp>
        <p:nvSpPr>
          <p:cNvPr id="5" name="4 Marcador de fecha"/>
          <p:cNvSpPr>
            <a:spLocks noGrp="1"/>
          </p:cNvSpPr>
          <p:nvPr>
            <p:ph type="dt" sz="half" idx="10"/>
          </p:nvPr>
        </p:nvSpPr>
        <p:spPr>
          <a:xfrm>
            <a:off x="6108192" y="6556248"/>
            <a:ext cx="2103120" cy="301752"/>
          </a:xfrm>
        </p:spPr>
        <p:txBody>
          <a:bodyPr/>
          <a:lstStyle>
            <a:lvl1pPr>
              <a:defRPr sz="900"/>
            </a:lvl1pPr>
          </a:lstStyle>
          <a:p>
            <a:fld id="{7A847CFC-816F-41D0-AAC0-9BF4FEBC753E}" type="datetimeFigureOut">
              <a:rPr lang="es-ES" smtClean="0"/>
              <a:pPr/>
              <a:t>27/07/2025</a:t>
            </a:fld>
            <a:endParaRPr lang="es-ES"/>
          </a:p>
        </p:txBody>
      </p:sp>
      <p:sp>
        <p:nvSpPr>
          <p:cNvPr id="6" name="5 Marcador de pie de página"/>
          <p:cNvSpPr>
            <a:spLocks noGrp="1"/>
          </p:cNvSpPr>
          <p:nvPr>
            <p:ph type="ftr" sz="quarter" idx="11"/>
          </p:nvPr>
        </p:nvSpPr>
        <p:spPr>
          <a:xfrm>
            <a:off x="1170432" y="6557169"/>
            <a:ext cx="4948072" cy="301752"/>
          </a:xfrm>
        </p:spPr>
        <p:txBody>
          <a:bodyPr/>
          <a:lstStyle>
            <a:lvl1pPr>
              <a:defRPr sz="900"/>
            </a:lvl1pPr>
          </a:lstStyle>
          <a:p>
            <a:endParaRPr lang="es-ES"/>
          </a:p>
        </p:txBody>
      </p:sp>
      <p:sp>
        <p:nvSpPr>
          <p:cNvPr id="7" name="6 Marcador de número de diapositiva"/>
          <p:cNvSpPr>
            <a:spLocks noGrp="1"/>
          </p:cNvSpPr>
          <p:nvPr>
            <p:ph type="sldNum" sz="quarter" idx="12"/>
          </p:nvPr>
        </p:nvSpPr>
        <p:spPr>
          <a:xfrm>
            <a:off x="8217192" y="6556248"/>
            <a:ext cx="365760" cy="301752"/>
          </a:xfrm>
        </p:spPr>
        <p:txBody>
          <a:bodyPr/>
          <a:lstStyle>
            <a:lvl1pPr algn="ctr">
              <a:defRPr sz="900"/>
            </a:lvl1pPr>
          </a:lstStyle>
          <a:p>
            <a:fld id="{132FADFE-3B8F-471C-ABF0-DBC7717ECBBC}" type="slidenum">
              <a:rPr lang="es-ES" smtClean="0"/>
              <a:pPr/>
              <a:t>‹#›</a:t>
            </a:fld>
            <a:endParaRPr lang="es-E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27/07/2025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781800" y="381000"/>
            <a:ext cx="1905000" cy="5486400"/>
          </a:xfrm>
        </p:spPr>
        <p:txBody>
          <a:bodyPr vert="eaVert"/>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a:xfrm>
            <a:off x="457200" y="381000"/>
            <a:ext cx="6248400" cy="5486400"/>
          </a:xfrm>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27/07/2025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10 Triángulo rectángulo"/>
          <p:cNvSpPr/>
          <p:nvPr/>
        </p:nvSpPr>
        <p:spPr>
          <a:xfrm>
            <a:off x="7034" y="14068"/>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8" name="7 Conector recto"/>
          <p:cNvCxnSpPr/>
          <p:nvPr/>
        </p:nvCxnSpPr>
        <p:spPr>
          <a:xfrm>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8 Conector recto"/>
          <p:cNvCxnSpPr/>
          <p:nvPr/>
        </p:nvCxnSpPr>
        <p:spPr>
          <a:xfrm rot="10800000" flipV="1">
            <a:off x="6468794" y="4948410"/>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21 Marcador de título"/>
          <p:cNvSpPr>
            <a:spLocks noGrp="1"/>
          </p:cNvSpPr>
          <p:nvPr>
            <p:ph type="title"/>
          </p:nvPr>
        </p:nvSpPr>
        <p:spPr>
          <a:xfrm>
            <a:off x="457200" y="267494"/>
            <a:ext cx="8229600" cy="1399032"/>
          </a:xfrm>
          <a:prstGeom prst="rect">
            <a:avLst/>
          </a:prstGeom>
        </p:spPr>
        <p:txBody>
          <a:bodyPr vert="horz" anchor="ctr">
            <a:normAutofit/>
          </a:bodyPr>
          <a:lstStyle/>
          <a:p>
            <a:r>
              <a:rPr kumimoji="0" lang="es-ES"/>
              <a:t>Haga clic para modificar el estilo de título del patrón</a:t>
            </a:r>
            <a:endParaRPr kumimoji="0" lang="en-US"/>
          </a:p>
        </p:txBody>
      </p:sp>
      <p:sp>
        <p:nvSpPr>
          <p:cNvPr id="13" name="12 Marcador de texto"/>
          <p:cNvSpPr>
            <a:spLocks noGrp="1"/>
          </p:cNvSpPr>
          <p:nvPr>
            <p:ph type="body" idx="1"/>
          </p:nvPr>
        </p:nvSpPr>
        <p:spPr>
          <a:xfrm>
            <a:off x="457200" y="1882808"/>
            <a:ext cx="8229600" cy="4572000"/>
          </a:xfrm>
          <a:prstGeom prst="rect">
            <a:avLst/>
          </a:prstGeom>
        </p:spPr>
        <p:txBody>
          <a:bodyPr vert="horz" anchor="t">
            <a:normAutofit/>
          </a:bodyPr>
          <a:lstStyle/>
          <a:p>
            <a:pPr lvl="0" eaLnBrk="1" latinLnBrk="0" hangingPunct="1"/>
            <a:r>
              <a:rPr kumimoji="0" lang="es-ES"/>
              <a:t>Haga clic para modificar el estilo de texto del patrón</a:t>
            </a:r>
          </a:p>
          <a:p>
            <a:pPr lvl="1" eaLnBrk="1" latinLnBrk="0" hangingPunct="1"/>
            <a:r>
              <a:rPr kumimoji="0" lang="es-ES"/>
              <a:t>Segundo nivel</a:t>
            </a:r>
          </a:p>
          <a:p>
            <a:pPr lvl="2" eaLnBrk="1" latinLnBrk="0" hangingPunct="1"/>
            <a:r>
              <a:rPr kumimoji="0" lang="es-ES"/>
              <a:t>Tercer nivel</a:t>
            </a:r>
          </a:p>
          <a:p>
            <a:pPr lvl="3" eaLnBrk="1" latinLnBrk="0" hangingPunct="1"/>
            <a:r>
              <a:rPr kumimoji="0" lang="es-ES"/>
              <a:t>Cuarto nivel</a:t>
            </a:r>
          </a:p>
          <a:p>
            <a:pPr lvl="4" eaLnBrk="1" latinLnBrk="0" hangingPunct="1"/>
            <a:r>
              <a:rPr kumimoji="0" lang="es-ES"/>
              <a:t>Quinto nivel</a:t>
            </a:r>
            <a:endParaRPr kumimoji="0" lang="en-US"/>
          </a:p>
        </p:txBody>
      </p:sp>
      <p:sp>
        <p:nvSpPr>
          <p:cNvPr id="14" name="13 Marcador de fecha"/>
          <p:cNvSpPr>
            <a:spLocks noGrp="1"/>
          </p:cNvSpPr>
          <p:nvPr>
            <p:ph type="dt" sz="half" idx="2"/>
          </p:nvPr>
        </p:nvSpPr>
        <p:spPr>
          <a:xfrm>
            <a:off x="4791456" y="6480969"/>
            <a:ext cx="2133600" cy="301752"/>
          </a:xfrm>
          <a:prstGeom prst="rect">
            <a:avLst/>
          </a:prstGeom>
        </p:spPr>
        <p:txBody>
          <a:bodyPr vert="horz" anchor="b"/>
          <a:lstStyle>
            <a:lvl1pPr algn="l" eaLnBrk="1" latinLnBrk="0" hangingPunct="1">
              <a:defRPr kumimoji="0" sz="1000" b="0">
                <a:solidFill>
                  <a:schemeClr val="tx1"/>
                </a:solidFill>
              </a:defRPr>
            </a:lvl1pPr>
          </a:lstStyle>
          <a:p>
            <a:fld id="{7A847CFC-816F-41D0-AAC0-9BF4FEBC753E}" type="datetimeFigureOut">
              <a:rPr lang="es-ES" smtClean="0"/>
              <a:pPr/>
              <a:t>27/07/2025</a:t>
            </a:fld>
            <a:endParaRPr lang="es-ES"/>
          </a:p>
        </p:txBody>
      </p:sp>
      <p:sp>
        <p:nvSpPr>
          <p:cNvPr id="3" name="2 Marcador de pie de página"/>
          <p:cNvSpPr>
            <a:spLocks noGrp="1"/>
          </p:cNvSpPr>
          <p:nvPr>
            <p:ph type="ftr" sz="quarter" idx="3"/>
          </p:nvPr>
        </p:nvSpPr>
        <p:spPr>
          <a:xfrm>
            <a:off x="457200" y="6481890"/>
            <a:ext cx="4260056" cy="300831"/>
          </a:xfrm>
          <a:prstGeom prst="rect">
            <a:avLst/>
          </a:prstGeom>
        </p:spPr>
        <p:txBody>
          <a:bodyPr vert="horz" anchor="b"/>
          <a:lstStyle>
            <a:lvl1pPr algn="r" eaLnBrk="1" latinLnBrk="0" hangingPunct="1">
              <a:defRPr kumimoji="0" sz="1000">
                <a:solidFill>
                  <a:schemeClr val="tx1"/>
                </a:solidFill>
              </a:defRPr>
            </a:lvl1pPr>
          </a:lstStyle>
          <a:p>
            <a:endParaRPr lang="es-ES"/>
          </a:p>
        </p:txBody>
      </p:sp>
      <p:sp>
        <p:nvSpPr>
          <p:cNvPr id="23" name="22 Marcador de número de diapositiva"/>
          <p:cNvSpPr>
            <a:spLocks noGrp="1"/>
          </p:cNvSpPr>
          <p:nvPr>
            <p:ph type="sldNum" sz="quarter" idx="4"/>
          </p:nvPr>
        </p:nvSpPr>
        <p:spPr>
          <a:xfrm>
            <a:off x="7589520" y="6480969"/>
            <a:ext cx="502920" cy="301752"/>
          </a:xfrm>
          <a:prstGeom prst="rect">
            <a:avLst/>
          </a:prstGeom>
        </p:spPr>
        <p:txBody>
          <a:bodyPr vert="horz" anchor="b"/>
          <a:lstStyle>
            <a:lvl1pPr algn="ctr" eaLnBrk="1" latinLnBrk="0" hangingPunct="1">
              <a:defRPr kumimoji="0" sz="1200">
                <a:solidFill>
                  <a:schemeClr val="tx1"/>
                </a:solidFill>
              </a:defRPr>
            </a:lvl1pPr>
          </a:lstStyle>
          <a:p>
            <a:fld id="{132FADFE-3B8F-471C-ABF0-DBC7717ECBBC}" type="slidenum">
              <a:rPr lang="es-ES" smtClean="0"/>
              <a:pPr/>
              <a:t>‹#›</a:t>
            </a:fld>
            <a:endParaRPr lang="es-E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marL="484632" algn="l" rtl="0" eaLnBrk="1" latinLnBrk="0" hangingPunct="1">
        <a:spcBef>
          <a:spcPct val="0"/>
        </a:spcBef>
        <a:buNone/>
        <a:defRPr kumimoji="0" sz="42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latin typeface="+mj-lt"/>
          <a:ea typeface="+mj-ea"/>
          <a:cs typeface="+mj-cs"/>
        </a:defRPr>
      </a:lvl1pPr>
    </p:titleStyle>
    <p:bodyStyle>
      <a:lvl1pPr marL="448056"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822960" indent="-285750" algn="l" rtl="0" eaLnBrk="1" latinLnBrk="0" hangingPunct="1">
        <a:spcBef>
          <a:spcPct val="20000"/>
        </a:spcBef>
        <a:buClr>
          <a:schemeClr val="accent1"/>
        </a:buClr>
        <a:buSzPct val="95000"/>
        <a:buFont typeface="Verdana"/>
        <a:buChar char="›"/>
        <a:defRPr kumimoji="0" sz="2600" kern="1200">
          <a:solidFill>
            <a:schemeClr val="tx1"/>
          </a:solidFill>
          <a:latin typeface="+mn-lt"/>
          <a:ea typeface="+mn-ea"/>
          <a:cs typeface="+mn-cs"/>
        </a:defRPr>
      </a:lvl2pPr>
      <a:lvl3pPr marL="1106424" indent="-228600" algn="l" rtl="0" eaLnBrk="1" latinLnBrk="0" hangingPunct="1">
        <a:spcBef>
          <a:spcPct val="20000"/>
        </a:spcBef>
        <a:buClr>
          <a:schemeClr val="accent1"/>
        </a:buClr>
        <a:buFont typeface="Wingdings 2"/>
        <a:buChar char=""/>
        <a:defRPr kumimoji="0" sz="2400" kern="1200">
          <a:solidFill>
            <a:schemeClr val="tx1"/>
          </a:solidFill>
          <a:latin typeface="+mn-lt"/>
          <a:ea typeface="+mn-ea"/>
          <a:cs typeface="+mn-cs"/>
        </a:defRPr>
      </a:lvl3pPr>
      <a:lvl4pPr marL="1371600" indent="-210312" algn="l" rtl="0" eaLnBrk="1" latinLnBrk="0" hangingPunct="1">
        <a:spcBef>
          <a:spcPct val="20000"/>
        </a:spcBef>
        <a:buClr>
          <a:schemeClr val="accent1"/>
        </a:buClr>
        <a:buFont typeface="Wingdings 2"/>
        <a:buChar char=""/>
        <a:defRPr kumimoji="0" sz="2000" kern="1200">
          <a:solidFill>
            <a:schemeClr val="tx1"/>
          </a:solidFill>
          <a:latin typeface="+mn-lt"/>
          <a:ea typeface="+mn-ea"/>
          <a:cs typeface="+mn-cs"/>
        </a:defRPr>
      </a:lvl4pPr>
      <a:lvl5pPr marL="1600200" indent="-210312" algn="l" rtl="0" eaLnBrk="1" latinLnBrk="0" hangingPunct="1">
        <a:spcBef>
          <a:spcPct val="20000"/>
        </a:spcBef>
        <a:buClr>
          <a:schemeClr val="accent1">
            <a:tint val="75000"/>
          </a:schemeClr>
        </a:buClr>
        <a:buFont typeface="Wingdings 2"/>
        <a:buChar char=""/>
        <a:defRPr kumimoji="0"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slideLayout" Target="../slideLayouts/slideLayout2.xml"/><Relationship Id="rId1" Type="http://schemas.openxmlformats.org/officeDocument/2006/relationships/video" Target="file:///C:\Users\user\Desktop\ORL\Class\CONFERENCIAS\Mis%20conferencias\Larynx\VID-20230717-WA0022.mp4" TargetMode="External"/></Relationships>
</file>

<file path=ppt/slides/_rels/slide6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ORL\Class\CONFERENCIAS\Mis conferencias\Pharynx\images (1).jpg"/>
          <p:cNvPicPr>
            <a:picLocks noChangeAspect="1" noChangeArrowheads="1"/>
          </p:cNvPicPr>
          <p:nvPr/>
        </p:nvPicPr>
        <p:blipFill>
          <a:blip r:embed="rId2"/>
          <a:srcRect/>
          <a:stretch>
            <a:fillRect/>
          </a:stretch>
        </p:blipFill>
        <p:spPr bwMode="auto">
          <a:xfrm>
            <a:off x="714348" y="1000108"/>
            <a:ext cx="8072494" cy="5429288"/>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pPr algn="ctr"/>
            <a:r>
              <a:rPr lang="en-US" dirty="0"/>
              <a:t>Pharyngitis and Laryngitis </a:t>
            </a:r>
          </a:p>
        </p:txBody>
      </p:sp>
      <p:sp>
        <p:nvSpPr>
          <p:cNvPr id="3" name="2 Subtítulo"/>
          <p:cNvSpPr>
            <a:spLocks noGrp="1"/>
          </p:cNvSpPr>
          <p:nvPr>
            <p:ph type="subTitle" idx="1"/>
          </p:nvPr>
        </p:nvSpPr>
        <p:spPr>
          <a:xfrm>
            <a:off x="571472" y="3071810"/>
            <a:ext cx="8062912" cy="2589438"/>
          </a:xfrm>
        </p:spPr>
        <p:txBody>
          <a:bodyPr>
            <a:normAutofit/>
          </a:bodyPr>
          <a:lstStyle/>
          <a:p>
            <a:pPr algn="ctr"/>
            <a:endParaRPr lang="en-US" sz="3200" dirty="0"/>
          </a:p>
          <a:p>
            <a:pPr algn="ctr"/>
            <a:r>
              <a:rPr lang="en-US" altLang="es-DO" sz="3200" dirty="0"/>
              <a:t>ENT Department</a:t>
            </a:r>
          </a:p>
          <a:p>
            <a:pPr algn="ctr"/>
            <a:r>
              <a:rPr lang="en-US" sz="3200" dirty="0"/>
              <a:t>Prepared By: Dr. Natnael ORL Surgeon</a:t>
            </a:r>
          </a:p>
          <a:p>
            <a:pPr algn="ctr"/>
            <a:r>
              <a:rPr lang="en-US" dirty="0"/>
              <a:t>Presented By: Dr Abdisalam </a:t>
            </a:r>
            <a:r>
              <a:rPr lang="en-US" dirty="0" err="1"/>
              <a:t>M.Musa</a:t>
            </a:r>
            <a:r>
              <a:rPr lang="en-US" dirty="0"/>
              <a:t> ENT SHO</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u="sng" dirty="0"/>
              <a:t>Objective</a:t>
            </a:r>
            <a:endParaRPr lang="en-US" dirty="0"/>
          </a:p>
        </p:txBody>
      </p:sp>
      <p:sp>
        <p:nvSpPr>
          <p:cNvPr id="3" name="2 Marcador de contenido"/>
          <p:cNvSpPr>
            <a:spLocks noGrp="1"/>
          </p:cNvSpPr>
          <p:nvPr>
            <p:ph idx="1"/>
          </p:nvPr>
        </p:nvSpPr>
        <p:spPr/>
        <p:txBody>
          <a:bodyPr/>
          <a:lstStyle/>
          <a:p>
            <a:pPr algn="ctr">
              <a:lnSpc>
                <a:spcPct val="80000"/>
              </a:lnSpc>
              <a:buNone/>
            </a:pPr>
            <a:r>
              <a:rPr lang="en-US" sz="3200" b="1" dirty="0"/>
              <a:t>To recognize and treat </a:t>
            </a:r>
          </a:p>
          <a:p>
            <a:pPr algn="ctr">
              <a:lnSpc>
                <a:spcPct val="80000"/>
              </a:lnSpc>
              <a:buNone/>
            </a:pPr>
            <a:r>
              <a:rPr lang="en-US" sz="3200" b="1" dirty="0"/>
              <a:t>	diseases of the pharynx-larynx and their complication.</a:t>
            </a:r>
            <a:endParaRPr lang="en-US"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67494"/>
            <a:ext cx="8229600" cy="1018366"/>
          </a:xfrm>
        </p:spPr>
        <p:txBody>
          <a:bodyPr/>
          <a:lstStyle/>
          <a:p>
            <a:r>
              <a:rPr lang="en-US" u="sng" dirty="0"/>
              <a:t>Pharynx:</a:t>
            </a:r>
            <a:endParaRPr lang="en-US" dirty="0"/>
          </a:p>
        </p:txBody>
      </p:sp>
      <p:sp>
        <p:nvSpPr>
          <p:cNvPr id="3" name="2 Marcador de contenido"/>
          <p:cNvSpPr>
            <a:spLocks noGrp="1"/>
          </p:cNvSpPr>
          <p:nvPr>
            <p:ph idx="1"/>
          </p:nvPr>
        </p:nvSpPr>
        <p:spPr>
          <a:xfrm>
            <a:off x="457200" y="1285860"/>
            <a:ext cx="8229600" cy="5168948"/>
          </a:xfrm>
        </p:spPr>
        <p:txBody>
          <a:bodyPr>
            <a:normAutofit fontScale="77500" lnSpcReduction="20000"/>
          </a:bodyPr>
          <a:lstStyle/>
          <a:p>
            <a:pPr algn="just">
              <a:lnSpc>
                <a:spcPct val="80000"/>
              </a:lnSpc>
              <a:buNone/>
            </a:pPr>
            <a:r>
              <a:rPr lang="en-US" sz="3200" b="1" dirty="0">
                <a:latin typeface="Times New Roman" pitchFamily="18" charset="0"/>
                <a:cs typeface="Times New Roman" pitchFamily="18" charset="0"/>
              </a:rPr>
              <a:t>Comprises three parts.</a:t>
            </a:r>
          </a:p>
          <a:p>
            <a:pPr algn="just">
              <a:lnSpc>
                <a:spcPct val="80000"/>
              </a:lnSpc>
            </a:pPr>
            <a:r>
              <a:rPr lang="en-US" sz="3200" dirty="0">
                <a:latin typeface="Times New Roman" pitchFamily="18" charset="0"/>
                <a:cs typeface="Times New Roman" pitchFamily="18" charset="0"/>
              </a:rPr>
              <a:t>Nasopharynx.</a:t>
            </a:r>
          </a:p>
          <a:p>
            <a:pPr algn="just">
              <a:lnSpc>
                <a:spcPct val="80000"/>
              </a:lnSpc>
            </a:pPr>
            <a:r>
              <a:rPr lang="en-US" sz="3200" dirty="0">
                <a:latin typeface="Times New Roman" pitchFamily="18" charset="0"/>
                <a:cs typeface="Times New Roman" pitchFamily="18" charset="0"/>
              </a:rPr>
              <a:t>Oropharynx.</a:t>
            </a:r>
          </a:p>
          <a:p>
            <a:pPr algn="just">
              <a:lnSpc>
                <a:spcPct val="80000"/>
              </a:lnSpc>
            </a:pPr>
            <a:r>
              <a:rPr lang="en-US" sz="3200" dirty="0">
                <a:latin typeface="Times New Roman" pitchFamily="18" charset="0"/>
                <a:cs typeface="Times New Roman" pitchFamily="18" charset="0"/>
              </a:rPr>
              <a:t>Hypopharynx</a:t>
            </a:r>
          </a:p>
          <a:p>
            <a:pPr algn="just">
              <a:lnSpc>
                <a:spcPct val="80000"/>
              </a:lnSpc>
            </a:pPr>
            <a:endParaRPr lang="en-US" sz="3200" dirty="0">
              <a:latin typeface="Times New Roman" pitchFamily="18" charset="0"/>
              <a:cs typeface="Times New Roman" pitchFamily="18" charset="0"/>
            </a:endParaRPr>
          </a:p>
          <a:p>
            <a:pPr algn="ctr">
              <a:lnSpc>
                <a:spcPct val="80000"/>
              </a:lnSpc>
            </a:pPr>
            <a:endParaRPr lang="en-US" sz="3200" u="sng" dirty="0"/>
          </a:p>
          <a:p>
            <a:pPr algn="ctr">
              <a:lnSpc>
                <a:spcPct val="80000"/>
              </a:lnSpc>
            </a:pPr>
            <a:r>
              <a:rPr lang="en-US" sz="3200" u="sng" dirty="0" err="1"/>
              <a:t>Waldeyer’s</a:t>
            </a:r>
            <a:r>
              <a:rPr lang="en-US" sz="3200" u="sng" dirty="0"/>
              <a:t> ring.</a:t>
            </a:r>
          </a:p>
          <a:p>
            <a:r>
              <a:rPr lang="en-US" sz="3200" dirty="0">
                <a:latin typeface="Times New Roman" pitchFamily="18" charset="0"/>
                <a:cs typeface="Times New Roman" pitchFamily="18" charset="0"/>
              </a:rPr>
              <a:t>Adenoid’s. </a:t>
            </a:r>
            <a:r>
              <a:rPr lang="en-US" dirty="0"/>
              <a:t>(in the midline at the junction of the roof and posterior wall)</a:t>
            </a:r>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Tubal tonsil </a:t>
            </a:r>
            <a:r>
              <a:rPr lang="en-US" dirty="0"/>
              <a:t>on the lateral wall behind the Eustachian tube opening</a:t>
            </a:r>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Palatine tonsil.</a:t>
            </a:r>
            <a:r>
              <a:rPr lang="en-US" dirty="0"/>
              <a:t> In between the anterior and posterior pillars</a:t>
            </a:r>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Lingual tonsil </a:t>
            </a:r>
            <a:r>
              <a:rPr lang="en-US" b="1" dirty="0"/>
              <a:t>Posterior 1/3rd, i.e. </a:t>
            </a:r>
            <a:r>
              <a:rPr lang="en-US" dirty="0"/>
              <a:t>base of tongue</a:t>
            </a:r>
            <a:br>
              <a:rPr lang="en-US" sz="3200" u="sng" dirty="0"/>
            </a:b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8BB4D-B8FD-13CF-2533-445D4056BDB8}"/>
              </a:ext>
            </a:extLst>
          </p:cNvPr>
          <p:cNvSpPr>
            <a:spLocks noGrp="1"/>
          </p:cNvSpPr>
          <p:nvPr>
            <p:ph type="title"/>
          </p:nvPr>
        </p:nvSpPr>
        <p:spPr/>
        <p:txBody>
          <a:bodyPr/>
          <a:lstStyle/>
          <a:p>
            <a:endParaRPr lang="en-UG"/>
          </a:p>
        </p:txBody>
      </p:sp>
      <p:pic>
        <p:nvPicPr>
          <p:cNvPr id="5" name="Content Placeholder 4">
            <a:extLst>
              <a:ext uri="{FF2B5EF4-FFF2-40B4-BE49-F238E27FC236}">
                <a16:creationId xmlns:a16="http://schemas.microsoft.com/office/drawing/2014/main" id="{4A4FD598-3F18-5946-5767-3E89673D29FC}"/>
              </a:ext>
            </a:extLst>
          </p:cNvPr>
          <p:cNvPicPr>
            <a:picLocks noGrp="1" noChangeAspect="1"/>
          </p:cNvPicPr>
          <p:nvPr>
            <p:ph idx="1"/>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933469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CCBA2-F304-A314-D492-D4A275044A19}"/>
              </a:ext>
            </a:extLst>
          </p:cNvPr>
          <p:cNvSpPr>
            <a:spLocks noGrp="1"/>
          </p:cNvSpPr>
          <p:nvPr>
            <p:ph type="title"/>
          </p:nvPr>
        </p:nvSpPr>
        <p:spPr/>
        <p:txBody>
          <a:bodyPr/>
          <a:lstStyle/>
          <a:p>
            <a:endParaRPr lang="en-UG"/>
          </a:p>
        </p:txBody>
      </p:sp>
      <p:pic>
        <p:nvPicPr>
          <p:cNvPr id="5" name="Content Placeholder 4">
            <a:extLst>
              <a:ext uri="{FF2B5EF4-FFF2-40B4-BE49-F238E27FC236}">
                <a16:creationId xmlns:a16="http://schemas.microsoft.com/office/drawing/2014/main" id="{11EF17C9-6D40-EAE5-7F4B-D83849110069}"/>
              </a:ext>
            </a:extLst>
          </p:cNvPr>
          <p:cNvPicPr>
            <a:picLocks noGrp="1" noChangeAspect="1"/>
          </p:cNvPicPr>
          <p:nvPr>
            <p:ph idx="1"/>
          </p:nvPr>
        </p:nvPicPr>
        <p:blipFill>
          <a:blip r:embed="rId2"/>
          <a:stretch>
            <a:fillRect/>
          </a:stretch>
        </p:blipFill>
        <p:spPr>
          <a:xfrm>
            <a:off x="1331640" y="476672"/>
            <a:ext cx="6207710" cy="5661368"/>
          </a:xfrm>
          <a:prstGeom prst="rect">
            <a:avLst/>
          </a:prstGeom>
        </p:spPr>
      </p:pic>
    </p:spTree>
    <p:extLst>
      <p:ext uri="{BB962C8B-B14F-4D97-AF65-F5344CB8AC3E}">
        <p14:creationId xmlns:p14="http://schemas.microsoft.com/office/powerpoint/2010/main" val="1900979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u="sng" dirty="0"/>
              <a:t>Adenoids:</a:t>
            </a:r>
            <a:endParaRPr lang="en-US" dirty="0"/>
          </a:p>
        </p:txBody>
      </p:sp>
      <p:sp>
        <p:nvSpPr>
          <p:cNvPr id="3" name="2 Marcador de contenido"/>
          <p:cNvSpPr>
            <a:spLocks noGrp="1"/>
          </p:cNvSpPr>
          <p:nvPr>
            <p:ph idx="1"/>
          </p:nvPr>
        </p:nvSpPr>
        <p:spPr>
          <a:xfrm>
            <a:off x="214282" y="1285860"/>
            <a:ext cx="6357982" cy="5168948"/>
          </a:xfrm>
        </p:spPr>
        <p:txBody>
          <a:bodyPr>
            <a:normAutofit/>
          </a:bodyPr>
          <a:lstStyle/>
          <a:p>
            <a:pPr>
              <a:lnSpc>
                <a:spcPct val="90000"/>
              </a:lnSpc>
            </a:pPr>
            <a:r>
              <a:rPr lang="en-US" sz="2000" dirty="0"/>
              <a:t>Adenoid hypertrophy is a  common  cause  of  nasal obstruction  in  children.  It  can present as:</a:t>
            </a:r>
          </a:p>
          <a:p>
            <a:pPr>
              <a:lnSpc>
                <a:spcPct val="90000"/>
              </a:lnSpc>
            </a:pPr>
            <a:r>
              <a:rPr lang="en-US" sz="2000" dirty="0"/>
              <a:t> Chronic  or  recurrent  nasal discharge.</a:t>
            </a:r>
          </a:p>
          <a:p>
            <a:pPr>
              <a:lnSpc>
                <a:spcPct val="90000"/>
              </a:lnSpc>
            </a:pPr>
            <a:r>
              <a:rPr lang="en-US" sz="2000" dirty="0"/>
              <a:t> Snoring. </a:t>
            </a:r>
          </a:p>
          <a:p>
            <a:pPr>
              <a:lnSpc>
                <a:spcPct val="90000"/>
              </a:lnSpc>
            </a:pPr>
            <a:r>
              <a:rPr lang="en-US" sz="2000" dirty="0" err="1"/>
              <a:t>Rrecurrent</a:t>
            </a:r>
            <a:r>
              <a:rPr lang="en-US" sz="2000" dirty="0"/>
              <a:t> otitis media or  Eustachian  tube dysfunction</a:t>
            </a:r>
          </a:p>
          <a:p>
            <a:pPr>
              <a:lnSpc>
                <a:spcPct val="90000"/>
              </a:lnSpc>
            </a:pPr>
            <a:r>
              <a:rPr lang="en-US" sz="2000" dirty="0"/>
              <a:t>History  of  mouth  breathing.</a:t>
            </a:r>
          </a:p>
          <a:p>
            <a:pPr>
              <a:lnSpc>
                <a:spcPct val="90000"/>
              </a:lnSpc>
            </a:pPr>
            <a:r>
              <a:rPr lang="en-US" sz="2000" dirty="0" err="1"/>
              <a:t>Hyponasal</a:t>
            </a:r>
            <a:r>
              <a:rPr lang="en-US" sz="2000" dirty="0"/>
              <a:t> voice </a:t>
            </a:r>
          </a:p>
          <a:p>
            <a:pPr>
              <a:lnSpc>
                <a:spcPct val="90000"/>
              </a:lnSpc>
            </a:pPr>
            <a:r>
              <a:rPr lang="en-US" sz="2000" dirty="0"/>
              <a:t>Classic adenoid  </a:t>
            </a:r>
            <a:r>
              <a:rPr lang="en-US" sz="2000" dirty="0" err="1"/>
              <a:t>facies</a:t>
            </a:r>
            <a:r>
              <a:rPr lang="en-US" sz="2000" dirty="0"/>
              <a:t>, characterized  by  an incompetent  lip  seal, a narrow  upper  dental arch, increased anterior  face height, a steep  </a:t>
            </a:r>
            <a:r>
              <a:rPr lang="en-US" sz="2000" dirty="0" err="1"/>
              <a:t>mandibular</a:t>
            </a:r>
            <a:r>
              <a:rPr lang="en-US" sz="2000" dirty="0"/>
              <a:t>  plane  angle,  and a </a:t>
            </a:r>
            <a:r>
              <a:rPr lang="en-US" sz="2000" dirty="0" err="1"/>
              <a:t>retrognathic</a:t>
            </a:r>
            <a:r>
              <a:rPr lang="en-US" sz="2000" dirty="0"/>
              <a:t> mandible.</a:t>
            </a:r>
          </a:p>
          <a:p>
            <a:pPr>
              <a:lnSpc>
                <a:spcPct val="90000"/>
              </a:lnSpc>
            </a:pPr>
            <a:endParaRPr lang="en-US" dirty="0"/>
          </a:p>
        </p:txBody>
      </p:sp>
      <p:pic>
        <p:nvPicPr>
          <p:cNvPr id="2050" name="Picture 2"/>
          <p:cNvPicPr>
            <a:picLocks noChangeAspect="1" noChangeArrowheads="1"/>
          </p:cNvPicPr>
          <p:nvPr/>
        </p:nvPicPr>
        <p:blipFill>
          <a:blip r:embed="rId2"/>
          <a:srcRect/>
          <a:stretch>
            <a:fillRect/>
          </a:stretch>
        </p:blipFill>
        <p:spPr bwMode="auto">
          <a:xfrm>
            <a:off x="6429356" y="0"/>
            <a:ext cx="2714644" cy="68580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a:t>PHARYNGITIS</a:t>
            </a:r>
          </a:p>
        </p:txBody>
      </p:sp>
      <p:sp>
        <p:nvSpPr>
          <p:cNvPr id="5" name="4 Marcador de contenido"/>
          <p:cNvSpPr>
            <a:spLocks noGrp="1"/>
          </p:cNvSpPr>
          <p:nvPr>
            <p:ph idx="1"/>
          </p:nvPr>
        </p:nvSpPr>
        <p:spPr/>
        <p:txBody>
          <a:bodyPr/>
          <a:lstStyle/>
          <a:p>
            <a:r>
              <a:rPr lang="en-US" dirty="0"/>
              <a:t>Conditions of local inflammatory origin in the pharynx are called pharyngitis and we will consider them as a local manifestation of a general infection. It can be acute or chronic.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a:t>Acute pharyngitis</a:t>
            </a:r>
          </a:p>
        </p:txBody>
      </p:sp>
      <p:sp>
        <p:nvSpPr>
          <p:cNvPr id="3" name="2 Marcador de contenido"/>
          <p:cNvSpPr>
            <a:spLocks noGrp="1"/>
          </p:cNvSpPr>
          <p:nvPr>
            <p:ph idx="1"/>
          </p:nvPr>
        </p:nvSpPr>
        <p:spPr/>
        <p:txBody>
          <a:bodyPr/>
          <a:lstStyle/>
          <a:p>
            <a:r>
              <a:rPr lang="en-US" dirty="0"/>
              <a:t>Acute pharyngitis is usually a benign, self-limiting illness with average length of illness lasting for 1 week.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altLang="es-DO" sz="3600" dirty="0"/>
              <a:t>Pharyngitis Etiology</a:t>
            </a:r>
            <a:endParaRPr lang="en-US" sz="3600" dirty="0"/>
          </a:p>
        </p:txBody>
      </p:sp>
      <p:sp>
        <p:nvSpPr>
          <p:cNvPr id="3" name="2 Marcador de contenido"/>
          <p:cNvSpPr>
            <a:spLocks noGrp="1"/>
          </p:cNvSpPr>
          <p:nvPr>
            <p:ph idx="1"/>
          </p:nvPr>
        </p:nvSpPr>
        <p:spPr>
          <a:xfrm>
            <a:off x="457200" y="1882808"/>
            <a:ext cx="8401080" cy="4572000"/>
          </a:xfrm>
        </p:spPr>
        <p:txBody>
          <a:bodyPr>
            <a:normAutofit fontScale="92500" lnSpcReduction="20000"/>
          </a:bodyPr>
          <a:lstStyle/>
          <a:p>
            <a:pPr marL="0" indent="0">
              <a:buFont typeface="Wingdings" pitchFamily="2" charset="2"/>
              <a:buNone/>
              <a:defRPr/>
            </a:pPr>
            <a:r>
              <a:rPr lang="es-DO" sz="3200" dirty="0"/>
              <a:t>Bacterias:                   </a:t>
            </a:r>
            <a:r>
              <a:rPr lang="es-DO" sz="3200" dirty="0" err="1"/>
              <a:t>Viruses</a:t>
            </a:r>
            <a:r>
              <a:rPr lang="es-DO" sz="3200" dirty="0"/>
              <a:t>:         </a:t>
            </a:r>
          </a:p>
          <a:p>
            <a:pPr marL="0" indent="0">
              <a:buFont typeface="Wingdings" pitchFamily="2" charset="2"/>
              <a:buNone/>
              <a:defRPr/>
            </a:pPr>
            <a:r>
              <a:rPr lang="es-DO" sz="3200" dirty="0"/>
              <a:t> -</a:t>
            </a:r>
            <a:r>
              <a:rPr lang="es-DO" sz="3200" dirty="0" err="1"/>
              <a:t>Group</a:t>
            </a:r>
            <a:r>
              <a:rPr lang="es-DO" sz="3200" dirty="0"/>
              <a:t> A </a:t>
            </a:r>
            <a:r>
              <a:rPr lang="es-DO" sz="3200" dirty="0" err="1"/>
              <a:t>Strept</a:t>
            </a:r>
            <a:r>
              <a:rPr lang="es-DO" sz="3200" dirty="0"/>
              <a:t>.     -</a:t>
            </a:r>
            <a:r>
              <a:rPr lang="es-DO" sz="3200" dirty="0" err="1"/>
              <a:t>Rhinovirus</a:t>
            </a:r>
            <a:endParaRPr lang="es-DO" sz="3200" dirty="0"/>
          </a:p>
          <a:p>
            <a:pPr marL="0" indent="0">
              <a:buFont typeface="Wingdings" pitchFamily="2" charset="2"/>
              <a:buNone/>
              <a:defRPr/>
            </a:pPr>
            <a:r>
              <a:rPr lang="es-DO" sz="3200" dirty="0"/>
              <a:t> -</a:t>
            </a:r>
            <a:r>
              <a:rPr lang="es-DO" sz="3200" dirty="0" err="1"/>
              <a:t>Sp.</a:t>
            </a:r>
            <a:r>
              <a:rPr lang="es-DO" sz="3200" dirty="0"/>
              <a:t> </a:t>
            </a:r>
            <a:r>
              <a:rPr lang="es-DO" sz="3200" dirty="0" err="1"/>
              <a:t>Strept</a:t>
            </a:r>
            <a:r>
              <a:rPr lang="es-DO" sz="3200" dirty="0"/>
              <a:t>               -Coronavirus</a:t>
            </a:r>
          </a:p>
          <a:p>
            <a:pPr marL="0" indent="0">
              <a:buFont typeface="Wingdings" pitchFamily="2" charset="2"/>
              <a:buNone/>
              <a:defRPr/>
            </a:pPr>
            <a:r>
              <a:rPr lang="es-DO" sz="3200" dirty="0"/>
              <a:t> -</a:t>
            </a:r>
            <a:r>
              <a:rPr lang="es-DO" sz="3200" dirty="0" err="1"/>
              <a:t>Mycoplasm</a:t>
            </a:r>
            <a:r>
              <a:rPr lang="es-DO" sz="3200" dirty="0"/>
              <a:t>           -Adenovirus</a:t>
            </a:r>
          </a:p>
          <a:p>
            <a:pPr marL="0" indent="0">
              <a:buFont typeface="Wingdings" pitchFamily="2" charset="2"/>
              <a:buNone/>
              <a:defRPr/>
            </a:pPr>
            <a:r>
              <a:rPr lang="es-DO" sz="3200" dirty="0"/>
              <a:t> -</a:t>
            </a:r>
            <a:r>
              <a:rPr lang="es-DO" sz="3200" dirty="0" err="1"/>
              <a:t>Corynae</a:t>
            </a:r>
            <a:r>
              <a:rPr lang="es-DO" sz="3200" dirty="0"/>
              <a:t> </a:t>
            </a:r>
            <a:r>
              <a:rPr lang="es-DO" sz="3200" dirty="0" err="1"/>
              <a:t>Bact</a:t>
            </a:r>
            <a:r>
              <a:rPr lang="es-DO" sz="3200" dirty="0"/>
              <a:t>.      -HIV</a:t>
            </a:r>
          </a:p>
          <a:p>
            <a:pPr marL="0" indent="0">
              <a:buFont typeface="Wingdings" pitchFamily="2" charset="2"/>
              <a:buNone/>
              <a:defRPr/>
            </a:pPr>
            <a:r>
              <a:rPr lang="es-DO" sz="3200" dirty="0"/>
              <a:t> -</a:t>
            </a:r>
            <a:r>
              <a:rPr lang="es-DO" sz="3200" dirty="0" err="1"/>
              <a:t>Diphteriae</a:t>
            </a:r>
            <a:r>
              <a:rPr lang="es-DO" sz="3200" dirty="0"/>
              <a:t>             -EBV</a:t>
            </a:r>
          </a:p>
          <a:p>
            <a:pPr marL="0" indent="0">
              <a:buFont typeface="Wingdings" pitchFamily="2" charset="2"/>
              <a:buNone/>
              <a:defRPr/>
            </a:pPr>
            <a:r>
              <a:rPr lang="es-DO" sz="3200" dirty="0"/>
              <a:t> - S. </a:t>
            </a:r>
            <a:r>
              <a:rPr lang="es-DO" sz="3200" dirty="0" err="1"/>
              <a:t>Gonorrheae</a:t>
            </a:r>
            <a:r>
              <a:rPr lang="es-DO" sz="3200" dirty="0"/>
              <a:t>     -HSV</a:t>
            </a:r>
          </a:p>
          <a:p>
            <a:pPr marL="0" indent="0">
              <a:buFont typeface="Wingdings" pitchFamily="2" charset="2"/>
              <a:buNone/>
              <a:defRPr/>
            </a:pPr>
            <a:r>
              <a:rPr lang="es-DO" sz="3200" dirty="0"/>
              <a:t> -Toxoplasma           -Enterovirus</a:t>
            </a:r>
          </a:p>
          <a:p>
            <a:pPr marL="0" indent="0">
              <a:buFont typeface="Wingdings" pitchFamily="2" charset="2"/>
              <a:buNone/>
              <a:defRPr/>
            </a:pPr>
            <a:r>
              <a:rPr lang="es-DO" sz="3200" dirty="0"/>
              <a:t>                                                                                                                   \                              </a:t>
            </a:r>
            <a:endParaRPr lang="en-US" dirty="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67494"/>
            <a:ext cx="8229600" cy="1161242"/>
          </a:xfrm>
        </p:spPr>
        <p:txBody>
          <a:bodyPr/>
          <a:lstStyle/>
          <a:p>
            <a:r>
              <a:rPr lang="es-DO" dirty="0"/>
              <a:t>Viral Pharyngitis</a:t>
            </a:r>
            <a:endParaRPr lang="en-US" dirty="0"/>
          </a:p>
        </p:txBody>
      </p:sp>
      <p:sp>
        <p:nvSpPr>
          <p:cNvPr id="3" name="2 Marcador de contenido"/>
          <p:cNvSpPr>
            <a:spLocks noGrp="1"/>
          </p:cNvSpPr>
          <p:nvPr>
            <p:ph idx="1"/>
          </p:nvPr>
        </p:nvSpPr>
        <p:spPr>
          <a:xfrm>
            <a:off x="457200" y="1357298"/>
            <a:ext cx="8229600" cy="5097510"/>
          </a:xfrm>
        </p:spPr>
        <p:txBody>
          <a:bodyPr>
            <a:normAutofit/>
          </a:bodyPr>
          <a:lstStyle/>
          <a:p>
            <a:pPr>
              <a:lnSpc>
                <a:spcPct val="90000"/>
              </a:lnSpc>
              <a:defRPr/>
            </a:pPr>
            <a:r>
              <a:rPr lang="en-US" altLang="es-DO" sz="2400" u="sng" dirty="0">
                <a:latin typeface="Times New Roman" pitchFamily="18" charset="0"/>
                <a:cs typeface="Times New Roman" pitchFamily="18" charset="0"/>
              </a:rPr>
              <a:t>Physical Exam</a:t>
            </a:r>
          </a:p>
          <a:p>
            <a:pPr lvl="1">
              <a:lnSpc>
                <a:spcPct val="90000"/>
              </a:lnSpc>
              <a:defRPr/>
            </a:pPr>
            <a:r>
              <a:rPr lang="en-US" altLang="es-DO" sz="2400" dirty="0">
                <a:latin typeface="Times New Roman" pitchFamily="18" charset="0"/>
                <a:cs typeface="Times New Roman" pitchFamily="18" charset="0"/>
              </a:rPr>
              <a:t>VIRAL</a:t>
            </a:r>
          </a:p>
          <a:p>
            <a:pPr lvl="2">
              <a:lnSpc>
                <a:spcPct val="90000"/>
              </a:lnSpc>
              <a:buSzTx/>
              <a:buFont typeface="Wingdings" pitchFamily="2" charset="2"/>
              <a:buChar char="Ø"/>
              <a:defRPr/>
            </a:pPr>
            <a:r>
              <a:rPr lang="en-US" altLang="es-DO" u="sng" dirty="0">
                <a:latin typeface="Times New Roman" pitchFamily="18" charset="0"/>
                <a:cs typeface="Times New Roman" pitchFamily="18" charset="0"/>
              </a:rPr>
              <a:t>EBV</a:t>
            </a:r>
            <a:r>
              <a:rPr lang="en-US" altLang="es-DO" dirty="0">
                <a:latin typeface="Times New Roman" pitchFamily="18" charset="0"/>
                <a:cs typeface="Times New Roman" pitchFamily="18" charset="0"/>
              </a:rPr>
              <a:t> – </a:t>
            </a:r>
            <a:r>
              <a:rPr lang="en-US" altLang="es-DO" u="sng" dirty="0">
                <a:latin typeface="Times New Roman" pitchFamily="18" charset="0"/>
                <a:cs typeface="Times New Roman" pitchFamily="18" charset="0"/>
              </a:rPr>
              <a:t>White </a:t>
            </a:r>
            <a:r>
              <a:rPr lang="en-US" altLang="es-DO" u="sng" dirty="0" err="1">
                <a:latin typeface="Times New Roman" pitchFamily="18" charset="0"/>
                <a:cs typeface="Times New Roman" pitchFamily="18" charset="0"/>
              </a:rPr>
              <a:t>exudate</a:t>
            </a:r>
            <a:r>
              <a:rPr lang="en-US" altLang="es-DO" dirty="0">
                <a:latin typeface="Times New Roman" pitchFamily="18" charset="0"/>
                <a:cs typeface="Times New Roman" pitchFamily="18" charset="0"/>
              </a:rPr>
              <a:t> covering erythematous pharynx and tonsils, </a:t>
            </a:r>
            <a:r>
              <a:rPr lang="en-US" altLang="es-DO" u="sng" dirty="0">
                <a:latin typeface="Times New Roman" pitchFamily="18" charset="0"/>
                <a:cs typeface="Times New Roman" pitchFamily="18" charset="0"/>
              </a:rPr>
              <a:t>cervical </a:t>
            </a:r>
            <a:r>
              <a:rPr lang="en-US" altLang="es-DO" u="sng" dirty="0" err="1">
                <a:latin typeface="Times New Roman" pitchFamily="18" charset="0"/>
                <a:cs typeface="Times New Roman" pitchFamily="18" charset="0"/>
              </a:rPr>
              <a:t>adenopathy</a:t>
            </a:r>
            <a:r>
              <a:rPr lang="en-US" altLang="es-DO" dirty="0">
                <a:latin typeface="Times New Roman" pitchFamily="18" charset="0"/>
                <a:cs typeface="Times New Roman" pitchFamily="18" charset="0"/>
              </a:rPr>
              <a:t>,  </a:t>
            </a:r>
          </a:p>
          <a:p>
            <a:pPr lvl="3">
              <a:lnSpc>
                <a:spcPct val="90000"/>
              </a:lnSpc>
              <a:buFont typeface="Wingdings" pitchFamily="2" charset="2"/>
              <a:buChar char="Ø"/>
              <a:defRPr/>
            </a:pPr>
            <a:r>
              <a:rPr lang="en-US" altLang="es-DO" sz="2400" dirty="0" err="1">
                <a:latin typeface="Times New Roman" pitchFamily="18" charset="0"/>
                <a:cs typeface="Times New Roman" pitchFamily="18" charset="0"/>
              </a:rPr>
              <a:t>Subacute</a:t>
            </a:r>
            <a:r>
              <a:rPr lang="en-US" altLang="es-DO" sz="2400" dirty="0">
                <a:latin typeface="Times New Roman" pitchFamily="18" charset="0"/>
                <a:cs typeface="Times New Roman" pitchFamily="18" charset="0"/>
              </a:rPr>
              <a:t>/chronic symptoms (fatigue/</a:t>
            </a:r>
            <a:r>
              <a:rPr lang="en-US" altLang="es-DO" sz="2400" dirty="0" err="1">
                <a:latin typeface="Times New Roman" pitchFamily="18" charset="0"/>
                <a:cs typeface="Times New Roman" pitchFamily="18" charset="0"/>
              </a:rPr>
              <a:t>myalgias</a:t>
            </a:r>
            <a:r>
              <a:rPr lang="en-US" altLang="es-DO" sz="2400" dirty="0">
                <a:latin typeface="Times New Roman" pitchFamily="18" charset="0"/>
                <a:cs typeface="Times New Roman" pitchFamily="18" charset="0"/>
              </a:rPr>
              <a:t>)</a:t>
            </a:r>
          </a:p>
          <a:p>
            <a:pPr lvl="3">
              <a:lnSpc>
                <a:spcPct val="90000"/>
              </a:lnSpc>
              <a:buFont typeface="Wingdings" pitchFamily="2" charset="2"/>
              <a:buChar char="Ø"/>
              <a:defRPr/>
            </a:pPr>
            <a:r>
              <a:rPr lang="en-US" altLang="es-DO" sz="2400" dirty="0">
                <a:latin typeface="Times New Roman" pitchFamily="18" charset="0"/>
                <a:cs typeface="Times New Roman" pitchFamily="18" charset="0"/>
              </a:rPr>
              <a:t> transmitted via infected saliva</a:t>
            </a:r>
          </a:p>
          <a:p>
            <a:pPr lvl="2">
              <a:lnSpc>
                <a:spcPct val="90000"/>
              </a:lnSpc>
              <a:buSzTx/>
              <a:buFont typeface="Wingdings" pitchFamily="2" charset="2"/>
              <a:buChar char="Ø"/>
              <a:defRPr/>
            </a:pPr>
            <a:endParaRPr lang="en-US" altLang="es-DO" dirty="0">
              <a:latin typeface="Times New Roman" pitchFamily="18" charset="0"/>
              <a:cs typeface="Times New Roman" pitchFamily="18" charset="0"/>
            </a:endParaRPr>
          </a:p>
          <a:p>
            <a:pPr lvl="2">
              <a:lnSpc>
                <a:spcPct val="90000"/>
              </a:lnSpc>
              <a:buSzTx/>
              <a:buFont typeface="Wingdings" pitchFamily="2" charset="2"/>
              <a:buChar char="Ø"/>
              <a:defRPr/>
            </a:pPr>
            <a:r>
              <a:rPr lang="en-US" altLang="es-DO" u="sng" dirty="0">
                <a:latin typeface="Times New Roman" pitchFamily="18" charset="0"/>
                <a:cs typeface="Times New Roman" pitchFamily="18" charset="0"/>
              </a:rPr>
              <a:t>Adenovirus/Coxsackie</a:t>
            </a:r>
            <a:r>
              <a:rPr lang="en-US" altLang="es-DO" dirty="0">
                <a:latin typeface="Times New Roman" pitchFamily="18" charset="0"/>
                <a:cs typeface="Times New Roman" pitchFamily="18" charset="0"/>
              </a:rPr>
              <a:t> – vesicles/ulcerative lesions present on pharynx or posterior soft palate </a:t>
            </a:r>
          </a:p>
          <a:p>
            <a:pPr lvl="3">
              <a:lnSpc>
                <a:spcPct val="90000"/>
              </a:lnSpc>
              <a:buFont typeface="Wingdings" pitchFamily="2" charset="2"/>
              <a:buChar char="Ø"/>
              <a:defRPr/>
            </a:pPr>
            <a:r>
              <a:rPr lang="en-US" altLang="es-DO" sz="2400" dirty="0">
                <a:latin typeface="Times New Roman" pitchFamily="18" charset="0"/>
                <a:cs typeface="Times New Roman" pitchFamily="18" charset="0"/>
              </a:rPr>
              <a:t>Also look for conjunctivitis</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67494"/>
            <a:ext cx="8401080" cy="1399032"/>
          </a:xfrm>
        </p:spPr>
        <p:txBody>
          <a:bodyPr>
            <a:normAutofit/>
          </a:bodyPr>
          <a:lstStyle/>
          <a:p>
            <a:r>
              <a:rPr lang="en-US" altLang="es-DO" sz="3200" dirty="0" err="1">
                <a:latin typeface="Times New Roman" pitchFamily="18" charset="0"/>
                <a:cs typeface="Times New Roman" pitchFamily="18" charset="0"/>
              </a:rPr>
              <a:t>Virals</a:t>
            </a:r>
            <a:r>
              <a:rPr lang="en-US" altLang="es-DO" sz="3200" dirty="0">
                <a:latin typeface="Times New Roman" pitchFamily="18" charset="0"/>
                <a:cs typeface="Times New Roman" pitchFamily="18" charset="0"/>
              </a:rPr>
              <a:t> Pharyngitis Infectious Mononucleosis</a:t>
            </a:r>
            <a:endParaRPr lang="en-US" sz="3200" dirty="0"/>
          </a:p>
        </p:txBody>
      </p:sp>
      <p:pic>
        <p:nvPicPr>
          <p:cNvPr id="4" name="Picture 2" descr="C:\Users\user\Desktop\ORL\Class\CONFERENCIAS\Mis conferencias\Pharynx\download.jpg"/>
          <p:cNvPicPr>
            <a:picLocks noGrp="1" noChangeAspect="1" noChangeArrowheads="1"/>
          </p:cNvPicPr>
          <p:nvPr>
            <p:ph idx="1"/>
          </p:nvPr>
        </p:nvPicPr>
        <p:blipFill>
          <a:blip r:embed="rId2"/>
          <a:srcRect/>
          <a:stretch>
            <a:fillRect/>
          </a:stretch>
        </p:blipFill>
        <p:spPr bwMode="auto">
          <a:xfrm>
            <a:off x="0" y="1548249"/>
            <a:ext cx="4504584" cy="5309751"/>
          </a:xfrm>
          <a:prstGeom prst="rect">
            <a:avLst/>
          </a:prstGeom>
          <a:noFill/>
        </p:spPr>
      </p:pic>
      <p:pic>
        <p:nvPicPr>
          <p:cNvPr id="6" name="Picture 4" descr="mono_1"/>
          <p:cNvPicPr>
            <a:picLocks noChangeAspect="1" noChangeArrowheads="1"/>
          </p:cNvPicPr>
          <p:nvPr/>
        </p:nvPicPr>
        <p:blipFill>
          <a:blip r:embed="rId3"/>
          <a:srcRect/>
          <a:stretch>
            <a:fillRect/>
          </a:stretch>
        </p:blipFill>
        <p:spPr bwMode="auto">
          <a:xfrm>
            <a:off x="5715008" y="1714488"/>
            <a:ext cx="2898771" cy="3716338"/>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DO" dirty="0" err="1"/>
              <a:t>Virals</a:t>
            </a:r>
            <a:r>
              <a:rPr lang="es-DO" dirty="0"/>
              <a:t> Pharyngitis: </a:t>
            </a:r>
            <a:r>
              <a:rPr lang="en-US" altLang="es-DO" dirty="0" err="1"/>
              <a:t>Herpangina</a:t>
            </a:r>
            <a:endParaRPr lang="en-US" dirty="0"/>
          </a:p>
        </p:txBody>
      </p:sp>
      <p:pic>
        <p:nvPicPr>
          <p:cNvPr id="4" name="Content Placeholder 3" descr="herpangina_r"/>
          <p:cNvPicPr>
            <a:picLocks noGrp="1" noChangeAspect="1" noChangeArrowheads="1"/>
          </p:cNvPicPr>
          <p:nvPr>
            <p:ph idx="1"/>
          </p:nvPr>
        </p:nvPicPr>
        <p:blipFill>
          <a:blip r:embed="rId2"/>
          <a:srcRect/>
          <a:stretch>
            <a:fillRect/>
          </a:stretch>
        </p:blipFill>
        <p:spPr>
          <a:xfrm>
            <a:off x="500034" y="2000240"/>
            <a:ext cx="3500462" cy="3786214"/>
          </a:xfrm>
          <a:noFill/>
        </p:spPr>
      </p:pic>
      <p:pic>
        <p:nvPicPr>
          <p:cNvPr id="5" name="Picture 4" descr="herpangina"/>
          <p:cNvPicPr>
            <a:picLocks noChangeAspect="1" noChangeArrowheads="1"/>
          </p:cNvPicPr>
          <p:nvPr/>
        </p:nvPicPr>
        <p:blipFill>
          <a:blip r:embed="rId3"/>
          <a:srcRect/>
          <a:stretch>
            <a:fillRect/>
          </a:stretch>
        </p:blipFill>
        <p:spPr bwMode="auto">
          <a:xfrm>
            <a:off x="4572000" y="2000240"/>
            <a:ext cx="3686175" cy="3825875"/>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altLang="es-DO" dirty="0" err="1"/>
              <a:t>Virals</a:t>
            </a:r>
            <a:r>
              <a:rPr lang="en-US" altLang="es-DO" dirty="0"/>
              <a:t> Pharyngitis</a:t>
            </a:r>
            <a:endParaRPr lang="en-US" dirty="0"/>
          </a:p>
        </p:txBody>
      </p:sp>
      <p:sp>
        <p:nvSpPr>
          <p:cNvPr id="3" name="2 Marcador de contenido"/>
          <p:cNvSpPr>
            <a:spLocks noGrp="1"/>
          </p:cNvSpPr>
          <p:nvPr>
            <p:ph idx="1"/>
          </p:nvPr>
        </p:nvSpPr>
        <p:spPr/>
        <p:txBody>
          <a:bodyPr/>
          <a:lstStyle/>
          <a:p>
            <a:pPr>
              <a:defRPr/>
            </a:pPr>
            <a:r>
              <a:rPr lang="en-US" altLang="es-DO" dirty="0"/>
              <a:t>Conjunctivitis:</a:t>
            </a:r>
            <a:endParaRPr lang="en-US" altLang="es-DO" i="1" dirty="0"/>
          </a:p>
          <a:p>
            <a:pPr lvl="1">
              <a:defRPr/>
            </a:pPr>
            <a:r>
              <a:rPr lang="en-US" altLang="es-DO" i="1" dirty="0"/>
              <a:t>Adenovirus</a:t>
            </a:r>
          </a:p>
          <a:p>
            <a:endParaRPr lang="en-US" dirty="0"/>
          </a:p>
        </p:txBody>
      </p:sp>
      <p:pic>
        <p:nvPicPr>
          <p:cNvPr id="2050" name="Picture 2" descr="C:\Users\user\Desktop\ORL\Class\CONFERENCIAS\Mis conferencias\Pharynx\download.jpg"/>
          <p:cNvPicPr>
            <a:picLocks noChangeAspect="1" noChangeArrowheads="1"/>
          </p:cNvPicPr>
          <p:nvPr/>
        </p:nvPicPr>
        <p:blipFill>
          <a:blip r:embed="rId2"/>
          <a:srcRect/>
          <a:stretch>
            <a:fillRect/>
          </a:stretch>
        </p:blipFill>
        <p:spPr bwMode="auto">
          <a:xfrm>
            <a:off x="1357290" y="3500438"/>
            <a:ext cx="6000792" cy="250033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sz="3200" dirty="0">
                <a:latin typeface="Times New Roman" pitchFamily="18" charset="0"/>
                <a:cs typeface="Times New Roman" pitchFamily="18" charset="0"/>
              </a:rPr>
              <a:t>Clinical manifestations bact. Pharyngitis GABHS</a:t>
            </a:r>
            <a:endParaRPr lang="en-US" sz="3200" dirty="0"/>
          </a:p>
        </p:txBody>
      </p:sp>
      <p:sp>
        <p:nvSpPr>
          <p:cNvPr id="3" name="2 Marcador de contenido"/>
          <p:cNvSpPr>
            <a:spLocks noGrp="1"/>
          </p:cNvSpPr>
          <p:nvPr>
            <p:ph idx="1"/>
          </p:nvPr>
        </p:nvSpPr>
        <p:spPr/>
        <p:txBody>
          <a:bodyPr/>
          <a:lstStyle/>
          <a:p>
            <a:pPr>
              <a:defRPr/>
            </a:pPr>
            <a:r>
              <a:rPr lang="en-US" altLang="es-DO" sz="2800" dirty="0"/>
              <a:t>Rapid onset</a:t>
            </a:r>
          </a:p>
          <a:p>
            <a:pPr>
              <a:defRPr/>
            </a:pPr>
            <a:r>
              <a:rPr lang="en-US" altLang="es-DO" sz="2800" dirty="0"/>
              <a:t>Headache</a:t>
            </a:r>
          </a:p>
          <a:p>
            <a:pPr>
              <a:defRPr/>
            </a:pPr>
            <a:r>
              <a:rPr lang="en-US" altLang="es-DO" sz="2800" dirty="0" err="1"/>
              <a:t>GeneraI</a:t>
            </a:r>
            <a:r>
              <a:rPr lang="en-US" altLang="es-DO" sz="2800" dirty="0"/>
              <a:t> Symptoms</a:t>
            </a:r>
          </a:p>
          <a:p>
            <a:pPr>
              <a:defRPr/>
            </a:pPr>
            <a:r>
              <a:rPr lang="en-US" altLang="es-DO" sz="2800" dirty="0"/>
              <a:t>Sore throat</a:t>
            </a:r>
          </a:p>
          <a:p>
            <a:endParaRPr lang="en-US" dirty="0"/>
          </a:p>
          <a:p>
            <a:endParaRPr lang="en-US" dirty="0"/>
          </a:p>
        </p:txBody>
      </p:sp>
      <p:pic>
        <p:nvPicPr>
          <p:cNvPr id="4" name="Picture 3"/>
          <p:cNvPicPr>
            <a:picLocks noChangeAspect="1"/>
          </p:cNvPicPr>
          <p:nvPr/>
        </p:nvPicPr>
        <p:blipFill>
          <a:blip r:embed="rId2"/>
          <a:srcRect/>
          <a:stretch>
            <a:fillRect/>
          </a:stretch>
        </p:blipFill>
        <p:spPr bwMode="auto">
          <a:xfrm>
            <a:off x="500034" y="3857628"/>
            <a:ext cx="8143932" cy="2857496"/>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n-US"/>
          </a:p>
        </p:txBody>
      </p:sp>
      <p:pic>
        <p:nvPicPr>
          <p:cNvPr id="4" name="Picture 2" descr="C:\Users\user\Desktop\ORL\Class\CONFERENCIAS\Mis conferencias\Pharynx\images (1).jpg"/>
          <p:cNvPicPr>
            <a:picLocks noGrp="1" noChangeAspect="1" noChangeArrowheads="1"/>
          </p:cNvPicPr>
          <p:nvPr>
            <p:ph idx="1"/>
          </p:nvPr>
        </p:nvPicPr>
        <p:blipFill>
          <a:blip r:embed="rId2"/>
          <a:srcRect/>
          <a:stretch>
            <a:fillRect/>
          </a:stretch>
        </p:blipFill>
        <p:spPr bwMode="auto">
          <a:xfrm>
            <a:off x="150338" y="476672"/>
            <a:ext cx="8536462" cy="550482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DO" dirty="0" err="1"/>
              <a:t>Diagnostic</a:t>
            </a:r>
            <a:endParaRPr lang="en-US" dirty="0"/>
          </a:p>
        </p:txBody>
      </p:sp>
      <p:sp>
        <p:nvSpPr>
          <p:cNvPr id="3" name="2 Marcador de contenido"/>
          <p:cNvSpPr>
            <a:spLocks noGrp="1"/>
          </p:cNvSpPr>
          <p:nvPr>
            <p:ph idx="1"/>
          </p:nvPr>
        </p:nvSpPr>
        <p:spPr>
          <a:xfrm>
            <a:off x="457200" y="1882808"/>
            <a:ext cx="7329510" cy="4572000"/>
          </a:xfrm>
        </p:spPr>
        <p:txBody>
          <a:bodyPr>
            <a:normAutofit/>
          </a:bodyPr>
          <a:lstStyle/>
          <a:p>
            <a:pPr>
              <a:defRPr/>
            </a:pPr>
            <a:r>
              <a:rPr lang="en-US" altLang="es-DO" sz="3200" dirty="0"/>
              <a:t>Strep:</a:t>
            </a:r>
          </a:p>
          <a:p>
            <a:pPr>
              <a:buNone/>
              <a:defRPr/>
            </a:pPr>
            <a:r>
              <a:rPr lang="en-US" altLang="es-DO" sz="3200" dirty="0"/>
              <a:t> Throat culture(Gold standard)</a:t>
            </a:r>
          </a:p>
          <a:p>
            <a:pPr>
              <a:buNone/>
              <a:defRPr/>
            </a:pPr>
            <a:r>
              <a:rPr lang="en-US" altLang="es-DO" sz="3200" dirty="0"/>
              <a:t> Rapid Strep. Antigen kits</a:t>
            </a:r>
          </a:p>
          <a:p>
            <a:pPr>
              <a:defRPr/>
            </a:pPr>
            <a:r>
              <a:rPr lang="en-US" altLang="es-DO" sz="3200" dirty="0"/>
              <a:t>Infectious Mono.: </a:t>
            </a:r>
          </a:p>
          <a:p>
            <a:pPr>
              <a:buNone/>
              <a:defRPr/>
            </a:pPr>
            <a:r>
              <a:rPr lang="en-US" altLang="es-DO" sz="3200" dirty="0"/>
              <a:t> CBC(Atypical lymphocytes)</a:t>
            </a:r>
          </a:p>
          <a:p>
            <a:pPr>
              <a:buNone/>
              <a:defRPr/>
            </a:pPr>
            <a:r>
              <a:rPr lang="en-US" altLang="es-DO" sz="3200" dirty="0"/>
              <a:t>  Spot test (Positive slide agglutination)</a:t>
            </a:r>
            <a:endParaRPr lang="en-US" dirty="0"/>
          </a:p>
        </p:txBody>
      </p:sp>
      <p:pic>
        <p:nvPicPr>
          <p:cNvPr id="4" name="Picture 5" descr="9950"/>
          <p:cNvPicPr>
            <a:picLocks noChangeAspect="1" noChangeArrowheads="1"/>
          </p:cNvPicPr>
          <p:nvPr/>
        </p:nvPicPr>
        <p:blipFill>
          <a:blip r:embed="rId2"/>
          <a:srcRect/>
          <a:stretch>
            <a:fillRect/>
          </a:stretch>
        </p:blipFill>
        <p:spPr bwMode="auto">
          <a:xfrm>
            <a:off x="6156176" y="3123196"/>
            <a:ext cx="2987824" cy="3734804"/>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n-US" altLang="es-DO" sz="4400" dirty="0">
                <a:latin typeface="Times New Roman" pitchFamily="18" charset="0"/>
                <a:cs typeface="Times New Roman" pitchFamily="18" charset="0"/>
              </a:rPr>
              <a:t>Differential diagnosis of pharyngitis</a:t>
            </a:r>
            <a:endParaRPr lang="en-US" dirty="0"/>
          </a:p>
        </p:txBody>
      </p:sp>
      <p:sp>
        <p:nvSpPr>
          <p:cNvPr id="3" name="2 Marcador de contenido"/>
          <p:cNvSpPr>
            <a:spLocks noGrp="1"/>
          </p:cNvSpPr>
          <p:nvPr>
            <p:ph idx="1"/>
          </p:nvPr>
        </p:nvSpPr>
        <p:spPr>
          <a:xfrm>
            <a:off x="457200" y="1882808"/>
            <a:ext cx="8229600" cy="4975192"/>
          </a:xfrm>
        </p:spPr>
        <p:txBody>
          <a:bodyPr>
            <a:normAutofit fontScale="85000" lnSpcReduction="10000"/>
          </a:bodyPr>
          <a:lstStyle/>
          <a:p>
            <a:pPr>
              <a:lnSpc>
                <a:spcPct val="80000"/>
              </a:lnSpc>
              <a:defRPr/>
            </a:pPr>
            <a:r>
              <a:rPr lang="en-US" altLang="es-DO" sz="3200" dirty="0" err="1">
                <a:latin typeface="Times New Roman" pitchFamily="18" charset="0"/>
                <a:cs typeface="Times New Roman" pitchFamily="18" charset="0"/>
              </a:rPr>
              <a:t>Vesiculation</a:t>
            </a:r>
            <a:r>
              <a:rPr lang="en-US" altLang="es-DO" sz="3200" dirty="0">
                <a:latin typeface="Times New Roman" pitchFamily="18" charset="0"/>
                <a:cs typeface="Times New Roman" pitchFamily="18" charset="0"/>
              </a:rPr>
              <a:t> &amp; Ulceration                             </a:t>
            </a:r>
            <a:r>
              <a:rPr lang="en-US" altLang="es-DO" sz="3200" b="1" dirty="0">
                <a:latin typeface="Times New Roman" pitchFamily="18" charset="0"/>
                <a:cs typeface="Times New Roman" pitchFamily="18" charset="0"/>
              </a:rPr>
              <a:t>HSV</a:t>
            </a:r>
          </a:p>
          <a:p>
            <a:pPr>
              <a:lnSpc>
                <a:spcPct val="80000"/>
              </a:lnSpc>
              <a:defRPr/>
            </a:pPr>
            <a:endParaRPr lang="en-US" altLang="es-DO" sz="3200" dirty="0">
              <a:latin typeface="Times New Roman" pitchFamily="18" charset="0"/>
              <a:cs typeface="Times New Roman" pitchFamily="18" charset="0"/>
            </a:endParaRPr>
          </a:p>
          <a:p>
            <a:pPr>
              <a:lnSpc>
                <a:spcPct val="80000"/>
              </a:lnSpc>
              <a:defRPr/>
            </a:pPr>
            <a:r>
              <a:rPr lang="en-US" altLang="es-DO" sz="3200" dirty="0" err="1">
                <a:latin typeface="Times New Roman" pitchFamily="18" charset="0"/>
                <a:cs typeface="Times New Roman" pitchFamily="18" charset="0"/>
              </a:rPr>
              <a:t>Gingivostomatitis</a:t>
            </a:r>
            <a:r>
              <a:rPr lang="en-US" altLang="es-DO" sz="3200" dirty="0">
                <a:latin typeface="Times New Roman" pitchFamily="18" charset="0"/>
                <a:cs typeface="Times New Roman" pitchFamily="18" charset="0"/>
              </a:rPr>
              <a:t>                               </a:t>
            </a:r>
            <a:r>
              <a:rPr lang="en-US" altLang="es-DO" sz="3200" b="1" dirty="0" err="1">
                <a:latin typeface="Times New Roman" pitchFamily="18" charset="0"/>
                <a:cs typeface="Times New Roman" pitchFamily="18" charset="0"/>
              </a:rPr>
              <a:t>Coxsackievirus</a:t>
            </a:r>
            <a:endParaRPr lang="en-US" altLang="es-DO" sz="3200" dirty="0">
              <a:latin typeface="Times New Roman" pitchFamily="18" charset="0"/>
              <a:cs typeface="Times New Roman" pitchFamily="18" charset="0"/>
            </a:endParaRPr>
          </a:p>
          <a:p>
            <a:pPr>
              <a:lnSpc>
                <a:spcPct val="80000"/>
              </a:lnSpc>
              <a:defRPr/>
            </a:pPr>
            <a:endParaRPr lang="en-US" altLang="es-DO" sz="3200" dirty="0">
              <a:latin typeface="Times New Roman" pitchFamily="18" charset="0"/>
              <a:cs typeface="Times New Roman" pitchFamily="18" charset="0"/>
            </a:endParaRPr>
          </a:p>
          <a:p>
            <a:pPr>
              <a:lnSpc>
                <a:spcPct val="80000"/>
              </a:lnSpc>
              <a:defRPr/>
            </a:pPr>
            <a:r>
              <a:rPr lang="en-US" altLang="es-DO" sz="3200" dirty="0">
                <a:latin typeface="Times New Roman" pitchFamily="18" charset="0"/>
                <a:cs typeface="Times New Roman" pitchFamily="18" charset="0"/>
              </a:rPr>
              <a:t>Conjunctivitis                                             </a:t>
            </a:r>
            <a:r>
              <a:rPr lang="en-US" altLang="es-DO" sz="3200" b="1" dirty="0">
                <a:latin typeface="Times New Roman" pitchFamily="18" charset="0"/>
                <a:cs typeface="Times New Roman" pitchFamily="18" charset="0"/>
              </a:rPr>
              <a:t>Adenoviru</a:t>
            </a:r>
            <a:r>
              <a:rPr lang="en-US" altLang="es-DO" sz="3200" dirty="0">
                <a:latin typeface="Times New Roman" pitchFamily="18" charset="0"/>
                <a:cs typeface="Times New Roman" pitchFamily="18" charset="0"/>
              </a:rPr>
              <a:t>s</a:t>
            </a:r>
          </a:p>
          <a:p>
            <a:pPr>
              <a:lnSpc>
                <a:spcPct val="80000"/>
              </a:lnSpc>
              <a:defRPr/>
            </a:pPr>
            <a:endParaRPr lang="en-US" altLang="es-DO" sz="3200" dirty="0">
              <a:latin typeface="Times New Roman" pitchFamily="18" charset="0"/>
              <a:cs typeface="Times New Roman" pitchFamily="18" charset="0"/>
            </a:endParaRPr>
          </a:p>
          <a:p>
            <a:pPr>
              <a:lnSpc>
                <a:spcPct val="80000"/>
              </a:lnSpc>
              <a:defRPr/>
            </a:pPr>
            <a:r>
              <a:rPr lang="en-US" altLang="es-DO" sz="3200" dirty="0">
                <a:latin typeface="Times New Roman" pitchFamily="18" charset="0"/>
                <a:cs typeface="Times New Roman" pitchFamily="18" charset="0"/>
              </a:rPr>
              <a:t>Gray-white </a:t>
            </a:r>
            <a:r>
              <a:rPr lang="en-US" altLang="es-DO" sz="3200" dirty="0" err="1">
                <a:latin typeface="Times New Roman" pitchFamily="18" charset="0"/>
                <a:cs typeface="Times New Roman" pitchFamily="18" charset="0"/>
              </a:rPr>
              <a:t>fibrinous</a:t>
            </a:r>
            <a:r>
              <a:rPr lang="en-US" altLang="es-DO" sz="3200" dirty="0">
                <a:latin typeface="Times New Roman" pitchFamily="18" charset="0"/>
                <a:cs typeface="Times New Roman" pitchFamily="18" charset="0"/>
              </a:rPr>
              <a:t> </a:t>
            </a:r>
            <a:r>
              <a:rPr lang="en-US" altLang="es-DO" sz="3200" dirty="0" err="1">
                <a:latin typeface="Times New Roman" pitchFamily="18" charset="0"/>
                <a:cs typeface="Times New Roman" pitchFamily="18" charset="0"/>
              </a:rPr>
              <a:t>pseudomembrane</a:t>
            </a:r>
            <a:endParaRPr lang="en-US" altLang="es-DO" sz="3200" dirty="0">
              <a:latin typeface="Times New Roman" pitchFamily="18" charset="0"/>
              <a:cs typeface="Times New Roman" pitchFamily="18" charset="0"/>
            </a:endParaRPr>
          </a:p>
          <a:p>
            <a:pPr>
              <a:lnSpc>
                <a:spcPct val="80000"/>
              </a:lnSpc>
              <a:buNone/>
              <a:defRPr/>
            </a:pPr>
            <a:r>
              <a:rPr lang="en-US" altLang="es-DO" sz="3200" dirty="0">
                <a:latin typeface="Times New Roman" pitchFamily="18" charset="0"/>
                <a:cs typeface="Times New Roman" pitchFamily="18" charset="0"/>
              </a:rPr>
              <a:t>   with marked cervical </a:t>
            </a:r>
            <a:r>
              <a:rPr lang="en-US" altLang="es-DO" sz="3200" dirty="0" err="1">
                <a:latin typeface="Times New Roman" pitchFamily="18" charset="0"/>
                <a:cs typeface="Times New Roman" pitchFamily="18" charset="0"/>
              </a:rPr>
              <a:t>lymphadenopathy</a:t>
            </a:r>
            <a:r>
              <a:rPr lang="en-US" altLang="es-DO" sz="3200" dirty="0">
                <a:latin typeface="Times New Roman" pitchFamily="18" charset="0"/>
                <a:cs typeface="Times New Roman" pitchFamily="18" charset="0"/>
              </a:rPr>
              <a:t>         </a:t>
            </a:r>
            <a:r>
              <a:rPr lang="en-US" altLang="es-DO" sz="3200" b="1" dirty="0" err="1">
                <a:latin typeface="Times New Roman" pitchFamily="18" charset="0"/>
                <a:cs typeface="Times New Roman" pitchFamily="18" charset="0"/>
              </a:rPr>
              <a:t>Diphteria</a:t>
            </a:r>
            <a:r>
              <a:rPr lang="en-US" altLang="es-DO" sz="3200" dirty="0">
                <a:latin typeface="Times New Roman" pitchFamily="18" charset="0"/>
                <a:cs typeface="Times New Roman" pitchFamily="18" charset="0"/>
              </a:rPr>
              <a:t> </a:t>
            </a:r>
          </a:p>
          <a:p>
            <a:pPr>
              <a:lnSpc>
                <a:spcPct val="80000"/>
              </a:lnSpc>
              <a:buNone/>
              <a:defRPr/>
            </a:pPr>
            <a:r>
              <a:rPr lang="en-US" altLang="es-DO" sz="3200" dirty="0">
                <a:latin typeface="Times New Roman" pitchFamily="18" charset="0"/>
                <a:cs typeface="Times New Roman" pitchFamily="18" charset="0"/>
              </a:rPr>
              <a:t> </a:t>
            </a:r>
          </a:p>
          <a:p>
            <a:pPr>
              <a:lnSpc>
                <a:spcPct val="80000"/>
              </a:lnSpc>
              <a:defRPr/>
            </a:pPr>
            <a:r>
              <a:rPr lang="en-US" altLang="es-DO" sz="3200" dirty="0">
                <a:latin typeface="Times New Roman" pitchFamily="18" charset="0"/>
                <a:cs typeface="Times New Roman" pitchFamily="18" charset="0"/>
              </a:rPr>
              <a:t>Macular rash                                             </a:t>
            </a:r>
            <a:r>
              <a:rPr lang="en-US" altLang="es-DO" sz="3200" b="1" dirty="0">
                <a:latin typeface="Times New Roman" pitchFamily="18" charset="0"/>
                <a:cs typeface="Times New Roman" pitchFamily="18" charset="0"/>
              </a:rPr>
              <a:t>Scarlet fever</a:t>
            </a:r>
          </a:p>
          <a:p>
            <a:pPr>
              <a:lnSpc>
                <a:spcPct val="80000"/>
              </a:lnSpc>
              <a:defRPr/>
            </a:pPr>
            <a:endParaRPr lang="en-US" altLang="es-DO" sz="3200" dirty="0">
              <a:latin typeface="Times New Roman" pitchFamily="18" charset="0"/>
              <a:cs typeface="Times New Roman" pitchFamily="18" charset="0"/>
            </a:endParaRPr>
          </a:p>
          <a:p>
            <a:pPr>
              <a:lnSpc>
                <a:spcPct val="80000"/>
              </a:lnSpc>
              <a:defRPr/>
            </a:pPr>
            <a:r>
              <a:rPr lang="en-US" altLang="es-DO" sz="3200" dirty="0" err="1">
                <a:latin typeface="Times New Roman" pitchFamily="18" charset="0"/>
                <a:cs typeface="Times New Roman" pitchFamily="18" charset="0"/>
              </a:rPr>
              <a:t>Hepatosplenomegaly</a:t>
            </a:r>
            <a:r>
              <a:rPr lang="en-US" altLang="es-DO" sz="3200" dirty="0">
                <a:latin typeface="Times New Roman" pitchFamily="18" charset="0"/>
                <a:cs typeface="Times New Roman" pitchFamily="18" charset="0"/>
              </a:rPr>
              <a:t> &amp;Rash</a:t>
            </a:r>
          </a:p>
          <a:p>
            <a:pPr>
              <a:lnSpc>
                <a:spcPct val="80000"/>
              </a:lnSpc>
              <a:buNone/>
              <a:defRPr/>
            </a:pPr>
            <a:r>
              <a:rPr lang="en-US" altLang="es-DO" sz="3200" dirty="0">
                <a:latin typeface="Times New Roman" pitchFamily="18" charset="0"/>
                <a:cs typeface="Times New Roman" pitchFamily="18" charset="0"/>
              </a:rPr>
              <a:t>     &amp;Fatigue &amp;Cervical lymphadenitis            </a:t>
            </a:r>
            <a:r>
              <a:rPr lang="en-US" altLang="es-DO" sz="3200" b="1" dirty="0">
                <a:latin typeface="Times New Roman" pitchFamily="18" charset="0"/>
                <a:cs typeface="Times New Roman" pitchFamily="18" charset="0"/>
              </a:rPr>
              <a:t>EBV</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DO" dirty="0" err="1"/>
              <a:t>Acute</a:t>
            </a:r>
            <a:r>
              <a:rPr lang="es-DO" dirty="0"/>
              <a:t> Pharyngitis GABHS </a:t>
            </a:r>
            <a:r>
              <a:rPr lang="es-DO" dirty="0" err="1"/>
              <a:t>Treatment</a:t>
            </a:r>
            <a:endParaRPr lang="en-US" dirty="0"/>
          </a:p>
        </p:txBody>
      </p:sp>
      <p:sp>
        <p:nvSpPr>
          <p:cNvPr id="3" name="2 Marcador de contenido"/>
          <p:cNvSpPr>
            <a:spLocks noGrp="1"/>
          </p:cNvSpPr>
          <p:nvPr>
            <p:ph idx="1"/>
          </p:nvPr>
        </p:nvSpPr>
        <p:spPr/>
        <p:txBody>
          <a:bodyPr>
            <a:normAutofit/>
          </a:bodyPr>
          <a:lstStyle/>
          <a:p>
            <a:pPr>
              <a:defRPr/>
            </a:pPr>
            <a:r>
              <a:rPr lang="en-US" altLang="es-DO" u="sng" dirty="0"/>
              <a:t>Treatment </a:t>
            </a:r>
            <a:r>
              <a:rPr lang="en-US" altLang="es-DO" dirty="0"/>
              <a:t>→ </a:t>
            </a:r>
            <a:r>
              <a:rPr lang="en-US" altLang="es-DO" sz="2800" dirty="0"/>
              <a:t>Do so to prevent </a:t>
            </a:r>
            <a:r>
              <a:rPr lang="en-US" altLang="es-DO" sz="2800" i="1" dirty="0"/>
              <a:t>ARF </a:t>
            </a:r>
            <a:r>
              <a:rPr lang="en-US" altLang="es-DO" sz="2800" dirty="0"/>
              <a:t>			</a:t>
            </a:r>
            <a:r>
              <a:rPr lang="en-US" altLang="es-DO" sz="2800" i="1" dirty="0"/>
              <a:t>(Acute Rheumatic Fever)</a:t>
            </a:r>
          </a:p>
          <a:p>
            <a:pPr lvl="1">
              <a:buFont typeface="Wingdings" pitchFamily="2" charset="2"/>
              <a:buChar char="Ø"/>
              <a:defRPr/>
            </a:pPr>
            <a:r>
              <a:rPr lang="en-US" altLang="es-DO" u="sng" dirty="0"/>
              <a:t>GAS</a:t>
            </a:r>
            <a:r>
              <a:rPr lang="en-US" altLang="es-DO" dirty="0"/>
              <a:t> →</a:t>
            </a:r>
          </a:p>
          <a:p>
            <a:pPr lvl="2">
              <a:buFont typeface="Wingdings" pitchFamily="2" charset="2"/>
              <a:buChar char="ü"/>
              <a:defRPr/>
            </a:pPr>
            <a:r>
              <a:rPr lang="en-US" altLang="es-DO" dirty="0"/>
              <a:t>Oral PCN – treatment of choice</a:t>
            </a:r>
          </a:p>
          <a:p>
            <a:pPr lvl="3">
              <a:buFont typeface="Wingdings" pitchFamily="2" charset="2"/>
              <a:buChar char="ü"/>
              <a:defRPr/>
            </a:pPr>
            <a:r>
              <a:rPr lang="en-US" altLang="es-DO" dirty="0"/>
              <a:t>10 day course of therapy</a:t>
            </a:r>
          </a:p>
          <a:p>
            <a:pPr lvl="3">
              <a:buFont typeface="Wingdings" pitchFamily="2" charset="2"/>
              <a:buChar char="ü"/>
              <a:defRPr/>
            </a:pPr>
            <a:endParaRPr lang="en-US" altLang="es-DO" dirty="0"/>
          </a:p>
          <a:p>
            <a:pPr lvl="2">
              <a:buFont typeface="Wingdings" pitchFamily="2" charset="2"/>
              <a:buChar char="ü"/>
              <a:defRPr/>
            </a:pPr>
            <a:r>
              <a:rPr lang="en-US" altLang="es-DO" dirty="0"/>
              <a:t>IM </a:t>
            </a:r>
            <a:r>
              <a:rPr lang="en-US" altLang="es-DO" dirty="0" err="1"/>
              <a:t>Benzathine</a:t>
            </a:r>
            <a:r>
              <a:rPr lang="en-US" altLang="es-DO" dirty="0"/>
              <a:t> PCN G – 1.2 million units x 1year</a:t>
            </a:r>
          </a:p>
          <a:p>
            <a:pPr lvl="2">
              <a:buFont typeface="Wingdings" pitchFamily="2" charset="2"/>
              <a:buChar char="ü"/>
              <a:defRPr/>
            </a:pPr>
            <a:endParaRPr lang="en-US" altLang="es-DO" dirty="0"/>
          </a:p>
          <a:p>
            <a:pPr lvl="2">
              <a:buFont typeface="Wingdings" pitchFamily="2" charset="2"/>
              <a:buChar char="ü"/>
              <a:defRPr/>
            </a:pPr>
            <a:r>
              <a:rPr lang="en-US" altLang="es-DO" dirty="0" err="1"/>
              <a:t>Azithromycin</a:t>
            </a:r>
            <a:r>
              <a:rPr lang="en-US" altLang="es-DO" dirty="0"/>
              <a:t>, </a:t>
            </a:r>
            <a:r>
              <a:rPr lang="en-US" altLang="es-DO" dirty="0" err="1"/>
              <a:t>Clindamycin</a:t>
            </a:r>
            <a:endParaRPr lang="en-US" dirty="0"/>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DO" dirty="0"/>
              <a:t>Viral Pharyngitis</a:t>
            </a:r>
            <a:endParaRPr lang="en-US" dirty="0"/>
          </a:p>
        </p:txBody>
      </p:sp>
      <p:sp>
        <p:nvSpPr>
          <p:cNvPr id="3" name="2 Marcador de contenido"/>
          <p:cNvSpPr>
            <a:spLocks noGrp="1"/>
          </p:cNvSpPr>
          <p:nvPr>
            <p:ph idx="1"/>
          </p:nvPr>
        </p:nvSpPr>
        <p:spPr/>
        <p:txBody>
          <a:bodyPr>
            <a:normAutofit/>
          </a:bodyPr>
          <a:lstStyle/>
          <a:p>
            <a:pPr>
              <a:defRPr/>
            </a:pPr>
            <a:r>
              <a:rPr lang="en-US" altLang="es-DO" u="sng" dirty="0"/>
              <a:t>Treatment</a:t>
            </a:r>
            <a:endParaRPr lang="en-US" altLang="es-DO" dirty="0"/>
          </a:p>
          <a:p>
            <a:pPr marL="457200" lvl="1" indent="0">
              <a:buNone/>
              <a:defRPr/>
            </a:pPr>
            <a:r>
              <a:rPr lang="en-US" altLang="es-DO" dirty="0"/>
              <a:t> Supportive care only – Analgesics, Antipyretics, Fluids</a:t>
            </a:r>
          </a:p>
          <a:p>
            <a:pPr marL="457200" lvl="1" indent="0">
              <a:buNone/>
              <a:defRPr/>
            </a:pPr>
            <a:r>
              <a:rPr lang="en-US" altLang="es-DO" sz="2400" u="sng" dirty="0"/>
              <a:t>No strong evidence</a:t>
            </a:r>
            <a:r>
              <a:rPr lang="en-US" altLang="es-DO" sz="2400" dirty="0"/>
              <a:t> supporting use of oral or intramuscular corticosteroids for pain relief </a:t>
            </a:r>
          </a:p>
          <a:p>
            <a:pPr lvl="2">
              <a:buFont typeface="Wingdings" pitchFamily="2" charset="2"/>
              <a:buChar char="Ø"/>
              <a:defRPr/>
            </a:pPr>
            <a:r>
              <a:rPr lang="en-US" altLang="es-DO" dirty="0"/>
              <a:t>EBV – infectious mononucleosis</a:t>
            </a:r>
          </a:p>
          <a:p>
            <a:pPr lvl="3">
              <a:buFont typeface="Wingdings" pitchFamily="2" charset="2"/>
              <a:buChar char="Ø"/>
              <a:defRPr/>
            </a:pPr>
            <a:r>
              <a:rPr lang="en-US" altLang="es-DO" dirty="0"/>
              <a:t>activity restrictions – mortality in these pts most commonly associated with abdominal trauma and </a:t>
            </a:r>
            <a:r>
              <a:rPr lang="en-US" altLang="es-DO" dirty="0" err="1"/>
              <a:t>splenic</a:t>
            </a:r>
            <a:r>
              <a:rPr lang="en-US" altLang="es-DO" dirty="0"/>
              <a:t> rupture</a:t>
            </a:r>
            <a:endParaRPr lang="es-DO" dirty="0"/>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DO" dirty="0"/>
              <a:t>A. Pharyngitis Complications</a:t>
            </a:r>
            <a:endParaRPr lang="en-US" dirty="0"/>
          </a:p>
        </p:txBody>
      </p:sp>
      <p:sp>
        <p:nvSpPr>
          <p:cNvPr id="3" name="2 Marcador de contenido"/>
          <p:cNvSpPr>
            <a:spLocks noGrp="1"/>
          </p:cNvSpPr>
          <p:nvPr>
            <p:ph idx="1"/>
          </p:nvPr>
        </p:nvSpPr>
        <p:spPr/>
        <p:txBody>
          <a:bodyPr/>
          <a:lstStyle/>
          <a:p>
            <a:pPr>
              <a:defRPr/>
            </a:pPr>
            <a:r>
              <a:rPr lang="es-DO" sz="3200" dirty="0"/>
              <a:t>Suppuratives Complications</a:t>
            </a:r>
          </a:p>
          <a:p>
            <a:pPr>
              <a:defRPr/>
            </a:pPr>
            <a:endParaRPr lang="es-DO" sz="3200" dirty="0"/>
          </a:p>
          <a:p>
            <a:pPr>
              <a:defRPr/>
            </a:pPr>
            <a:endParaRPr lang="es-DO" sz="3200" dirty="0"/>
          </a:p>
          <a:p>
            <a:pPr>
              <a:defRPr/>
            </a:pPr>
            <a:r>
              <a:rPr lang="es-DO" sz="3200" dirty="0"/>
              <a:t>Non-supuratives Complications</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DO" sz="4400" dirty="0" err="1">
                <a:effectLst/>
                <a:latin typeface="Times New Roman" pitchFamily="18" charset="0"/>
                <a:cs typeface="Times New Roman" pitchFamily="18" charset="0"/>
              </a:rPr>
              <a:t>Suppurative</a:t>
            </a:r>
            <a:r>
              <a:rPr lang="es-DO" sz="4400" dirty="0">
                <a:effectLst/>
                <a:latin typeface="Times New Roman" pitchFamily="18" charset="0"/>
                <a:cs typeface="Times New Roman" pitchFamily="18" charset="0"/>
              </a:rPr>
              <a:t> Complications GAS Pharyngitis</a:t>
            </a:r>
            <a:endParaRPr lang="en-US" dirty="0"/>
          </a:p>
        </p:txBody>
      </p:sp>
      <p:sp>
        <p:nvSpPr>
          <p:cNvPr id="3" name="2 Marcador de contenido"/>
          <p:cNvSpPr>
            <a:spLocks noGrp="1"/>
          </p:cNvSpPr>
          <p:nvPr>
            <p:ph idx="1"/>
          </p:nvPr>
        </p:nvSpPr>
        <p:spPr/>
        <p:txBody>
          <a:bodyPr/>
          <a:lstStyle/>
          <a:p>
            <a:pPr>
              <a:defRPr/>
            </a:pPr>
            <a:r>
              <a:rPr lang="en-US" altLang="es-DO" dirty="0"/>
              <a:t>Otitis media</a:t>
            </a:r>
          </a:p>
          <a:p>
            <a:pPr>
              <a:defRPr/>
            </a:pPr>
            <a:r>
              <a:rPr lang="en-US" altLang="es-DO" dirty="0"/>
              <a:t>Rhinosinusitis</a:t>
            </a:r>
          </a:p>
          <a:p>
            <a:pPr>
              <a:defRPr/>
            </a:pPr>
            <a:r>
              <a:rPr lang="en-US" altLang="es-DO" dirty="0" err="1"/>
              <a:t>Peritonsillar</a:t>
            </a:r>
            <a:r>
              <a:rPr lang="en-US" altLang="es-DO" dirty="0"/>
              <a:t> and retropharyngeal abscesses</a:t>
            </a:r>
          </a:p>
          <a:p>
            <a:pPr>
              <a:defRPr/>
            </a:pPr>
            <a:r>
              <a:rPr lang="en-US" altLang="es-DO" dirty="0" err="1"/>
              <a:t>Suppurative</a:t>
            </a:r>
            <a:r>
              <a:rPr lang="en-US" altLang="es-DO" dirty="0"/>
              <a:t> cervical </a:t>
            </a:r>
          </a:p>
          <a:p>
            <a:pPr marL="0" indent="0">
              <a:buNone/>
              <a:defRPr/>
            </a:pPr>
            <a:r>
              <a:rPr lang="en-US" altLang="es-DO" dirty="0"/>
              <a:t>adenitis</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DO" sz="4400" dirty="0" err="1">
                <a:latin typeface="Times New Roman" pitchFamily="18" charset="0"/>
                <a:cs typeface="Times New Roman" pitchFamily="18" charset="0"/>
              </a:rPr>
              <a:t>NonSupurative</a:t>
            </a:r>
            <a:r>
              <a:rPr lang="es-DO" sz="4400" dirty="0">
                <a:latin typeface="Times New Roman" pitchFamily="18" charset="0"/>
                <a:cs typeface="Times New Roman" pitchFamily="18" charset="0"/>
              </a:rPr>
              <a:t> Complications GAS Pharyngitis</a:t>
            </a:r>
            <a:endParaRPr lang="en-US" dirty="0"/>
          </a:p>
        </p:txBody>
      </p:sp>
      <p:sp>
        <p:nvSpPr>
          <p:cNvPr id="3" name="2 Marcador de contenido"/>
          <p:cNvSpPr>
            <a:spLocks noGrp="1"/>
          </p:cNvSpPr>
          <p:nvPr>
            <p:ph idx="1"/>
          </p:nvPr>
        </p:nvSpPr>
        <p:spPr/>
        <p:txBody>
          <a:bodyPr/>
          <a:lstStyle/>
          <a:p>
            <a:pPr>
              <a:defRPr/>
            </a:pPr>
            <a:r>
              <a:rPr lang="en-US" altLang="es-DO" sz="2800" dirty="0"/>
              <a:t>Acute rheumatic fever</a:t>
            </a:r>
          </a:p>
          <a:p>
            <a:pPr lvl="1">
              <a:defRPr/>
            </a:pPr>
            <a:r>
              <a:rPr lang="en-US" altLang="es-DO" dirty="0"/>
              <a:t>follows only streptococcal pharyngitis (not group A strep skin infections)</a:t>
            </a:r>
          </a:p>
          <a:p>
            <a:pPr>
              <a:defRPr/>
            </a:pPr>
            <a:r>
              <a:rPr lang="en-US" altLang="es-DO" sz="2800" dirty="0"/>
              <a:t>Acute </a:t>
            </a:r>
            <a:r>
              <a:rPr lang="en-US" altLang="es-DO" sz="2800" dirty="0" err="1"/>
              <a:t>glomerulonephritis</a:t>
            </a:r>
            <a:endParaRPr lang="en-US" altLang="es-DO" sz="2800" dirty="0"/>
          </a:p>
          <a:p>
            <a:pPr lvl="1">
              <a:defRPr/>
            </a:pPr>
            <a:r>
              <a:rPr lang="en-US" altLang="es-DO" dirty="0"/>
              <a:t>May follow pharyngitis or skin infection (</a:t>
            </a:r>
            <a:r>
              <a:rPr lang="en-US" altLang="es-DO" dirty="0" err="1"/>
              <a:t>pyodermatitis</a:t>
            </a:r>
            <a:r>
              <a:rPr lang="en-US" altLang="es-DO" dirty="0"/>
              <a:t>)</a:t>
            </a:r>
          </a:p>
          <a:p>
            <a:pPr lvl="1">
              <a:defRPr/>
            </a:pPr>
            <a:r>
              <a:rPr lang="en-US" altLang="es-DO" dirty="0" err="1"/>
              <a:t>Nephritogenic</a:t>
            </a:r>
            <a:r>
              <a:rPr lang="en-US" altLang="es-DO" dirty="0"/>
              <a:t> strains</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67494"/>
            <a:ext cx="8472518" cy="1399032"/>
          </a:xfrm>
        </p:spPr>
        <p:txBody>
          <a:bodyPr/>
          <a:lstStyle/>
          <a:p>
            <a:r>
              <a:rPr lang="en-US" sz="4000" u="sng" dirty="0"/>
              <a:t>Chronic Pharyngitis</a:t>
            </a:r>
            <a:endParaRPr lang="en-US" dirty="0"/>
          </a:p>
        </p:txBody>
      </p:sp>
      <p:sp>
        <p:nvSpPr>
          <p:cNvPr id="3" name="2 Marcador de contenido"/>
          <p:cNvSpPr>
            <a:spLocks noGrp="1"/>
          </p:cNvSpPr>
          <p:nvPr>
            <p:ph idx="1"/>
          </p:nvPr>
        </p:nvSpPr>
        <p:spPr/>
        <p:txBody>
          <a:bodyPr>
            <a:normAutofit fontScale="55000" lnSpcReduction="20000"/>
          </a:bodyPr>
          <a:lstStyle/>
          <a:p>
            <a:pPr>
              <a:lnSpc>
                <a:spcPct val="150000"/>
              </a:lnSpc>
            </a:pPr>
            <a:r>
              <a:rPr lang="en-US" sz="3200" dirty="0">
                <a:latin typeface="Times New Roman" pitchFamily="18" charset="0"/>
                <a:cs typeface="Times New Roman" pitchFamily="18" charset="0"/>
              </a:rPr>
              <a:t>Is the inflammation of the mucous membrane of the pharynx with hyperplasia of its various elements.</a:t>
            </a:r>
            <a:endParaRPr lang="en-US" sz="3200" u="sng" dirty="0">
              <a:latin typeface="Times New Roman" pitchFamily="18" charset="0"/>
              <a:cs typeface="Times New Roman" pitchFamily="18" charset="0"/>
            </a:endParaRPr>
          </a:p>
          <a:p>
            <a:pPr>
              <a:lnSpc>
                <a:spcPct val="150000"/>
              </a:lnSpc>
              <a:buNone/>
            </a:pPr>
            <a:r>
              <a:rPr lang="en-US" sz="3200" u="sng" dirty="0">
                <a:latin typeface="Times New Roman" pitchFamily="18" charset="0"/>
                <a:cs typeface="Times New Roman" pitchFamily="18" charset="0"/>
              </a:rPr>
              <a:t>Etiology: </a:t>
            </a:r>
            <a:r>
              <a:rPr lang="en-US" sz="3200" dirty="0">
                <a:latin typeface="Times New Roman" pitchFamily="18" charset="0"/>
                <a:cs typeface="Times New Roman" pitchFamily="18" charset="0"/>
              </a:rPr>
              <a:t>Is often somewhat obscure.</a:t>
            </a:r>
          </a:p>
          <a:p>
            <a:pPr>
              <a:lnSpc>
                <a:spcPct val="150000"/>
              </a:lnSpc>
            </a:pPr>
            <a:r>
              <a:rPr lang="en-US" sz="3200" dirty="0">
                <a:latin typeface="Times New Roman" pitchFamily="18" charset="0"/>
                <a:cs typeface="Times New Roman" pitchFamily="18" charset="0"/>
              </a:rPr>
              <a:t>Smoking, Alcohol.</a:t>
            </a:r>
          </a:p>
          <a:p>
            <a:pPr>
              <a:lnSpc>
                <a:spcPct val="150000"/>
              </a:lnSpc>
            </a:pPr>
            <a:r>
              <a:rPr lang="en-US" sz="3200" dirty="0">
                <a:latin typeface="Times New Roman" pitchFamily="18" charset="0"/>
                <a:cs typeface="Times New Roman" pitchFamily="18" charset="0"/>
              </a:rPr>
              <a:t>Atmospheric pollution.</a:t>
            </a:r>
          </a:p>
          <a:p>
            <a:pPr>
              <a:lnSpc>
                <a:spcPct val="150000"/>
              </a:lnSpc>
            </a:pPr>
            <a:r>
              <a:rPr lang="en-US" sz="3200" dirty="0" err="1">
                <a:latin typeface="Times New Roman" pitchFamily="18" charset="0"/>
                <a:cs typeface="Times New Roman" pitchFamily="18" charset="0"/>
              </a:rPr>
              <a:t>Gastroesophageal</a:t>
            </a:r>
            <a:r>
              <a:rPr lang="en-US" sz="3200" dirty="0">
                <a:latin typeface="Times New Roman" pitchFamily="18" charset="0"/>
                <a:cs typeface="Times New Roman" pitchFamily="18" charset="0"/>
              </a:rPr>
              <a:t> reflux disease (GERD) </a:t>
            </a:r>
          </a:p>
          <a:p>
            <a:pPr>
              <a:lnSpc>
                <a:spcPct val="150000"/>
              </a:lnSpc>
              <a:buNone/>
            </a:pPr>
            <a:r>
              <a:rPr lang="en-US" sz="3200" u="sng" dirty="0">
                <a:latin typeface="Times New Roman" pitchFamily="18" charset="0"/>
                <a:cs typeface="Times New Roman" pitchFamily="18" charset="0"/>
              </a:rPr>
              <a:t>Appearance:</a:t>
            </a:r>
            <a:r>
              <a:rPr lang="en-US" sz="3200" dirty="0">
                <a:latin typeface="Times New Roman" pitchFamily="18" charset="0"/>
                <a:cs typeface="Times New Roman" pitchFamily="18" charset="0"/>
              </a:rPr>
              <a:t> In the simple form general redness of the posterior pharyngeal wall, the mucous membrane is thickened and reddened and degree of edema of the uvula. There is increase in the size of the lymphoid of the posterior pharyngeal wall.</a:t>
            </a:r>
            <a:endParaRPr lang="en-US" sz="3200" u="sng" dirty="0">
              <a:latin typeface="Times New Roman" pitchFamily="18" charset="0"/>
              <a:cs typeface="Times New Roman" pitchFamily="18" charset="0"/>
            </a:endParaRPr>
          </a:p>
          <a:p>
            <a:pPr>
              <a:lnSpc>
                <a:spcPct val="150000"/>
              </a:lnSpc>
              <a:buNone/>
            </a:pPr>
            <a:r>
              <a:rPr lang="en-US" sz="3200" u="sng" dirty="0">
                <a:latin typeface="Times New Roman" pitchFamily="18" charset="0"/>
                <a:cs typeface="Times New Roman" pitchFamily="18" charset="0"/>
              </a:rPr>
              <a:t>Treatment: </a:t>
            </a:r>
            <a:r>
              <a:rPr lang="en-US" sz="3200" dirty="0">
                <a:latin typeface="Times New Roman" pitchFamily="18" charset="0"/>
                <a:cs typeface="Times New Roman" pitchFamily="18" charset="0"/>
              </a:rPr>
              <a:t>Eliminate the cause (alcohol, smoking.)</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C:\Asesoria\t.jpg"/>
          <p:cNvPicPr/>
          <p:nvPr/>
        </p:nvPicPr>
        <p:blipFill>
          <a:blip r:embed="rId2"/>
          <a:srcRect/>
          <a:stretch>
            <a:fillRect/>
          </a:stretch>
        </p:blipFill>
        <p:spPr bwMode="auto">
          <a:xfrm>
            <a:off x="785786" y="785794"/>
            <a:ext cx="7286676" cy="5572164"/>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67494"/>
            <a:ext cx="8543956" cy="1399032"/>
          </a:xfrm>
        </p:spPr>
        <p:txBody>
          <a:bodyPr>
            <a:normAutofit/>
          </a:bodyPr>
          <a:lstStyle/>
          <a:p>
            <a:r>
              <a:rPr lang="en-US" sz="2800" dirty="0"/>
              <a:t>ACUTE  AND  CHRONIC</a:t>
            </a:r>
            <a:br>
              <a:rPr lang="en-US" sz="2800" dirty="0"/>
            </a:br>
            <a:r>
              <a:rPr lang="en-US" sz="2800" dirty="0"/>
              <a:t>INFLAMMATIONS  OF  LARYNX</a:t>
            </a:r>
          </a:p>
        </p:txBody>
      </p:sp>
      <p:sp>
        <p:nvSpPr>
          <p:cNvPr id="3" name="2 Marcador de contenido"/>
          <p:cNvSpPr>
            <a:spLocks noGrp="1"/>
          </p:cNvSpPr>
          <p:nvPr>
            <p:ph idx="1"/>
          </p:nvPr>
        </p:nvSpPr>
        <p:spPr/>
        <p:txBody>
          <a:bodyPr>
            <a:normAutofit/>
          </a:bodyPr>
          <a:lstStyle/>
          <a:p>
            <a:r>
              <a:rPr lang="en-US" dirty="0"/>
              <a:t>Laryngitis is defined as an inflammation of the laryngeal mucosa; will be Acute when the</a:t>
            </a:r>
          </a:p>
          <a:p>
            <a:r>
              <a:rPr lang="en-US" dirty="0" err="1"/>
              <a:t>symptomatology</a:t>
            </a:r>
            <a:r>
              <a:rPr lang="en-US" dirty="0"/>
              <a:t> is established in a short period of time, hours or days; in case the symptoms last for more than three weeks we will be talking about Chronic Laryngitis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dirty="0"/>
              <a:t>Acute  laryngitis may  be</a:t>
            </a:r>
          </a:p>
        </p:txBody>
      </p:sp>
      <p:sp>
        <p:nvSpPr>
          <p:cNvPr id="3" name="2 Marcador de contenido"/>
          <p:cNvSpPr>
            <a:spLocks noGrp="1"/>
          </p:cNvSpPr>
          <p:nvPr>
            <p:ph idx="1"/>
          </p:nvPr>
        </p:nvSpPr>
        <p:spPr/>
        <p:txBody>
          <a:bodyPr/>
          <a:lstStyle/>
          <a:p>
            <a:r>
              <a:rPr lang="en-US" dirty="0"/>
              <a:t>Infectious  or  non-infectious,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67494"/>
            <a:ext cx="8229600" cy="1018366"/>
          </a:xfrm>
        </p:spPr>
        <p:txBody>
          <a:bodyPr>
            <a:normAutofit/>
          </a:bodyPr>
          <a:lstStyle/>
          <a:p>
            <a:r>
              <a:rPr lang="en-US" sz="2800" dirty="0"/>
              <a:t>Infectious acute laryngitis.</a:t>
            </a:r>
          </a:p>
        </p:txBody>
      </p:sp>
      <p:sp>
        <p:nvSpPr>
          <p:cNvPr id="3" name="2 Marcador de contenido"/>
          <p:cNvSpPr>
            <a:spLocks noGrp="1"/>
          </p:cNvSpPr>
          <p:nvPr>
            <p:ph idx="1"/>
          </p:nvPr>
        </p:nvSpPr>
        <p:spPr>
          <a:xfrm>
            <a:off x="457200" y="1142984"/>
            <a:ext cx="8229600" cy="5311824"/>
          </a:xfrm>
        </p:spPr>
        <p:txBody>
          <a:bodyPr>
            <a:normAutofit fontScale="92500" lnSpcReduction="10000"/>
          </a:bodyPr>
          <a:lstStyle/>
          <a:p>
            <a:r>
              <a:rPr lang="en-US" sz="2000" b="1" dirty="0"/>
              <a:t>Viral laryngitis etiology.</a:t>
            </a:r>
          </a:p>
          <a:p>
            <a:r>
              <a:rPr lang="en-US" sz="2000" dirty="0"/>
              <a:t> Catarrhal laryngitis.</a:t>
            </a:r>
          </a:p>
          <a:p>
            <a:r>
              <a:rPr lang="en-US" sz="2000" dirty="0"/>
              <a:t> Influenza laryngitis.</a:t>
            </a:r>
          </a:p>
          <a:p>
            <a:r>
              <a:rPr lang="en-US" sz="2000" dirty="0"/>
              <a:t> Herpetic laryngitis.</a:t>
            </a:r>
          </a:p>
          <a:p>
            <a:r>
              <a:rPr lang="en-US" sz="2000" dirty="0"/>
              <a:t> </a:t>
            </a:r>
            <a:r>
              <a:rPr lang="en-US" sz="2000" b="1" dirty="0"/>
              <a:t>Bacterial etiology laryngitis.</a:t>
            </a:r>
          </a:p>
          <a:p>
            <a:r>
              <a:rPr lang="en-US" sz="2000" dirty="0"/>
              <a:t> </a:t>
            </a:r>
            <a:r>
              <a:rPr lang="en-US" sz="2000" dirty="0" err="1"/>
              <a:t>Mycoplasma</a:t>
            </a:r>
            <a:r>
              <a:rPr lang="en-US" sz="2000" dirty="0"/>
              <a:t> laryngitis.</a:t>
            </a:r>
          </a:p>
          <a:p>
            <a:r>
              <a:rPr lang="en-US" sz="2000" dirty="0"/>
              <a:t> Diphtheritic laryngitis.</a:t>
            </a:r>
          </a:p>
          <a:p>
            <a:r>
              <a:rPr lang="en-US" sz="2000" dirty="0"/>
              <a:t> Other bacteria</a:t>
            </a:r>
            <a:r>
              <a:rPr lang="en-US" dirty="0"/>
              <a:t>.</a:t>
            </a:r>
          </a:p>
          <a:p>
            <a:r>
              <a:rPr lang="en-US" sz="2000" b="1" dirty="0"/>
              <a:t>Fungal laryngitis etiology</a:t>
            </a:r>
          </a:p>
          <a:p>
            <a:r>
              <a:rPr lang="en-US" sz="2000" dirty="0" err="1"/>
              <a:t>Candidal</a:t>
            </a:r>
            <a:r>
              <a:rPr lang="en-US" sz="2000" dirty="0"/>
              <a:t> laryngitis.</a:t>
            </a:r>
          </a:p>
          <a:p>
            <a:r>
              <a:rPr lang="en-US" sz="2000" dirty="0" err="1"/>
              <a:t>Aspergillus</a:t>
            </a:r>
            <a:r>
              <a:rPr lang="en-US" sz="2000" dirty="0"/>
              <a:t> laryngitis.</a:t>
            </a:r>
          </a:p>
          <a:p>
            <a:r>
              <a:rPr lang="en-US" sz="2000" dirty="0" err="1"/>
              <a:t>Histoplasmic</a:t>
            </a:r>
            <a:r>
              <a:rPr lang="en-US" sz="2000" dirty="0"/>
              <a:t> laryngitis</a:t>
            </a:r>
            <a:r>
              <a:rPr lang="en-US" sz="2000" b="1" dirty="0"/>
              <a:t>.</a:t>
            </a:r>
          </a:p>
          <a:p>
            <a:endParaRPr lang="en-US" sz="2000" b="1" dirty="0"/>
          </a:p>
          <a:p>
            <a:r>
              <a:rPr lang="en-US" sz="2000" b="1" dirty="0"/>
              <a:t>Epiglottitis.</a:t>
            </a:r>
          </a:p>
          <a:p>
            <a:r>
              <a:rPr lang="en-US" sz="2000" b="1" dirty="0" err="1"/>
              <a:t>Perichondritis</a:t>
            </a:r>
            <a:r>
              <a:rPr lang="en-US" dirty="0"/>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611560" y="2936468"/>
            <a:ext cx="7848872" cy="388347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4100989" y="38062"/>
            <a:ext cx="4590581" cy="2857520"/>
          </a:xfrm>
          <a:prstGeom prst="rect">
            <a:avLst/>
          </a:prstGeom>
          <a:noFill/>
          <a:ln w="9525">
            <a:noFill/>
            <a:miter lim="800000"/>
            <a:headEnd/>
            <a:tailEnd/>
          </a:ln>
          <a:effectLst/>
        </p:spPr>
      </p:pic>
      <p:pic>
        <p:nvPicPr>
          <p:cNvPr id="1029" name="Picture 5"/>
          <p:cNvPicPr>
            <a:picLocks noChangeAspect="1" noChangeArrowheads="1"/>
          </p:cNvPicPr>
          <p:nvPr/>
        </p:nvPicPr>
        <p:blipFill>
          <a:blip r:embed="rId4"/>
          <a:srcRect/>
          <a:stretch>
            <a:fillRect/>
          </a:stretch>
        </p:blipFill>
        <p:spPr bwMode="auto">
          <a:xfrm>
            <a:off x="-9561" y="-2823"/>
            <a:ext cx="4110550" cy="2857520"/>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67494"/>
            <a:ext cx="8229600" cy="1161242"/>
          </a:xfrm>
        </p:spPr>
        <p:txBody>
          <a:bodyPr>
            <a:normAutofit/>
          </a:bodyPr>
          <a:lstStyle/>
          <a:p>
            <a:r>
              <a:rPr lang="en-US" sz="3200" dirty="0"/>
              <a:t>Non-infectious acute laryngitis.</a:t>
            </a:r>
          </a:p>
        </p:txBody>
      </p:sp>
      <p:sp>
        <p:nvSpPr>
          <p:cNvPr id="3" name="2 Marcador de contenido"/>
          <p:cNvSpPr>
            <a:spLocks noGrp="1"/>
          </p:cNvSpPr>
          <p:nvPr>
            <p:ph idx="1"/>
          </p:nvPr>
        </p:nvSpPr>
        <p:spPr/>
        <p:txBody>
          <a:bodyPr>
            <a:normAutofit/>
          </a:bodyPr>
          <a:lstStyle/>
          <a:p>
            <a:r>
              <a:rPr lang="en-US" sz="2000" dirty="0"/>
              <a:t>Allergic or hypersensitivity laryngitis.</a:t>
            </a:r>
          </a:p>
          <a:p>
            <a:r>
              <a:rPr lang="en-US" sz="2000" dirty="0"/>
              <a:t>Drug laryngitis by non-immunological mechanism.</a:t>
            </a:r>
          </a:p>
          <a:p>
            <a:r>
              <a:rPr lang="en-US" sz="2000" dirty="0"/>
              <a:t>Acute inhalational or thermal laryngitis, and caustic laryngitis and/or reflux laryngopharyngeal. </a:t>
            </a:r>
          </a:p>
          <a:p>
            <a:r>
              <a:rPr lang="en-US" sz="2000" dirty="0"/>
              <a:t>Laryngitis due to trauma or vocal effort.</a:t>
            </a:r>
          </a:p>
          <a:p>
            <a:r>
              <a:rPr lang="en-US" sz="2000" dirty="0"/>
              <a:t> Autoimmune laryngitis.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24891" y="0"/>
            <a:ext cx="4375820" cy="4512564"/>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4366462" y="0"/>
            <a:ext cx="4777538" cy="4437112"/>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sz="2700" dirty="0"/>
              <a:t>Laryngeal  appearances  vary with severity  of  disease</a:t>
            </a:r>
            <a:r>
              <a:rPr lang="en-US" dirty="0"/>
              <a:t>.</a:t>
            </a:r>
          </a:p>
        </p:txBody>
      </p:sp>
      <p:sp>
        <p:nvSpPr>
          <p:cNvPr id="3" name="2 Marcador de contenido"/>
          <p:cNvSpPr>
            <a:spLocks noGrp="1"/>
          </p:cNvSpPr>
          <p:nvPr>
            <p:ph idx="1"/>
          </p:nvPr>
        </p:nvSpPr>
        <p:spPr>
          <a:xfrm>
            <a:off x="457200" y="1643050"/>
            <a:ext cx="8229600" cy="4811758"/>
          </a:xfrm>
        </p:spPr>
        <p:txBody>
          <a:bodyPr>
            <a:normAutofit fontScale="70000" lnSpcReduction="20000"/>
          </a:bodyPr>
          <a:lstStyle/>
          <a:p>
            <a:r>
              <a:rPr lang="en-US" dirty="0"/>
              <a:t> </a:t>
            </a:r>
            <a:r>
              <a:rPr lang="en-US" sz="3600" dirty="0"/>
              <a:t>In  early stages,  there  is  erythema  and  </a:t>
            </a:r>
            <a:r>
              <a:rPr lang="en-US" sz="3600" dirty="0" err="1"/>
              <a:t>oedema</a:t>
            </a:r>
            <a:r>
              <a:rPr lang="en-US" sz="3600" dirty="0"/>
              <a:t>  of  epiglottis, </a:t>
            </a:r>
            <a:r>
              <a:rPr lang="en-US" sz="3600" dirty="0" err="1"/>
              <a:t>aryepiglottic</a:t>
            </a:r>
            <a:r>
              <a:rPr lang="en-US" sz="3600" dirty="0"/>
              <a:t> folds, arytenoids and ventricular bands, but the  vocal cords appear white and near normal and stand out  in contrast to surrounding mucosa, betraying  the degree  of  hoarseness patient has. </a:t>
            </a:r>
          </a:p>
          <a:p>
            <a:r>
              <a:rPr lang="en-US" sz="3600" dirty="0"/>
              <a:t>Later, </a:t>
            </a:r>
            <a:r>
              <a:rPr lang="en-US" sz="3600" dirty="0" err="1"/>
              <a:t>hyperaemia</a:t>
            </a:r>
            <a:r>
              <a:rPr lang="en-US" sz="3600" dirty="0"/>
              <a:t>  and swelling increase. Vocal cords also become red and swollen. </a:t>
            </a:r>
          </a:p>
          <a:p>
            <a:r>
              <a:rPr lang="en-US" sz="3600" dirty="0" err="1"/>
              <a:t>Subglottic</a:t>
            </a:r>
            <a:r>
              <a:rPr lang="en-US" sz="3600" dirty="0"/>
              <a:t> region also gets involved. Sticky secretions are seen between the cords and </a:t>
            </a:r>
            <a:r>
              <a:rPr lang="en-US" sz="3600" dirty="0" err="1"/>
              <a:t>interarytenoid</a:t>
            </a:r>
            <a:r>
              <a:rPr lang="en-US" sz="3600" dirty="0"/>
              <a:t> region.  </a:t>
            </a:r>
          </a:p>
          <a:p>
            <a:r>
              <a:rPr lang="en-US" sz="3600" dirty="0"/>
              <a:t>In  case of  vocal abuse, </a:t>
            </a:r>
            <a:r>
              <a:rPr lang="en-US" sz="3600" dirty="0" err="1"/>
              <a:t>submucosal</a:t>
            </a:r>
            <a:r>
              <a:rPr lang="en-US" sz="3600" dirty="0"/>
              <a:t> </a:t>
            </a:r>
            <a:r>
              <a:rPr lang="en-US" sz="3600" dirty="0" err="1"/>
              <a:t>haemorrhages</a:t>
            </a:r>
            <a:r>
              <a:rPr lang="en-US" sz="3600" dirty="0"/>
              <a:t> may  be  seen  in the vocal cords.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72CE6-562B-6182-AF9F-31F380316DBB}"/>
              </a:ext>
            </a:extLst>
          </p:cNvPr>
          <p:cNvSpPr>
            <a:spLocks noGrp="1"/>
          </p:cNvSpPr>
          <p:nvPr>
            <p:ph type="title"/>
          </p:nvPr>
        </p:nvSpPr>
        <p:spPr/>
        <p:txBody>
          <a:bodyPr/>
          <a:lstStyle/>
          <a:p>
            <a:endParaRPr lang="en-UG"/>
          </a:p>
        </p:txBody>
      </p:sp>
      <p:pic>
        <p:nvPicPr>
          <p:cNvPr id="5" name="Content Placeholder 4">
            <a:extLst>
              <a:ext uri="{FF2B5EF4-FFF2-40B4-BE49-F238E27FC236}">
                <a16:creationId xmlns:a16="http://schemas.microsoft.com/office/drawing/2014/main" id="{F12D9553-FA09-92D8-5148-0DC7C8F9D5D6}"/>
              </a:ext>
            </a:extLst>
          </p:cNvPr>
          <p:cNvPicPr>
            <a:picLocks noGrp="1" noChangeAspect="1"/>
          </p:cNvPicPr>
          <p:nvPr>
            <p:ph idx="1"/>
          </p:nvPr>
        </p:nvPicPr>
        <p:blipFill>
          <a:blip r:embed="rId2"/>
          <a:stretch>
            <a:fillRect/>
          </a:stretch>
        </p:blipFill>
        <p:spPr>
          <a:xfrm>
            <a:off x="2051720" y="412683"/>
            <a:ext cx="5238328" cy="6187281"/>
          </a:xfrm>
          <a:prstGeom prst="rect">
            <a:avLst/>
          </a:prstGeom>
        </p:spPr>
      </p:pic>
    </p:spTree>
    <p:extLst>
      <p:ext uri="{BB962C8B-B14F-4D97-AF65-F5344CB8AC3E}">
        <p14:creationId xmlns:p14="http://schemas.microsoft.com/office/powerpoint/2010/main" val="25466859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67494"/>
            <a:ext cx="8229600" cy="946928"/>
          </a:xfrm>
        </p:spPr>
        <p:txBody>
          <a:bodyPr>
            <a:normAutofit fontScale="90000"/>
          </a:bodyPr>
          <a:lstStyle/>
          <a:p>
            <a:r>
              <a:rPr lang="en-US" dirty="0"/>
              <a:t>Clinical  Features</a:t>
            </a:r>
            <a:br>
              <a:rPr lang="en-US" dirty="0"/>
            </a:br>
            <a:endParaRPr lang="en-US" dirty="0"/>
          </a:p>
        </p:txBody>
      </p:sp>
      <p:sp>
        <p:nvSpPr>
          <p:cNvPr id="3" name="2 Marcador de contenido"/>
          <p:cNvSpPr>
            <a:spLocks noGrp="1"/>
          </p:cNvSpPr>
          <p:nvPr>
            <p:ph idx="1"/>
          </p:nvPr>
        </p:nvSpPr>
        <p:spPr>
          <a:xfrm>
            <a:off x="457200" y="1357298"/>
            <a:ext cx="8229600" cy="5097510"/>
          </a:xfrm>
        </p:spPr>
        <p:txBody>
          <a:bodyPr>
            <a:normAutofit fontScale="92500" lnSpcReduction="20000"/>
          </a:bodyPr>
          <a:lstStyle/>
          <a:p>
            <a:r>
              <a:rPr lang="en-US" dirty="0"/>
              <a:t>Symptoms  are usually  abrupt  in onset  and  consist  of:</a:t>
            </a:r>
          </a:p>
          <a:p>
            <a:r>
              <a:rPr lang="en-US" dirty="0"/>
              <a:t>1.  Hoarseness which may lead to complete  loss  of  voice.</a:t>
            </a:r>
          </a:p>
          <a:p>
            <a:r>
              <a:rPr lang="en-US" dirty="0"/>
              <a:t>2.  Discomfort  or  pain in throat, particularly after talking.</a:t>
            </a:r>
          </a:p>
          <a:p>
            <a:r>
              <a:rPr lang="en-US" dirty="0"/>
              <a:t>3.  Dry, irritating cough  which  is  usually worse  at  night.</a:t>
            </a:r>
          </a:p>
          <a:p>
            <a:r>
              <a:rPr lang="en-US" dirty="0"/>
              <a:t>4.  General  symptoms  of  head, cold, rawness  or dryness of  throat, malaise  and  fever if laryngitis has followed viral infection  of  upper respiratory tract or bacterial infection.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67494"/>
            <a:ext cx="8229600" cy="804052"/>
          </a:xfrm>
        </p:spPr>
        <p:txBody>
          <a:bodyPr/>
          <a:lstStyle/>
          <a:p>
            <a:r>
              <a:rPr lang="en-US" dirty="0"/>
              <a:t>Treatment</a:t>
            </a:r>
          </a:p>
        </p:txBody>
      </p:sp>
      <p:sp>
        <p:nvSpPr>
          <p:cNvPr id="3" name="2 Marcador de contenido"/>
          <p:cNvSpPr>
            <a:spLocks noGrp="1"/>
          </p:cNvSpPr>
          <p:nvPr>
            <p:ph idx="1"/>
          </p:nvPr>
        </p:nvSpPr>
        <p:spPr>
          <a:xfrm>
            <a:off x="457200" y="1214422"/>
            <a:ext cx="8229600" cy="5240386"/>
          </a:xfrm>
        </p:spPr>
        <p:txBody>
          <a:bodyPr>
            <a:normAutofit/>
          </a:bodyPr>
          <a:lstStyle/>
          <a:p>
            <a:r>
              <a:rPr lang="en-US" sz="2000" dirty="0"/>
              <a:t>Vocal  rest.  This  is  the  most important  single factor. Use  of  voice during acute laryngitis may lead to incomplete  or  delayed recovery</a:t>
            </a:r>
            <a:r>
              <a:rPr lang="en-US" dirty="0"/>
              <a:t>.</a:t>
            </a:r>
          </a:p>
          <a:p>
            <a:r>
              <a:rPr lang="en-US" sz="2000" dirty="0"/>
              <a:t>Steam  inhalations  with  Tr.  Benzoin  Co,  oil  of  eucalyptus are soothing  and loosen viscid secretions.</a:t>
            </a:r>
          </a:p>
          <a:p>
            <a:r>
              <a:rPr lang="en-US" sz="2000" dirty="0"/>
              <a:t>Avoidance  of  smoking  and  alcohol</a:t>
            </a:r>
          </a:p>
          <a:p>
            <a:r>
              <a:rPr lang="en-US" sz="2000" dirty="0"/>
              <a:t>Cough  sedative.  To suppress troublesome irritating cough.</a:t>
            </a:r>
          </a:p>
          <a:p>
            <a:r>
              <a:rPr lang="en-US" sz="2000" dirty="0"/>
              <a:t>Antibiotics.  When  there  is secondary infection  </a:t>
            </a:r>
            <a:r>
              <a:rPr lang="en-US" sz="2000" dirty="0" err="1"/>
              <a:t>withfever</a:t>
            </a:r>
            <a:r>
              <a:rPr lang="en-US" sz="2000" dirty="0"/>
              <a:t>  and  </a:t>
            </a:r>
            <a:r>
              <a:rPr lang="en-US" sz="2000" dirty="0" err="1"/>
              <a:t>toxaemia</a:t>
            </a:r>
            <a:r>
              <a:rPr lang="en-US" sz="2000" dirty="0"/>
              <a:t>  or  purulent  expectoration.</a:t>
            </a:r>
          </a:p>
          <a:p>
            <a:r>
              <a:rPr lang="en-US" sz="2000" dirty="0"/>
              <a:t>Analgesics.  To relieve local  pain  and discomfort.</a:t>
            </a:r>
          </a:p>
          <a:p>
            <a:r>
              <a:rPr lang="en-US" sz="2000" dirty="0"/>
              <a:t>Steroids.  Useful in laryngitis following thermal  or chemical burns.</a:t>
            </a:r>
          </a:p>
          <a:p>
            <a:r>
              <a:rPr lang="en-US" sz="2000" dirty="0"/>
              <a:t>Intubation /</a:t>
            </a:r>
            <a:r>
              <a:rPr lang="en-US" sz="2000" dirty="0" err="1"/>
              <a:t>tracheostomy</a:t>
            </a:r>
            <a:r>
              <a:rPr lang="en-US" sz="2000" dirty="0"/>
              <a:t>  is  done, should respiratory obstruction increase in spite  of  the  above measures.</a:t>
            </a:r>
          </a:p>
          <a:p>
            <a:endParaRPr 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algn="ctr"/>
            <a:r>
              <a:rPr lang="en-US" sz="3200" dirty="0">
                <a:ln w="12700">
                  <a:solidFill>
                    <a:schemeClr val="tx2">
                      <a:satMod val="155000"/>
                    </a:schemeClr>
                  </a:solidFill>
                  <a:prstDash val="solid"/>
                </a:ln>
                <a:solidFill>
                  <a:schemeClr val="accent3">
                    <a:lumMod val="40000"/>
                    <a:lumOff val="60000"/>
                  </a:schemeClr>
                </a:solidFill>
                <a:effectLst>
                  <a:glow rad="63500">
                    <a:schemeClr val="accent2">
                      <a:satMod val="175000"/>
                      <a:alpha val="40000"/>
                    </a:schemeClr>
                  </a:glow>
                  <a:outerShdw blurRad="41275" dist="20320" dir="1800000" algn="tl" rotWithShape="0">
                    <a:srgbClr val="000000">
                      <a:alpha val="40000"/>
                    </a:srgbClr>
                  </a:outerShdw>
                </a:effectLst>
                <a:latin typeface="Times New Roman" pitchFamily="18" charset="0"/>
                <a:cs typeface="Times New Roman" pitchFamily="18" charset="0"/>
              </a:rPr>
              <a:t>Croup (</a:t>
            </a:r>
            <a:r>
              <a:rPr lang="en-US" sz="3200" dirty="0" err="1">
                <a:ln w="12700">
                  <a:solidFill>
                    <a:schemeClr val="tx2">
                      <a:satMod val="155000"/>
                    </a:schemeClr>
                  </a:solidFill>
                  <a:prstDash val="solid"/>
                </a:ln>
                <a:solidFill>
                  <a:schemeClr val="accent3">
                    <a:lumMod val="40000"/>
                    <a:lumOff val="60000"/>
                  </a:schemeClr>
                </a:solidFill>
                <a:effectLst>
                  <a:glow rad="63500">
                    <a:schemeClr val="accent2">
                      <a:satMod val="175000"/>
                      <a:alpha val="40000"/>
                    </a:schemeClr>
                  </a:glow>
                  <a:outerShdw blurRad="41275" dist="20320" dir="1800000" algn="tl" rotWithShape="0">
                    <a:srgbClr val="000000">
                      <a:alpha val="40000"/>
                    </a:srgbClr>
                  </a:outerShdw>
                </a:effectLst>
                <a:latin typeface="Times New Roman" pitchFamily="18" charset="0"/>
                <a:cs typeface="Times New Roman" pitchFamily="18" charset="0"/>
              </a:rPr>
              <a:t>laryngotracheobronchitis</a:t>
            </a:r>
            <a:r>
              <a:rPr lang="en-US" sz="3200" dirty="0">
                <a:ln w="12700">
                  <a:solidFill>
                    <a:schemeClr val="tx2">
                      <a:satMod val="155000"/>
                    </a:schemeClr>
                  </a:solidFill>
                  <a:prstDash val="solid"/>
                </a:ln>
                <a:solidFill>
                  <a:schemeClr val="accent3">
                    <a:lumMod val="40000"/>
                    <a:lumOff val="60000"/>
                  </a:schemeClr>
                </a:solidFill>
                <a:effectLst>
                  <a:glow rad="63500">
                    <a:schemeClr val="accent2">
                      <a:satMod val="175000"/>
                      <a:alpha val="40000"/>
                    </a:schemeClr>
                  </a:glow>
                  <a:outerShdw blurRad="41275" dist="20320" dir="1800000" algn="tl" rotWithShape="0">
                    <a:srgbClr val="000000">
                      <a:alpha val="40000"/>
                    </a:srgbClr>
                  </a:outerShdw>
                </a:effectLst>
                <a:latin typeface="Times New Roman" pitchFamily="18" charset="0"/>
                <a:cs typeface="Times New Roman" pitchFamily="18" charset="0"/>
              </a:rPr>
              <a:t> )</a:t>
            </a:r>
            <a:endParaRPr lang="en-US" sz="3200" dirty="0">
              <a:solidFill>
                <a:schemeClr val="accent3">
                  <a:lumMod val="40000"/>
                  <a:lumOff val="60000"/>
                </a:schemeClr>
              </a:solidFill>
            </a:endParaRPr>
          </a:p>
        </p:txBody>
      </p:sp>
      <p:sp>
        <p:nvSpPr>
          <p:cNvPr id="3" name="2 Marcador de contenido"/>
          <p:cNvSpPr>
            <a:spLocks noGrp="1"/>
          </p:cNvSpPr>
          <p:nvPr>
            <p:ph idx="1"/>
          </p:nvPr>
        </p:nvSpPr>
        <p:spPr/>
        <p:txBody>
          <a:bodyPr/>
          <a:lstStyle/>
          <a:p>
            <a:pPr marL="324000" indent="0" algn="just">
              <a:lnSpc>
                <a:spcPct val="90000"/>
              </a:lnSpc>
              <a:buClr>
                <a:schemeClr val="accent3"/>
              </a:buClr>
              <a:buNone/>
              <a:defRPr/>
            </a:pPr>
            <a:r>
              <a:rPr lang="en-US" dirty="0">
                <a:effectLst>
                  <a:outerShdw blurRad="38100" dist="38100" dir="2700000" algn="tl">
                    <a:srgbClr val="000000">
                      <a:alpha val="43137"/>
                    </a:srgbClr>
                  </a:outerShdw>
                </a:effectLst>
              </a:rPr>
              <a:t>Term applied to group of inflammatory conditions involving larynx , trachea and characterized by Triad : </a:t>
            </a:r>
          </a:p>
          <a:p>
            <a:pPr marL="420624" algn="just">
              <a:lnSpc>
                <a:spcPct val="90000"/>
              </a:lnSpc>
              <a:buClr>
                <a:schemeClr val="accent3"/>
              </a:buClr>
              <a:buNone/>
              <a:defRPr/>
            </a:pPr>
            <a:endParaRPr lang="en-US" sz="1400" dirty="0">
              <a:effectLst>
                <a:outerShdw blurRad="38100" dist="38100" dir="2700000" algn="tl">
                  <a:srgbClr val="000000">
                    <a:alpha val="43137"/>
                  </a:srgbClr>
                </a:outerShdw>
              </a:effectLst>
            </a:endParaRPr>
          </a:p>
          <a:p>
            <a:pPr marL="420624" algn="just">
              <a:lnSpc>
                <a:spcPct val="90000"/>
              </a:lnSpc>
              <a:buClr>
                <a:schemeClr val="bg2">
                  <a:lumMod val="60000"/>
                  <a:lumOff val="40000"/>
                </a:schemeClr>
              </a:buClr>
              <a:defRPr/>
            </a:pPr>
            <a:r>
              <a:rPr lang="en-US" b="1" dirty="0" err="1">
                <a:effectLst>
                  <a:outerShdw blurRad="38100" dist="38100" dir="2700000" algn="tl">
                    <a:srgbClr val="000000">
                      <a:alpha val="43137"/>
                    </a:srgbClr>
                  </a:outerShdw>
                </a:effectLst>
              </a:rPr>
              <a:t>Inspiratory</a:t>
            </a:r>
            <a:r>
              <a:rPr lang="en-US" b="1" dirty="0">
                <a:effectLst>
                  <a:outerShdw blurRad="38100" dist="38100" dir="2700000" algn="tl">
                    <a:srgbClr val="000000">
                      <a:alpha val="43137"/>
                    </a:srgbClr>
                  </a:outerShdw>
                </a:effectLst>
              </a:rPr>
              <a:t> stridor</a:t>
            </a:r>
          </a:p>
          <a:p>
            <a:pPr marL="420624" algn="just">
              <a:lnSpc>
                <a:spcPct val="90000"/>
              </a:lnSpc>
              <a:buClr>
                <a:schemeClr val="bg2">
                  <a:lumMod val="60000"/>
                  <a:lumOff val="40000"/>
                </a:schemeClr>
              </a:buClr>
              <a:defRPr/>
            </a:pPr>
            <a:r>
              <a:rPr lang="en-US" b="1" dirty="0">
                <a:effectLst>
                  <a:outerShdw blurRad="38100" dist="38100" dir="2700000" algn="tl">
                    <a:srgbClr val="000000">
                      <a:alpha val="43137"/>
                    </a:srgbClr>
                  </a:outerShdw>
                </a:effectLst>
              </a:rPr>
              <a:t>Brassy cough</a:t>
            </a:r>
          </a:p>
          <a:p>
            <a:pPr marL="420624" algn="just">
              <a:lnSpc>
                <a:spcPct val="90000"/>
              </a:lnSpc>
              <a:buClr>
                <a:schemeClr val="bg2">
                  <a:lumMod val="60000"/>
                  <a:lumOff val="40000"/>
                </a:schemeClr>
              </a:buClr>
              <a:defRPr/>
            </a:pPr>
            <a:r>
              <a:rPr lang="en-US" b="1" dirty="0">
                <a:effectLst>
                  <a:outerShdw blurRad="38100" dist="38100" dir="2700000" algn="tl">
                    <a:srgbClr val="000000">
                      <a:alpha val="43137"/>
                    </a:srgbClr>
                  </a:outerShdw>
                </a:effectLst>
              </a:rPr>
              <a:t>Hoarseness of voice +/_ resp. distress</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428604"/>
            <a:ext cx="8229600" cy="6026204"/>
          </a:xfrm>
        </p:spPr>
        <p:txBody>
          <a:bodyPr>
            <a:normAutofit lnSpcReduction="10000"/>
          </a:bodyPr>
          <a:lstStyle/>
          <a:p>
            <a:pPr>
              <a:lnSpc>
                <a:spcPct val="120000"/>
              </a:lnSpc>
              <a:buClr>
                <a:schemeClr val="accent3"/>
              </a:buClr>
              <a:buFont typeface="Wingdings 2"/>
              <a:buChar char=""/>
              <a:defRPr/>
            </a:pPr>
            <a:r>
              <a:rPr lang="en-US" dirty="0"/>
              <a:t>Usually  viral in origin </a:t>
            </a:r>
          </a:p>
          <a:p>
            <a:pPr>
              <a:lnSpc>
                <a:spcPct val="120000"/>
              </a:lnSpc>
              <a:buClr>
                <a:schemeClr val="accent3"/>
              </a:buClr>
              <a:buNone/>
              <a:defRPr/>
            </a:pPr>
            <a:r>
              <a:rPr lang="en-US" dirty="0"/>
              <a:t>                   - </a:t>
            </a:r>
            <a:r>
              <a:rPr lang="en-US" dirty="0" err="1"/>
              <a:t>Parainfluenza</a:t>
            </a:r>
            <a:r>
              <a:rPr lang="en-US" dirty="0"/>
              <a:t> virus (type 1)</a:t>
            </a:r>
          </a:p>
          <a:p>
            <a:pPr>
              <a:lnSpc>
                <a:spcPct val="120000"/>
              </a:lnSpc>
              <a:buClr>
                <a:schemeClr val="accent3"/>
              </a:buClr>
              <a:buNone/>
              <a:defRPr/>
            </a:pPr>
            <a:r>
              <a:rPr lang="en-US" dirty="0"/>
              <a:t>                   - Influenza virus </a:t>
            </a:r>
          </a:p>
          <a:p>
            <a:pPr>
              <a:lnSpc>
                <a:spcPct val="120000"/>
              </a:lnSpc>
              <a:buClr>
                <a:schemeClr val="accent3"/>
              </a:buClr>
              <a:buNone/>
              <a:defRPr/>
            </a:pPr>
            <a:r>
              <a:rPr lang="en-US" dirty="0"/>
              <a:t>                   - RSV , adenovirus , measles virus</a:t>
            </a:r>
          </a:p>
          <a:p>
            <a:pPr>
              <a:lnSpc>
                <a:spcPct val="120000"/>
              </a:lnSpc>
              <a:buClr>
                <a:schemeClr val="accent3"/>
              </a:buClr>
              <a:buNone/>
              <a:defRPr/>
            </a:pPr>
            <a:endParaRPr lang="en-US" dirty="0"/>
          </a:p>
          <a:p>
            <a:pPr>
              <a:lnSpc>
                <a:spcPct val="120000"/>
              </a:lnSpc>
              <a:buClr>
                <a:schemeClr val="accent3"/>
              </a:buClr>
              <a:buFont typeface="Wingdings 2"/>
              <a:buChar char=""/>
              <a:defRPr/>
            </a:pPr>
            <a:r>
              <a:rPr lang="en-US" dirty="0">
                <a:sym typeface="AGA Arabesque"/>
              </a:rPr>
              <a:t>I</a:t>
            </a:r>
            <a:r>
              <a:rPr lang="en-US" dirty="0"/>
              <a:t>t is the </a:t>
            </a:r>
            <a:r>
              <a:rPr lang="en-US" dirty="0">
                <a:solidFill>
                  <a:schemeClr val="accent2"/>
                </a:solidFill>
              </a:rPr>
              <a:t>most common</a:t>
            </a:r>
            <a:r>
              <a:rPr lang="en-US" dirty="0"/>
              <a:t> cause of Acute Airway Obstruction in children</a:t>
            </a:r>
          </a:p>
          <a:p>
            <a:pPr>
              <a:lnSpc>
                <a:spcPct val="120000"/>
              </a:lnSpc>
              <a:buClr>
                <a:schemeClr val="accent3"/>
              </a:buClr>
              <a:buFont typeface="Wingdings 2"/>
              <a:buChar char=""/>
              <a:defRPr/>
            </a:pPr>
            <a:r>
              <a:rPr lang="en-US" dirty="0"/>
              <a:t>Age group 3m-3 years (peak 2years)</a:t>
            </a:r>
          </a:p>
          <a:p>
            <a:pPr>
              <a:lnSpc>
                <a:spcPct val="120000"/>
              </a:lnSpc>
              <a:buClr>
                <a:schemeClr val="accent3"/>
              </a:buClr>
              <a:buFont typeface="Wingdings 2"/>
              <a:buChar char=""/>
              <a:defRPr/>
            </a:pPr>
            <a:r>
              <a:rPr lang="en-US" dirty="0"/>
              <a:t>Affects boys more often than girls</a:t>
            </a:r>
          </a:p>
          <a:p>
            <a:pPr>
              <a:lnSpc>
                <a:spcPct val="120000"/>
              </a:lnSpc>
              <a:buClr>
                <a:schemeClr val="accent3"/>
              </a:buClr>
              <a:buFont typeface="Wingdings 2"/>
              <a:buChar char=""/>
              <a:defRPr/>
            </a:pPr>
            <a:r>
              <a:rPr lang="en-US" dirty="0"/>
              <a:t>Peak occurrence is in  fall and winter</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a:t>Clinical features</a:t>
            </a:r>
          </a:p>
        </p:txBody>
      </p:sp>
      <p:sp>
        <p:nvSpPr>
          <p:cNvPr id="3" name="2 Marcador de contenido"/>
          <p:cNvSpPr>
            <a:spLocks noGrp="1"/>
          </p:cNvSpPr>
          <p:nvPr>
            <p:ph idx="1"/>
          </p:nvPr>
        </p:nvSpPr>
        <p:spPr/>
        <p:txBody>
          <a:bodyPr/>
          <a:lstStyle/>
          <a:p>
            <a:r>
              <a:rPr lang="en-US" dirty="0"/>
              <a:t>Gradual or sudden in onset</a:t>
            </a:r>
          </a:p>
          <a:p>
            <a:r>
              <a:rPr lang="en-US" dirty="0"/>
              <a:t>Triad : </a:t>
            </a:r>
          </a:p>
          <a:p>
            <a:r>
              <a:rPr lang="en-US" dirty="0"/>
              <a:t>      </a:t>
            </a:r>
            <a:r>
              <a:rPr lang="en-US" dirty="0" err="1"/>
              <a:t>Inspiratory</a:t>
            </a:r>
            <a:r>
              <a:rPr lang="en-US" dirty="0"/>
              <a:t> stridor</a:t>
            </a:r>
          </a:p>
          <a:p>
            <a:r>
              <a:rPr lang="en-US" dirty="0"/>
              <a:t>      Brassy cough</a:t>
            </a:r>
          </a:p>
          <a:p>
            <a:r>
              <a:rPr lang="en-US" dirty="0"/>
              <a:t>      Hoarseness of voice +/_ </a:t>
            </a:r>
            <a:r>
              <a:rPr lang="en-US" dirty="0" err="1"/>
              <a:t>resp.distress</a:t>
            </a:r>
            <a:endParaRPr lang="en-US" dirty="0"/>
          </a:p>
          <a:p>
            <a:endParaRPr lang="en-US" dirty="0"/>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a:t>Diagnosis</a:t>
            </a:r>
          </a:p>
        </p:txBody>
      </p:sp>
      <p:sp>
        <p:nvSpPr>
          <p:cNvPr id="3" name="2 Marcador de contenido"/>
          <p:cNvSpPr>
            <a:spLocks noGrp="1"/>
          </p:cNvSpPr>
          <p:nvPr>
            <p:ph idx="1"/>
          </p:nvPr>
        </p:nvSpPr>
        <p:spPr>
          <a:xfrm>
            <a:off x="457200" y="1571612"/>
            <a:ext cx="8401080" cy="4883196"/>
          </a:xfrm>
        </p:spPr>
        <p:txBody>
          <a:bodyPr>
            <a:normAutofit/>
          </a:bodyPr>
          <a:lstStyle/>
          <a:p>
            <a:r>
              <a:rPr lang="en-US" dirty="0"/>
              <a:t>It is clinically diagnosed </a:t>
            </a:r>
          </a:p>
          <a:p>
            <a:r>
              <a:rPr lang="en-US" dirty="0"/>
              <a:t> Neck x-ray  and CBC  all should be done in clinically stable pt .</a:t>
            </a:r>
          </a:p>
          <a:p>
            <a:r>
              <a:rPr lang="en-US" dirty="0"/>
              <a:t>   - AP neck film : show a pencil tip or steeple sign of the </a:t>
            </a:r>
            <a:r>
              <a:rPr lang="en-US" dirty="0" err="1"/>
              <a:t>subglottic</a:t>
            </a:r>
            <a:r>
              <a:rPr lang="en-US" dirty="0"/>
              <a:t> trachea </a:t>
            </a:r>
          </a:p>
          <a:p>
            <a:r>
              <a:rPr lang="en-US" dirty="0"/>
              <a:t>-  CBC , it may helps . </a:t>
            </a: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peds075a2"/>
          <p:cNvPicPr>
            <a:picLocks noGrp="1" noChangeAspect="1" noChangeArrowheads="1"/>
          </p:cNvPicPr>
          <p:nvPr>
            <p:ph idx="1"/>
          </p:nvPr>
        </p:nvPicPr>
        <p:blipFill>
          <a:blip r:embed="rId2"/>
          <a:srcRect/>
          <a:stretch>
            <a:fillRect/>
          </a:stretch>
        </p:blipFill>
        <p:spPr bwMode="auto">
          <a:xfrm>
            <a:off x="5072066" y="285728"/>
            <a:ext cx="3857652" cy="6215106"/>
          </a:xfrm>
          <a:prstGeom prst="rect">
            <a:avLst/>
          </a:prstGeom>
          <a:noFill/>
          <a:ln w="9525">
            <a:noFill/>
            <a:miter lim="800000"/>
            <a:headEnd/>
            <a:tailEnd/>
          </a:ln>
        </p:spPr>
      </p:pic>
      <p:sp>
        <p:nvSpPr>
          <p:cNvPr id="7" name="6 Rectángulo"/>
          <p:cNvSpPr/>
          <p:nvPr/>
        </p:nvSpPr>
        <p:spPr>
          <a:xfrm>
            <a:off x="785787" y="3071810"/>
            <a:ext cx="2857520" cy="830997"/>
          </a:xfrm>
          <a:prstGeom prst="rect">
            <a:avLst/>
          </a:prstGeom>
        </p:spPr>
        <p:txBody>
          <a:bodyPr wrap="square">
            <a:spAutoFit/>
          </a:bodyPr>
          <a:lstStyle/>
          <a:p>
            <a:pPr marL="0" marR="0" lvl="0" indent="0" defTabSz="914400" eaLnBrk="1" fontAlgn="auto" latinLnBrk="0" hangingPunct="1">
              <a:lnSpc>
                <a:spcPct val="100000"/>
              </a:lnSpc>
              <a:spcBef>
                <a:spcPct val="30000"/>
              </a:spcBef>
              <a:spcAft>
                <a:spcPts val="0"/>
              </a:spcAft>
              <a:buClrTx/>
              <a:buSzTx/>
              <a:buFontTx/>
              <a:buNone/>
              <a:tabLst/>
              <a:defRPr/>
            </a:pPr>
            <a:r>
              <a:rPr kumimoji="0" lang="en-US" sz="2400" b="1" i="0" u="none" strike="noStrike" kern="0" cap="none" spc="0" normalizeH="0" baseline="0" noProof="0" dirty="0">
                <a:ln w="11430"/>
                <a:gradFill>
                  <a:gsLst>
                    <a:gs pos="0">
                      <a:srgbClr val="FA8D3D">
                        <a:tint val="90000"/>
                        <a:satMod val="120000"/>
                      </a:srgbClr>
                    </a:gs>
                    <a:gs pos="25000">
                      <a:srgbClr val="FA8D3D">
                        <a:tint val="93000"/>
                        <a:satMod val="120000"/>
                      </a:srgbClr>
                    </a:gs>
                    <a:gs pos="50000">
                      <a:srgbClr val="FA8D3D">
                        <a:shade val="89000"/>
                        <a:satMod val="110000"/>
                      </a:srgbClr>
                    </a:gs>
                    <a:gs pos="75000">
                      <a:srgbClr val="FA8D3D">
                        <a:tint val="93000"/>
                        <a:satMod val="120000"/>
                      </a:srgbClr>
                    </a:gs>
                    <a:gs pos="100000">
                      <a:srgbClr val="FA8D3D">
                        <a:tint val="90000"/>
                        <a:satMod val="120000"/>
                      </a:srgbClr>
                    </a:gs>
                  </a:gsLst>
                  <a:lin ang="5400000"/>
                </a:gradFill>
                <a:effectLst>
                  <a:outerShdw blurRad="80000" dist="40000" dir="5040000" algn="tl">
                    <a:srgbClr val="000000">
                      <a:alpha val="30000"/>
                    </a:srgbClr>
                  </a:outerShdw>
                </a:effectLst>
                <a:uLnTx/>
                <a:uFillTx/>
                <a:latin typeface="Antique Olive Compact" pitchFamily="34" charset="0"/>
              </a:rPr>
              <a:t>Pencil shaped or steeple sign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r>
              <a:rPr lang="en-US" b="1" dirty="0"/>
              <a:t>Do not use a radiograph to make management decisions in a pt. with an unstable airway</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a:t>Treatment</a:t>
            </a:r>
          </a:p>
        </p:txBody>
      </p:sp>
      <p:sp>
        <p:nvSpPr>
          <p:cNvPr id="3" name="2 Marcador de contenido"/>
          <p:cNvSpPr>
            <a:spLocks noGrp="1"/>
          </p:cNvSpPr>
          <p:nvPr>
            <p:ph idx="1"/>
          </p:nvPr>
        </p:nvSpPr>
        <p:spPr>
          <a:xfrm>
            <a:off x="457200" y="1714488"/>
            <a:ext cx="8229600" cy="4740320"/>
          </a:xfrm>
        </p:spPr>
        <p:txBody>
          <a:bodyPr>
            <a:normAutofit/>
          </a:bodyPr>
          <a:lstStyle/>
          <a:p>
            <a:pPr marL="420624">
              <a:buClr>
                <a:schemeClr val="accent3"/>
              </a:buClr>
              <a:buNone/>
              <a:defRPr/>
            </a:pPr>
            <a:r>
              <a:rPr lang="en-US" b="1" dirty="0">
                <a:effectLst>
                  <a:outerShdw blurRad="38100" dist="38100" dir="2700000" algn="tl">
                    <a:srgbClr val="000000">
                      <a:alpha val="43137"/>
                    </a:srgbClr>
                  </a:outerShdw>
                </a:effectLst>
              </a:rPr>
              <a:t>Some children improve spontaneously because  of natural fluctuations in the disease 	</a:t>
            </a:r>
          </a:p>
          <a:p>
            <a:pPr marL="420624">
              <a:buClr>
                <a:schemeClr val="accent3"/>
              </a:buClr>
              <a:buNone/>
              <a:defRPr/>
            </a:pPr>
            <a:r>
              <a:rPr lang="en-US" b="1" dirty="0">
                <a:effectLst>
                  <a:outerShdw blurRad="38100" dist="38100" dir="2700000" algn="tl">
                    <a:srgbClr val="000000">
                      <a:alpha val="43137"/>
                    </a:srgbClr>
                  </a:outerShdw>
                </a:effectLst>
              </a:rPr>
              <a:t> - Mist therapy / Steam inhalation </a:t>
            </a:r>
            <a:endParaRPr lang="en-US" b="1" dirty="0">
              <a:solidFill>
                <a:schemeClr val="accent2"/>
              </a:solidFill>
              <a:effectLst>
                <a:outerShdw blurRad="38100" dist="38100" dir="2700000" algn="tl">
                  <a:srgbClr val="000000">
                    <a:alpha val="43137"/>
                  </a:srgbClr>
                </a:outerShdw>
              </a:effectLst>
            </a:endParaRPr>
          </a:p>
          <a:p>
            <a:pPr marL="420624">
              <a:buClr>
                <a:schemeClr val="accent3"/>
              </a:buClr>
              <a:buNone/>
              <a:defRPr/>
            </a:pPr>
            <a:r>
              <a:rPr lang="en-US" b="1" dirty="0">
                <a:effectLst>
                  <a:outerShdw blurRad="38100" dist="38100" dir="2700000" algn="tl">
                    <a:srgbClr val="000000">
                      <a:alpha val="43137"/>
                    </a:srgbClr>
                  </a:outerShdw>
                </a:effectLst>
              </a:rPr>
              <a:t>  	Oxygen</a:t>
            </a:r>
          </a:p>
          <a:p>
            <a:pPr marL="420624">
              <a:buClr>
                <a:schemeClr val="accent3"/>
              </a:buClr>
              <a:buNone/>
              <a:defRPr/>
            </a:pPr>
            <a:r>
              <a:rPr lang="en-US" b="1" dirty="0">
                <a:effectLst>
                  <a:outerShdw blurRad="38100" dist="38100" dir="2700000" algn="tl">
                    <a:srgbClr val="000000">
                      <a:alpha val="43137"/>
                    </a:srgbClr>
                  </a:outerShdw>
                </a:effectLst>
              </a:rPr>
              <a:t> 	Adequate hydration</a:t>
            </a:r>
          </a:p>
          <a:p>
            <a:pPr marL="420624">
              <a:buClr>
                <a:schemeClr val="accent3"/>
              </a:buClr>
              <a:buNone/>
              <a:defRPr/>
            </a:pPr>
            <a:r>
              <a:rPr lang="en-US" b="1" dirty="0">
                <a:effectLst>
                  <a:outerShdw blurRad="38100" dist="38100" dir="2700000" algn="tl">
                    <a:srgbClr val="000000">
                      <a:alpha val="43137"/>
                    </a:srgbClr>
                  </a:outerShdw>
                </a:effectLst>
              </a:rPr>
              <a:t> 	</a:t>
            </a:r>
            <a:r>
              <a:rPr lang="en-US" b="1" dirty="0" err="1">
                <a:solidFill>
                  <a:schemeClr val="accent2"/>
                </a:solidFill>
                <a:effectLst>
                  <a:outerShdw blurRad="38100" dist="38100" dir="2700000" algn="tl">
                    <a:srgbClr val="000000">
                      <a:alpha val="43137"/>
                    </a:srgbClr>
                  </a:outerShdw>
                </a:effectLst>
              </a:rPr>
              <a:t>Nebulization</a:t>
            </a:r>
            <a:r>
              <a:rPr lang="en-US" b="1" dirty="0">
                <a:solidFill>
                  <a:schemeClr val="accent2"/>
                </a:solidFill>
                <a:effectLst>
                  <a:outerShdw blurRad="38100" dist="38100" dir="2700000" algn="tl">
                    <a:srgbClr val="000000">
                      <a:alpha val="43137"/>
                    </a:srgbClr>
                  </a:outerShdw>
                </a:effectLst>
              </a:rPr>
              <a:t> with </a:t>
            </a:r>
            <a:r>
              <a:rPr lang="en-US" b="1" dirty="0" err="1">
                <a:solidFill>
                  <a:schemeClr val="accent2"/>
                </a:solidFill>
                <a:effectLst>
                  <a:outerShdw blurRad="38100" dist="38100" dir="2700000" algn="tl">
                    <a:srgbClr val="000000">
                      <a:alpha val="43137"/>
                    </a:srgbClr>
                  </a:outerShdw>
                </a:effectLst>
              </a:rPr>
              <a:t>Racemic</a:t>
            </a:r>
            <a:r>
              <a:rPr lang="en-US" b="1" dirty="0">
                <a:solidFill>
                  <a:schemeClr val="accent2"/>
                </a:solidFill>
                <a:effectLst>
                  <a:outerShdw blurRad="38100" dist="38100" dir="2700000" algn="tl">
                    <a:srgbClr val="000000">
                      <a:alpha val="43137"/>
                    </a:srgbClr>
                  </a:outerShdw>
                </a:effectLst>
              </a:rPr>
              <a:t> epinephrine</a:t>
            </a:r>
            <a:endParaRPr lang="en-US" dirty="0"/>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r>
              <a:rPr lang="en-US" sz="3200" dirty="0">
                <a:effectLst>
                  <a:outerShdw blurRad="38100" dist="38100" dir="2700000" algn="tl">
                    <a:srgbClr val="000000">
                      <a:alpha val="43137"/>
                    </a:srgbClr>
                  </a:outerShdw>
                </a:effectLst>
                <a:latin typeface="Britannic Bold" pitchFamily="34" charset="0"/>
              </a:rPr>
              <a:t>Do we use steroid in mild croup ?</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r>
              <a:rPr lang="en-US" dirty="0"/>
              <a:t>For Children with mild croup , </a:t>
            </a:r>
            <a:r>
              <a:rPr lang="en-US" dirty="0" err="1"/>
              <a:t>dexamethasone</a:t>
            </a:r>
            <a:r>
              <a:rPr lang="en-US" dirty="0"/>
              <a:t> is an effective treatment that results in consistent and small but important clinical and economic benefits</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a:t>Steroid</a:t>
            </a:r>
          </a:p>
        </p:txBody>
      </p:sp>
      <p:sp>
        <p:nvSpPr>
          <p:cNvPr id="3" name="2 Marcador de contenido"/>
          <p:cNvSpPr>
            <a:spLocks noGrp="1"/>
          </p:cNvSpPr>
          <p:nvPr>
            <p:ph idx="1"/>
          </p:nvPr>
        </p:nvSpPr>
        <p:spPr/>
        <p:txBody>
          <a:bodyPr/>
          <a:lstStyle/>
          <a:p>
            <a:r>
              <a:rPr lang="en-US" dirty="0"/>
              <a:t>Used in moderate to severe croup</a:t>
            </a:r>
          </a:p>
          <a:p>
            <a:r>
              <a:rPr lang="en-US" dirty="0"/>
              <a:t>A child who needs admission in ICU for croup management needs steroid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sz="2400" dirty="0"/>
              <a:t>Which is more effective oral or </a:t>
            </a:r>
            <a:r>
              <a:rPr lang="en-US" sz="2400" dirty="0" err="1"/>
              <a:t>nebulized</a:t>
            </a:r>
            <a:r>
              <a:rPr lang="en-US" sz="2400" dirty="0"/>
              <a:t> </a:t>
            </a:r>
            <a:r>
              <a:rPr lang="en-US" sz="2400" dirty="0" err="1"/>
              <a:t>dexamethasone</a:t>
            </a:r>
            <a:r>
              <a:rPr lang="en-US" sz="2400" dirty="0"/>
              <a:t> for children with mild croup ?</a:t>
            </a:r>
          </a:p>
        </p:txBody>
      </p:sp>
      <p:sp>
        <p:nvSpPr>
          <p:cNvPr id="3" name="2 Marcador de contenido"/>
          <p:cNvSpPr>
            <a:spLocks noGrp="1"/>
          </p:cNvSpPr>
          <p:nvPr>
            <p:ph idx="1"/>
          </p:nvPr>
        </p:nvSpPr>
        <p:spPr/>
        <p:txBody>
          <a:bodyPr>
            <a:normAutofit/>
          </a:bodyPr>
          <a:lstStyle/>
          <a:p>
            <a:r>
              <a:rPr lang="en-US" dirty="0"/>
              <a:t>Children with mild croup who receive oral </a:t>
            </a:r>
            <a:r>
              <a:rPr lang="en-US" dirty="0" err="1"/>
              <a:t>dexamethasone</a:t>
            </a:r>
            <a:r>
              <a:rPr lang="en-US" dirty="0"/>
              <a:t> Rx are less likely to seek subsequent medical care and demonstrate more rapid symptom resolution compared with children who receive </a:t>
            </a:r>
            <a:r>
              <a:rPr lang="en-US" dirty="0" err="1"/>
              <a:t>nebulized</a:t>
            </a:r>
            <a:r>
              <a:rPr lang="en-US" dirty="0"/>
              <a:t> </a:t>
            </a:r>
            <a:r>
              <a:rPr lang="en-US" dirty="0" err="1"/>
              <a:t>dexamethasone</a:t>
            </a:r>
            <a:r>
              <a:rPr lang="en-US" dirty="0"/>
              <a:t> or placebo Rx</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n-US"/>
          </a:p>
        </p:txBody>
      </p:sp>
      <p:sp>
        <p:nvSpPr>
          <p:cNvPr id="3" name="2 Marcador de contenido"/>
          <p:cNvSpPr>
            <a:spLocks noGrp="1"/>
          </p:cNvSpPr>
          <p:nvPr>
            <p:ph idx="1"/>
          </p:nvPr>
        </p:nvSpPr>
        <p:spPr/>
        <p:txBody>
          <a:bodyPr/>
          <a:lstStyle/>
          <a:p>
            <a:r>
              <a:rPr lang="en-US" sz="3200" b="1" dirty="0">
                <a:effectLst>
                  <a:outerShdw blurRad="38100" dist="38100" dir="2700000" algn="tl">
                    <a:srgbClr val="000000">
                      <a:alpha val="43137"/>
                    </a:srgbClr>
                  </a:outerShdw>
                </a:effectLst>
              </a:rPr>
              <a:t>Most children with croup doesn't need hospitalization because symptoms typically resolve within a few days</a:t>
            </a:r>
            <a:endParaRPr lang="en-US" dirty="0"/>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a:t>ICU admission</a:t>
            </a:r>
          </a:p>
        </p:txBody>
      </p:sp>
      <p:sp>
        <p:nvSpPr>
          <p:cNvPr id="3" name="2 Marcador de contenido"/>
          <p:cNvSpPr>
            <a:spLocks noGrp="1"/>
          </p:cNvSpPr>
          <p:nvPr>
            <p:ph idx="1"/>
          </p:nvPr>
        </p:nvSpPr>
        <p:spPr>
          <a:xfrm>
            <a:off x="214282" y="1882808"/>
            <a:ext cx="8786874" cy="4572000"/>
          </a:xfrm>
        </p:spPr>
        <p:txBody>
          <a:bodyPr/>
          <a:lstStyle/>
          <a:p>
            <a:r>
              <a:rPr lang="en-US" dirty="0"/>
              <a:t>Signs of hypoxia</a:t>
            </a:r>
          </a:p>
          <a:p>
            <a:r>
              <a:rPr lang="en-US" dirty="0"/>
              <a:t>Severe distress with exhaustion</a:t>
            </a:r>
          </a:p>
          <a:p>
            <a:r>
              <a:rPr lang="en-US" dirty="0"/>
              <a:t>Decision about ventilation</a:t>
            </a:r>
          </a:p>
          <a:p>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a:t>Acute epiglottitis</a:t>
            </a:r>
          </a:p>
        </p:txBody>
      </p:sp>
      <p:sp>
        <p:nvSpPr>
          <p:cNvPr id="3" name="2 Marcador de contenido"/>
          <p:cNvSpPr>
            <a:spLocks noGrp="1"/>
          </p:cNvSpPr>
          <p:nvPr>
            <p:ph idx="1"/>
          </p:nvPr>
        </p:nvSpPr>
        <p:spPr>
          <a:xfrm>
            <a:off x="457200" y="1714488"/>
            <a:ext cx="8229600" cy="4740320"/>
          </a:xfrm>
        </p:spPr>
        <p:txBody>
          <a:bodyPr>
            <a:normAutofit/>
          </a:bodyPr>
          <a:lstStyle/>
          <a:p>
            <a:r>
              <a:rPr lang="en-US" dirty="0"/>
              <a:t>It is a rapidly progressive bacterial infection causing acute inflammation and edema of the epiglottis and adjacent structures : </a:t>
            </a:r>
            <a:r>
              <a:rPr lang="en-US" dirty="0" err="1"/>
              <a:t>aryepiglottic</a:t>
            </a:r>
            <a:r>
              <a:rPr lang="en-US" dirty="0"/>
              <a:t> folds and arytenoids </a:t>
            </a:r>
          </a:p>
          <a:p>
            <a:r>
              <a:rPr lang="en-US" dirty="0"/>
              <a:t>Also known as </a:t>
            </a:r>
            <a:r>
              <a:rPr lang="en-US" dirty="0" err="1"/>
              <a:t>supraglottitis</a:t>
            </a:r>
            <a:r>
              <a:rPr lang="en-US" dirty="0"/>
              <a:t> </a:t>
            </a:r>
          </a:p>
          <a:p>
            <a:r>
              <a:rPr lang="en-US" dirty="0"/>
              <a:t>It is life threatening condition may lead to sudden and complete airway obstruction</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285860"/>
            <a:ext cx="8229600" cy="5168948"/>
          </a:xfrm>
        </p:spPr>
        <p:txBody>
          <a:bodyPr>
            <a:normAutofit/>
          </a:bodyPr>
          <a:lstStyle/>
          <a:p>
            <a:pPr marL="420624">
              <a:spcAft>
                <a:spcPts val="1200"/>
              </a:spcAft>
              <a:buClr>
                <a:schemeClr val="accent3"/>
              </a:buClr>
              <a:defRPr/>
            </a:pPr>
            <a:r>
              <a:rPr lang="en-US" dirty="0">
                <a:effectLst>
                  <a:outerShdw blurRad="38100" dist="38100" dir="2700000" algn="tl">
                    <a:srgbClr val="000000">
                      <a:alpha val="43137"/>
                    </a:srgbClr>
                  </a:outerShdw>
                </a:effectLst>
              </a:rPr>
              <a:t>Age : 2-6 years ( peak at 3 year)</a:t>
            </a:r>
          </a:p>
          <a:p>
            <a:pPr marL="420624">
              <a:spcAft>
                <a:spcPts val="1200"/>
              </a:spcAft>
              <a:buClr>
                <a:schemeClr val="accent3"/>
              </a:buClr>
              <a:defRPr/>
            </a:pPr>
            <a:r>
              <a:rPr lang="en-US" dirty="0">
                <a:effectLst>
                  <a:outerShdw blurRad="38100" dist="38100" dir="2700000" algn="tl">
                    <a:srgbClr val="000000">
                      <a:alpha val="43137"/>
                    </a:srgbClr>
                  </a:outerShdw>
                </a:effectLst>
              </a:rPr>
              <a:t>Infant, older children  and adult are rarely affected</a:t>
            </a:r>
          </a:p>
          <a:p>
            <a:pPr marL="420624">
              <a:spcAft>
                <a:spcPts val="1200"/>
              </a:spcAft>
              <a:buClr>
                <a:schemeClr val="accent3"/>
              </a:buClr>
              <a:defRPr/>
            </a:pPr>
            <a:r>
              <a:rPr lang="en-US" dirty="0">
                <a:effectLst>
                  <a:outerShdw blurRad="38100" dist="38100" dir="2700000" algn="tl">
                    <a:srgbClr val="000000">
                      <a:alpha val="43137"/>
                    </a:srgbClr>
                  </a:outerShdw>
                </a:effectLst>
              </a:rPr>
              <a:t>Causative agents : </a:t>
            </a:r>
          </a:p>
          <a:p>
            <a:pPr marL="420624">
              <a:spcAft>
                <a:spcPts val="1200"/>
              </a:spcAft>
              <a:buClr>
                <a:schemeClr val="accent3"/>
              </a:buClr>
              <a:buNone/>
              <a:defRPr/>
            </a:pPr>
            <a:r>
              <a:rPr lang="en-US" dirty="0">
                <a:effectLst>
                  <a:outerShdw blurRad="38100" dist="38100" dir="2700000" algn="tl">
                    <a:srgbClr val="000000">
                      <a:alpha val="43137"/>
                    </a:srgbClr>
                  </a:outerShdw>
                </a:effectLst>
              </a:rPr>
              <a:t>       - </a:t>
            </a:r>
            <a:r>
              <a:rPr lang="en-US" b="1" dirty="0">
                <a:solidFill>
                  <a:schemeClr val="accent1">
                    <a:lumMod val="60000"/>
                    <a:lumOff val="40000"/>
                  </a:schemeClr>
                </a:solidFill>
                <a:effectLst>
                  <a:outerShdw blurRad="38100" dist="38100" dir="2700000" algn="tl">
                    <a:srgbClr val="000000">
                      <a:alpha val="43137"/>
                    </a:srgbClr>
                  </a:outerShdw>
                </a:effectLst>
              </a:rPr>
              <a:t>HIB</a:t>
            </a:r>
            <a:endParaRPr lang="en-US" dirty="0">
              <a:solidFill>
                <a:schemeClr val="accent1">
                  <a:lumMod val="60000"/>
                  <a:lumOff val="40000"/>
                </a:schemeClr>
              </a:solidFill>
              <a:effectLst>
                <a:outerShdw blurRad="38100" dist="38100" dir="2700000" algn="tl">
                  <a:srgbClr val="000000">
                    <a:alpha val="43137"/>
                  </a:srgbClr>
                </a:outerShdw>
              </a:effectLst>
            </a:endParaRPr>
          </a:p>
          <a:p>
            <a:pPr marL="420624">
              <a:spcAft>
                <a:spcPts val="1200"/>
              </a:spcAft>
              <a:buClr>
                <a:schemeClr val="accent3"/>
              </a:buClr>
              <a:buNone/>
              <a:defRPr/>
            </a:pPr>
            <a:r>
              <a:rPr lang="en-US" dirty="0">
                <a:effectLst>
                  <a:outerShdw blurRad="38100" dist="38100" dir="2700000" algn="tl">
                    <a:srgbClr val="000000">
                      <a:alpha val="43137"/>
                    </a:srgbClr>
                  </a:outerShdw>
                </a:effectLst>
              </a:rPr>
              <a:t>       - </a:t>
            </a:r>
            <a:r>
              <a:rPr lang="en-US" dirty="0" err="1">
                <a:effectLst>
                  <a:outerShdw blurRad="38100" dist="38100" dir="2700000" algn="tl">
                    <a:srgbClr val="000000">
                      <a:alpha val="43137"/>
                    </a:srgbClr>
                  </a:outerShdw>
                </a:effectLst>
              </a:rPr>
              <a:t>pneumococci</a:t>
            </a:r>
            <a:r>
              <a:rPr lang="en-US" dirty="0">
                <a:effectLst>
                  <a:outerShdw blurRad="38100" dist="38100" dir="2700000" algn="tl">
                    <a:srgbClr val="000000">
                      <a:alpha val="43137"/>
                    </a:srgbClr>
                  </a:outerShdw>
                </a:effectLst>
              </a:rPr>
              <a:t>,          staphylococci,    </a:t>
            </a:r>
          </a:p>
          <a:p>
            <a:pPr marL="420624">
              <a:spcAft>
                <a:spcPts val="1200"/>
              </a:spcAft>
              <a:buClr>
                <a:schemeClr val="accent3"/>
              </a:buClr>
              <a:buNone/>
              <a:defRPr/>
            </a:pPr>
            <a:r>
              <a:rPr lang="en-US" dirty="0">
                <a:effectLst>
                  <a:outerShdw blurRad="38100" dist="38100" dir="2700000" algn="tl">
                    <a:srgbClr val="000000">
                      <a:alpha val="43137"/>
                    </a:srgbClr>
                  </a:outerShdw>
                </a:effectLst>
              </a:rPr>
              <a:t>          streptococci</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a:t>Clinical features </a:t>
            </a:r>
          </a:p>
        </p:txBody>
      </p:sp>
      <p:sp>
        <p:nvSpPr>
          <p:cNvPr id="3" name="2 Marcador de contenido"/>
          <p:cNvSpPr>
            <a:spLocks noGrp="1"/>
          </p:cNvSpPr>
          <p:nvPr>
            <p:ph idx="1"/>
          </p:nvPr>
        </p:nvSpPr>
        <p:spPr/>
        <p:txBody>
          <a:bodyPr>
            <a:normAutofit lnSpcReduction="10000"/>
          </a:bodyPr>
          <a:lstStyle/>
          <a:p>
            <a:r>
              <a:rPr lang="en-US" dirty="0"/>
              <a:t>Previously well child </a:t>
            </a:r>
          </a:p>
          <a:p>
            <a:r>
              <a:rPr lang="en-US" dirty="0"/>
              <a:t>Sudden onset, history is short, 4-12 hours of sore throat and high fever </a:t>
            </a:r>
          </a:p>
          <a:p>
            <a:r>
              <a:rPr lang="en-US" dirty="0"/>
              <a:t>4 “ D ”    Distress</a:t>
            </a:r>
          </a:p>
          <a:p>
            <a:r>
              <a:rPr lang="en-US" dirty="0"/>
              <a:t>                 Dysphagia</a:t>
            </a:r>
          </a:p>
          <a:p>
            <a:r>
              <a:rPr lang="en-US" dirty="0"/>
              <a:t>                 Dysphonia </a:t>
            </a:r>
          </a:p>
          <a:p>
            <a:r>
              <a:rPr lang="en-US" dirty="0"/>
              <a:t>                 Drooling of saliva</a:t>
            </a:r>
          </a:p>
          <a:p>
            <a:r>
              <a:rPr lang="en-US" dirty="0"/>
              <a:t>may lead to death if complete airway obstruction</a:t>
            </a:r>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a:t>Diagnosis </a:t>
            </a:r>
          </a:p>
        </p:txBody>
      </p:sp>
      <p:sp>
        <p:nvSpPr>
          <p:cNvPr id="3" name="2 Marcador de contenido"/>
          <p:cNvSpPr>
            <a:spLocks noGrp="1"/>
          </p:cNvSpPr>
          <p:nvPr>
            <p:ph idx="1"/>
          </p:nvPr>
        </p:nvSpPr>
        <p:spPr>
          <a:xfrm>
            <a:off x="457200" y="1500174"/>
            <a:ext cx="8229600" cy="4954634"/>
          </a:xfrm>
        </p:spPr>
        <p:txBody>
          <a:bodyPr>
            <a:normAutofit/>
          </a:bodyPr>
          <a:lstStyle/>
          <a:p>
            <a:pPr marL="420624">
              <a:buClr>
                <a:schemeClr val="accent3"/>
              </a:buClr>
              <a:defRPr/>
            </a:pPr>
            <a:r>
              <a:rPr lang="en-US" b="1" dirty="0">
                <a:effectLst>
                  <a:outerShdw blurRad="38100" dist="38100" dir="2700000" algn="tl">
                    <a:srgbClr val="000000">
                      <a:alpha val="43137"/>
                    </a:srgbClr>
                  </a:outerShdw>
                </a:effectLst>
              </a:rPr>
              <a:t>History</a:t>
            </a:r>
          </a:p>
          <a:p>
            <a:pPr marL="420624">
              <a:buClr>
                <a:schemeClr val="accent3"/>
              </a:buClr>
              <a:defRPr/>
            </a:pPr>
            <a:r>
              <a:rPr lang="en-US" b="1" dirty="0">
                <a:effectLst>
                  <a:outerShdw blurRad="38100" dist="38100" dir="2700000" algn="tl">
                    <a:srgbClr val="000000">
                      <a:alpha val="43137"/>
                    </a:srgbClr>
                  </a:outerShdw>
                </a:effectLst>
              </a:rPr>
              <a:t>Presentation</a:t>
            </a:r>
          </a:p>
          <a:p>
            <a:pPr marL="420624">
              <a:buClr>
                <a:schemeClr val="accent3"/>
              </a:buClr>
              <a:defRPr/>
            </a:pPr>
            <a:r>
              <a:rPr lang="en-US" b="1" dirty="0">
                <a:effectLst>
                  <a:outerShdw blurRad="38100" dist="38100" dir="2700000" algn="tl">
                    <a:srgbClr val="000000">
                      <a:alpha val="43137"/>
                    </a:srgbClr>
                  </a:outerShdw>
                </a:effectLst>
              </a:rPr>
              <a:t>Appearance of the child</a:t>
            </a:r>
          </a:p>
          <a:p>
            <a:pPr marL="420624">
              <a:buClr>
                <a:schemeClr val="accent3"/>
              </a:buClr>
              <a:buNone/>
              <a:defRPr/>
            </a:pPr>
            <a:r>
              <a:rPr lang="en-US" b="1" dirty="0">
                <a:effectLst>
                  <a:outerShdw blurRad="38100" dist="38100" dir="2700000" algn="tl">
                    <a:srgbClr val="000000">
                      <a:alpha val="43137"/>
                    </a:srgbClr>
                  </a:outerShdw>
                </a:effectLst>
              </a:rPr>
              <a:t>	</a:t>
            </a:r>
            <a:r>
              <a:rPr lang="en-US" b="1" dirty="0">
                <a:solidFill>
                  <a:schemeClr val="accent2"/>
                </a:solidFill>
                <a:effectLst>
                  <a:outerShdw blurRad="38100" dist="38100" dir="2700000" algn="tl">
                    <a:srgbClr val="000000">
                      <a:alpha val="43137"/>
                    </a:srgbClr>
                  </a:outerShdw>
                </a:effectLst>
              </a:rPr>
              <a:t>Pharynx examination at this stage in ER is absolutely contraindicated</a:t>
            </a:r>
          </a:p>
          <a:p>
            <a:pPr marL="420624">
              <a:buClr>
                <a:schemeClr val="accent3"/>
              </a:buClr>
              <a:defRPr/>
            </a:pPr>
            <a:r>
              <a:rPr lang="en-US" b="1" dirty="0">
                <a:solidFill>
                  <a:schemeClr val="accent2"/>
                </a:solidFill>
                <a:effectLst>
                  <a:outerShdw blurRad="38100" dist="38100" dir="2700000" algn="tl">
                    <a:srgbClr val="000000">
                      <a:alpha val="43137"/>
                    </a:srgbClr>
                  </a:outerShdw>
                </a:effectLst>
              </a:rPr>
              <a:t>Next step = admission in ICU</a:t>
            </a:r>
          </a:p>
          <a:p>
            <a:pPr marL="420624">
              <a:lnSpc>
                <a:spcPct val="90000"/>
              </a:lnSpc>
              <a:buClr>
                <a:schemeClr val="accent3"/>
              </a:buClr>
              <a:defRPr/>
            </a:pPr>
            <a:r>
              <a:rPr lang="en-US" b="1" dirty="0">
                <a:effectLst>
                  <a:outerShdw blurRad="38100" dist="38100" dir="2700000" algn="tl">
                    <a:srgbClr val="000000">
                      <a:alpha val="43137"/>
                    </a:srgbClr>
                  </a:outerShdw>
                </a:effectLst>
              </a:rPr>
              <a:t>Neck x-ray : Not the priority</a:t>
            </a:r>
          </a:p>
          <a:p>
            <a:pPr marL="420624">
              <a:lnSpc>
                <a:spcPct val="90000"/>
              </a:lnSpc>
              <a:buClr>
                <a:schemeClr val="accent3"/>
              </a:buClr>
              <a:buNone/>
              <a:defRPr/>
            </a:pPr>
            <a:r>
              <a:rPr lang="en-US" b="1" dirty="0">
                <a:effectLst>
                  <a:outerShdw blurRad="38100" dist="38100" dir="2700000" algn="tl">
                    <a:srgbClr val="000000">
                      <a:alpha val="43137"/>
                    </a:srgbClr>
                  </a:outerShdw>
                </a:effectLst>
              </a:rPr>
              <a:t>	</a:t>
            </a:r>
            <a:r>
              <a:rPr lang="en-US" b="1" dirty="0">
                <a:solidFill>
                  <a:schemeClr val="accent2"/>
                </a:solidFill>
                <a:effectLst>
                  <a:outerShdw blurRad="38100" dist="38100" dir="2700000" algn="tl">
                    <a:srgbClr val="000000">
                      <a:alpha val="43137"/>
                    </a:srgbClr>
                  </a:outerShdw>
                </a:effectLst>
              </a:rPr>
              <a:t>Do not leave the patient unattended</a:t>
            </a:r>
          </a:p>
          <a:p>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A0AFA-C15B-407E-0615-4C5E8A60787C}"/>
              </a:ext>
            </a:extLst>
          </p:cNvPr>
          <p:cNvSpPr>
            <a:spLocks noGrp="1"/>
          </p:cNvSpPr>
          <p:nvPr>
            <p:ph type="title"/>
          </p:nvPr>
        </p:nvSpPr>
        <p:spPr/>
        <p:txBody>
          <a:bodyPr/>
          <a:lstStyle/>
          <a:p>
            <a:endParaRPr lang="en-UG"/>
          </a:p>
        </p:txBody>
      </p:sp>
      <p:pic>
        <p:nvPicPr>
          <p:cNvPr id="2050" name="Picture 2" descr="Epiglottitis - CRASH! Medical Review Series">
            <a:extLst>
              <a:ext uri="{FF2B5EF4-FFF2-40B4-BE49-F238E27FC236}">
                <a16:creationId xmlns:a16="http://schemas.microsoft.com/office/drawing/2014/main" id="{12F05A95-9E3D-7509-8856-16B20F6ED03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04925" y="624111"/>
            <a:ext cx="6534150" cy="5609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95111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67494"/>
            <a:ext cx="8229600" cy="1089804"/>
          </a:xfrm>
        </p:spPr>
        <p:txBody>
          <a:bodyPr/>
          <a:lstStyle/>
          <a:p>
            <a:r>
              <a:rPr lang="en-US" dirty="0"/>
              <a:t>Management</a:t>
            </a:r>
          </a:p>
        </p:txBody>
      </p:sp>
      <p:sp>
        <p:nvSpPr>
          <p:cNvPr id="3" name="2 Marcador de contenido"/>
          <p:cNvSpPr>
            <a:spLocks noGrp="1"/>
          </p:cNvSpPr>
          <p:nvPr>
            <p:ph idx="1"/>
          </p:nvPr>
        </p:nvSpPr>
        <p:spPr>
          <a:xfrm>
            <a:off x="457200" y="1882808"/>
            <a:ext cx="8229600" cy="4046522"/>
          </a:xfrm>
        </p:spPr>
        <p:txBody>
          <a:bodyPr>
            <a:normAutofit/>
          </a:bodyPr>
          <a:lstStyle/>
          <a:p>
            <a:r>
              <a:rPr lang="en-US" dirty="0"/>
              <a:t>Protection of the airways is the primary priority </a:t>
            </a:r>
          </a:p>
          <a:p>
            <a:endParaRPr lang="en-US" dirty="0"/>
          </a:p>
          <a:p>
            <a:r>
              <a:rPr lang="en-US" dirty="0"/>
              <a:t>Quickly proceed with epiglottitis protocol </a:t>
            </a:r>
          </a:p>
          <a:p>
            <a:endParaRPr lang="en-US" dirty="0"/>
          </a:p>
          <a:p>
            <a:r>
              <a:rPr lang="en-US" dirty="0"/>
              <a:t>It is better to initiate a “false”  epiglottitis drill than to miss this disease </a:t>
            </a:r>
          </a:p>
          <a:p>
            <a:endParaRPr lang="en-US" dirty="0"/>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267494"/>
            <a:ext cx="8929718" cy="1399032"/>
          </a:xfrm>
        </p:spPr>
        <p:txBody>
          <a:bodyPr/>
          <a:lstStyle/>
          <a:p>
            <a:r>
              <a:rPr lang="en-US" dirty="0"/>
              <a:t>Epiglottitis Protocol</a:t>
            </a:r>
          </a:p>
        </p:txBody>
      </p:sp>
      <p:sp>
        <p:nvSpPr>
          <p:cNvPr id="3" name="2 Marcador de contenido"/>
          <p:cNvSpPr>
            <a:spLocks noGrp="1"/>
          </p:cNvSpPr>
          <p:nvPr>
            <p:ph idx="1"/>
          </p:nvPr>
        </p:nvSpPr>
        <p:spPr/>
        <p:txBody>
          <a:bodyPr>
            <a:normAutofit fontScale="92500"/>
          </a:bodyPr>
          <a:lstStyle/>
          <a:p>
            <a:pPr marL="420624">
              <a:lnSpc>
                <a:spcPct val="90000"/>
              </a:lnSpc>
              <a:spcAft>
                <a:spcPts val="2400"/>
              </a:spcAft>
              <a:buClr>
                <a:schemeClr val="accent3"/>
              </a:buClr>
              <a:buNone/>
              <a:defRPr/>
            </a:pPr>
            <a:r>
              <a:rPr lang="en-US" sz="3200" dirty="0">
                <a:effectLst>
                  <a:outerShdw blurRad="38100" dist="38100" dir="2700000" algn="tl">
                    <a:srgbClr val="000000">
                      <a:alpha val="43137"/>
                    </a:srgbClr>
                  </a:outerShdw>
                </a:effectLst>
              </a:rPr>
              <a:t>Safe and supervised transfer to skilled hand</a:t>
            </a:r>
          </a:p>
          <a:p>
            <a:pPr marL="420624">
              <a:lnSpc>
                <a:spcPct val="90000"/>
              </a:lnSpc>
              <a:spcAft>
                <a:spcPts val="2400"/>
              </a:spcAft>
              <a:buClr>
                <a:schemeClr val="accent3"/>
              </a:buClr>
              <a:buNone/>
              <a:defRPr/>
            </a:pPr>
            <a:r>
              <a:rPr lang="en-US" sz="3200" dirty="0">
                <a:effectLst>
                  <a:outerShdw blurRad="38100" dist="38100" dir="2700000" algn="tl">
                    <a:srgbClr val="000000">
                      <a:alpha val="43137"/>
                    </a:srgbClr>
                  </a:outerShdw>
                </a:effectLst>
              </a:rPr>
              <a:t>- Inform consultant Pediatrics, ENT, ICU, Anesthesia</a:t>
            </a:r>
          </a:p>
          <a:p>
            <a:pPr marL="420624">
              <a:lnSpc>
                <a:spcPct val="90000"/>
              </a:lnSpc>
              <a:spcAft>
                <a:spcPts val="2400"/>
              </a:spcAft>
              <a:buClr>
                <a:schemeClr val="accent3"/>
              </a:buClr>
              <a:buNone/>
              <a:defRPr/>
            </a:pPr>
            <a:r>
              <a:rPr lang="en-US" sz="3200" dirty="0">
                <a:effectLst>
                  <a:outerShdw blurRad="38100" dist="38100" dir="2700000" algn="tl">
                    <a:srgbClr val="000000">
                      <a:alpha val="43137"/>
                    </a:srgbClr>
                  </a:outerShdw>
                </a:effectLst>
              </a:rPr>
              <a:t>- Don't attempt to examine throat in ER</a:t>
            </a:r>
          </a:p>
          <a:p>
            <a:pPr marL="420624">
              <a:lnSpc>
                <a:spcPct val="90000"/>
              </a:lnSpc>
              <a:spcAft>
                <a:spcPts val="2400"/>
              </a:spcAft>
              <a:buClr>
                <a:schemeClr val="accent3"/>
              </a:buClr>
              <a:buNone/>
              <a:defRPr/>
            </a:pPr>
            <a:r>
              <a:rPr lang="en-US" sz="3200" dirty="0">
                <a:effectLst>
                  <a:outerShdw blurRad="38100" dist="38100" dir="2700000" algn="tl">
                    <a:srgbClr val="000000">
                      <a:alpha val="43137"/>
                    </a:srgbClr>
                  </a:outerShdw>
                </a:effectLst>
              </a:rPr>
              <a:t>- Keep patient as comfortable as possible</a:t>
            </a:r>
          </a:p>
          <a:p>
            <a:pPr marL="420624">
              <a:lnSpc>
                <a:spcPct val="90000"/>
              </a:lnSpc>
              <a:spcAft>
                <a:spcPts val="2400"/>
              </a:spcAft>
              <a:buClr>
                <a:schemeClr val="accent3"/>
              </a:buClr>
              <a:buNone/>
              <a:defRPr/>
            </a:pPr>
            <a:r>
              <a:rPr lang="en-US" sz="3200" dirty="0">
                <a:effectLst>
                  <a:outerShdw blurRad="38100" dist="38100" dir="2700000" algn="tl">
                    <a:srgbClr val="000000">
                      <a:alpha val="43137"/>
                    </a:srgbClr>
                  </a:outerShdw>
                </a:effectLst>
              </a:rPr>
              <a:t>- Administering 100% O2</a:t>
            </a:r>
            <a:endParaRPr lang="en-US" dirty="0"/>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n-US"/>
          </a:p>
        </p:txBody>
      </p:sp>
      <p:sp>
        <p:nvSpPr>
          <p:cNvPr id="3" name="2 Marcador de contenido"/>
          <p:cNvSpPr>
            <a:spLocks noGrp="1"/>
          </p:cNvSpPr>
          <p:nvPr>
            <p:ph idx="1"/>
          </p:nvPr>
        </p:nvSpPr>
        <p:spPr/>
        <p:txBody>
          <a:bodyPr>
            <a:normAutofit/>
          </a:bodyPr>
          <a:lstStyle/>
          <a:p>
            <a:pPr marL="420624">
              <a:spcAft>
                <a:spcPts val="2400"/>
              </a:spcAft>
              <a:buClr>
                <a:schemeClr val="accent3"/>
              </a:buClr>
              <a:buNone/>
              <a:defRPr/>
            </a:pPr>
            <a:r>
              <a:rPr lang="en-US" sz="3200" dirty="0">
                <a:effectLst>
                  <a:outerShdw blurRad="38100" dist="38100" dir="2700000" algn="tl">
                    <a:srgbClr val="000000">
                      <a:alpha val="43137"/>
                    </a:srgbClr>
                  </a:outerShdw>
                </a:effectLst>
              </a:rPr>
              <a:t>Assembling at bedside CPR equipment including  resuscitation bag and mask, intubation equipment</a:t>
            </a:r>
          </a:p>
          <a:p>
            <a:pPr marL="420624">
              <a:lnSpc>
                <a:spcPct val="90000"/>
              </a:lnSpc>
              <a:spcAft>
                <a:spcPts val="2400"/>
              </a:spcAft>
              <a:buClr>
                <a:schemeClr val="accent3"/>
              </a:buClr>
              <a:buNone/>
              <a:defRPr/>
            </a:pPr>
            <a:r>
              <a:rPr lang="en-US" sz="3200" dirty="0">
                <a:effectLst>
                  <a:outerShdw blurRad="38100" dist="38100" dir="2700000" algn="tl">
                    <a:srgbClr val="000000">
                      <a:alpha val="43137"/>
                    </a:srgbClr>
                  </a:outerShdw>
                </a:effectLst>
              </a:rPr>
              <a:t>- Taking the pt. to OR  </a:t>
            </a:r>
          </a:p>
          <a:p>
            <a:pPr marL="420624">
              <a:spcAft>
                <a:spcPts val="2400"/>
              </a:spcAft>
              <a:buClr>
                <a:schemeClr val="accent3"/>
              </a:buClr>
              <a:buNone/>
              <a:defRPr/>
            </a:pPr>
            <a:r>
              <a:rPr lang="en-US" sz="3200" dirty="0">
                <a:effectLst>
                  <a:outerShdw blurRad="38100" dist="38100" dir="2700000" algn="tl">
                    <a:srgbClr val="000000">
                      <a:alpha val="43137"/>
                    </a:srgbClr>
                  </a:outerShdw>
                </a:effectLst>
              </a:rPr>
              <a:t>-</a:t>
            </a:r>
            <a:r>
              <a:rPr lang="en-US" sz="3200" b="1" dirty="0">
                <a:effectLst>
                  <a:outerShdw blurRad="38100" dist="38100" dir="2700000" algn="tl">
                    <a:srgbClr val="000000">
                      <a:alpha val="43137"/>
                    </a:srgbClr>
                  </a:outerShdw>
                </a:effectLst>
              </a:rPr>
              <a:t> </a:t>
            </a:r>
            <a:r>
              <a:rPr lang="en-US" sz="3200" dirty="0">
                <a:effectLst>
                  <a:outerShdw blurRad="38100" dist="38100" dir="2700000" algn="tl">
                    <a:srgbClr val="000000">
                      <a:alpha val="43137"/>
                    </a:srgbClr>
                  </a:outerShdw>
                </a:effectLst>
              </a:rPr>
              <a:t>Attempt IV line or sampling only after intubation in OR  /or </a:t>
            </a:r>
            <a:r>
              <a:rPr lang="en-US" sz="3200" dirty="0" err="1">
                <a:effectLst>
                  <a:outerShdw blurRad="38100" dist="38100" dir="2700000" algn="tl">
                    <a:srgbClr val="000000">
                      <a:alpha val="43137"/>
                    </a:srgbClr>
                  </a:outerShdw>
                </a:effectLst>
              </a:rPr>
              <a:t>Tracheostomy</a:t>
            </a:r>
            <a:endParaRPr lang="en-US" sz="3200" dirty="0">
              <a:effectLst>
                <a:outerShdw blurRad="38100" dist="38100" dir="2700000" algn="tl">
                  <a:srgbClr val="000000">
                    <a:alpha val="43137"/>
                  </a:srgbClr>
                </a:outerShdw>
              </a:effectLst>
            </a:endParaRPr>
          </a:p>
          <a:p>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357298"/>
            <a:ext cx="8229600" cy="5097510"/>
          </a:xfrm>
        </p:spPr>
        <p:txBody>
          <a:bodyPr>
            <a:normAutofit/>
          </a:bodyPr>
          <a:lstStyle/>
          <a:p>
            <a:pPr marL="420624">
              <a:spcAft>
                <a:spcPts val="1200"/>
              </a:spcAft>
              <a:buClr>
                <a:schemeClr val="accent3"/>
              </a:buClr>
              <a:buNone/>
              <a:defRPr/>
            </a:pPr>
            <a:r>
              <a:rPr lang="en-US" dirty="0">
                <a:effectLst>
                  <a:outerShdw blurRad="38100" dist="38100" dir="2700000" algn="tl">
                    <a:srgbClr val="000000">
                      <a:alpha val="43137"/>
                    </a:srgbClr>
                  </a:outerShdw>
                </a:effectLst>
              </a:rPr>
              <a:t>After epiglottitis protocol has been performed and pt has secure airways  you can do :</a:t>
            </a:r>
          </a:p>
          <a:p>
            <a:pPr marL="420624">
              <a:spcAft>
                <a:spcPts val="1200"/>
              </a:spcAft>
              <a:buClr>
                <a:schemeClr val="accent3"/>
              </a:buClr>
              <a:buNone/>
              <a:defRPr/>
            </a:pPr>
            <a:r>
              <a:rPr lang="en-US" dirty="0">
                <a:effectLst>
                  <a:outerShdw blurRad="38100" dist="38100" dir="2700000" algn="tl">
                    <a:srgbClr val="000000">
                      <a:alpha val="43137"/>
                    </a:srgbClr>
                  </a:outerShdw>
                </a:effectLst>
              </a:rPr>
              <a:t>    - blood culture : usually positive for HIB</a:t>
            </a:r>
          </a:p>
          <a:p>
            <a:pPr marL="420624">
              <a:spcAft>
                <a:spcPts val="1200"/>
              </a:spcAft>
              <a:buClr>
                <a:schemeClr val="accent3"/>
              </a:buClr>
              <a:buNone/>
              <a:defRPr/>
            </a:pPr>
            <a:r>
              <a:rPr lang="en-US" dirty="0">
                <a:effectLst>
                  <a:outerShdw blurRad="38100" dist="38100" dir="2700000" algn="tl">
                    <a:srgbClr val="000000">
                      <a:alpha val="43137"/>
                    </a:srgbClr>
                  </a:outerShdw>
                </a:effectLst>
              </a:rPr>
              <a:t>    - CBC :  WBC may be moderately elevated</a:t>
            </a:r>
          </a:p>
          <a:p>
            <a:pPr marL="420624">
              <a:spcAft>
                <a:spcPts val="1200"/>
              </a:spcAft>
              <a:buClr>
                <a:schemeClr val="accent3"/>
              </a:buClr>
              <a:buNone/>
              <a:defRPr/>
            </a:pPr>
            <a:r>
              <a:rPr lang="en-US" dirty="0">
                <a:effectLst>
                  <a:outerShdw blurRad="38100" dist="38100" dir="2700000" algn="tl">
                    <a:srgbClr val="000000">
                      <a:alpha val="43137"/>
                    </a:srgbClr>
                  </a:outerShdw>
                </a:effectLst>
              </a:rPr>
              <a:t>    - lateral  neck radiograph : shows a thickened epiglottis  ( thumb sign )</a:t>
            </a:r>
            <a:endParaRPr lang="en-US" dirty="0"/>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5"/>
          <p:cNvGraphicFramePr>
            <a:graphicFrameLocks noChangeAspect="1"/>
          </p:cNvGraphicFramePr>
          <p:nvPr/>
        </p:nvGraphicFramePr>
        <p:xfrm>
          <a:off x="785813" y="357188"/>
          <a:ext cx="4786312" cy="6215062"/>
        </p:xfrm>
        <a:graphic>
          <a:graphicData uri="http://schemas.openxmlformats.org/presentationml/2006/ole">
            <mc:AlternateContent xmlns:mc="http://schemas.openxmlformats.org/markup-compatibility/2006">
              <mc:Choice xmlns:v="urn:schemas-microsoft-com:vml" Requires="v">
                <p:oleObj name="Bitmap Image" r:id="rId2" imgW="6668431" imgH="5676190" progId="PBrush">
                  <p:embed/>
                </p:oleObj>
              </mc:Choice>
              <mc:Fallback>
                <p:oleObj name="Bitmap Image" r:id="rId2" imgW="6668431" imgH="5676190" progId="PBrush">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3" y="357188"/>
                        <a:ext cx="4786312" cy="6215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4 Rectángulo"/>
          <p:cNvSpPr/>
          <p:nvPr/>
        </p:nvSpPr>
        <p:spPr>
          <a:xfrm>
            <a:off x="5786446" y="3357562"/>
            <a:ext cx="2786082" cy="523220"/>
          </a:xfrm>
          <a:prstGeom prst="rect">
            <a:avLst/>
          </a:prstGeom>
        </p:spPr>
        <p:txBody>
          <a:bodyPr wrap="square">
            <a:spAutoFit/>
          </a:bodyPr>
          <a:lstStyle/>
          <a:p>
            <a:pPr>
              <a:spcBef>
                <a:spcPct val="30000"/>
              </a:spcBef>
              <a:defRPr/>
            </a:pPr>
            <a:r>
              <a:rPr lang="en-US" sz="2800" b="1" dirty="0">
                <a:ln w="17780" cmpd="sng">
                  <a:solidFill>
                    <a:schemeClr val="accent1">
                      <a:tint val="3000"/>
                    </a:schemeClr>
                  </a:solidFill>
                  <a:prstDash val="solid"/>
                  <a:miter lim="800000"/>
                </a:ln>
                <a:solidFill>
                  <a:schemeClr val="accent1">
                    <a:lumMod val="75000"/>
                  </a:schemeClr>
                </a:solidFill>
                <a:effectLst>
                  <a:outerShdw blurRad="55000" dist="50800" dir="5400000" algn="tl">
                    <a:srgbClr val="000000">
                      <a:alpha val="33000"/>
                    </a:srgbClr>
                  </a:outerShdw>
                </a:effectLst>
                <a:latin typeface="Antique Olive Compact" pitchFamily="34" charset="0"/>
              </a:rPr>
              <a:t>Thumb sign</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marL="420624">
              <a:spcAft>
                <a:spcPts val="600"/>
              </a:spcAft>
              <a:buClr>
                <a:schemeClr val="accent3"/>
              </a:buClr>
              <a:defRPr/>
            </a:pPr>
            <a:r>
              <a:rPr lang="en-US" sz="3200" b="1" dirty="0">
                <a:effectLst>
                  <a:outerShdw blurRad="38100" dist="38100" dir="2700000" algn="tl">
                    <a:srgbClr val="000000">
                      <a:alpha val="43137"/>
                    </a:srgbClr>
                  </a:outerShdw>
                </a:effectLst>
              </a:rPr>
              <a:t>Diagnosis confirmed by seeing an edematous cherry-red epiglottis on endoscopy </a:t>
            </a:r>
          </a:p>
          <a:p>
            <a:pPr marL="420624">
              <a:spcAft>
                <a:spcPts val="600"/>
              </a:spcAft>
              <a:buClr>
                <a:schemeClr val="accent3"/>
              </a:buClr>
              <a:defRPr/>
            </a:pPr>
            <a:endParaRPr lang="en-US" sz="3200" b="1" dirty="0">
              <a:effectLst>
                <a:outerShdw blurRad="38100" dist="38100" dir="2700000" algn="tl">
                  <a:srgbClr val="000000">
                    <a:alpha val="43137"/>
                  </a:srgbClr>
                </a:outerShdw>
              </a:effectLst>
            </a:endParaRPr>
          </a:p>
          <a:p>
            <a:pPr marL="420624">
              <a:spcAft>
                <a:spcPts val="600"/>
              </a:spcAft>
              <a:buClr>
                <a:schemeClr val="accent3"/>
              </a:buClr>
              <a:defRPr/>
            </a:pPr>
            <a:r>
              <a:rPr lang="en-US" sz="3200" b="1" dirty="0">
                <a:effectLst>
                  <a:outerShdw blurRad="38100" dist="38100" dir="2700000" algn="tl">
                    <a:srgbClr val="000000">
                      <a:alpha val="43137"/>
                    </a:srgbClr>
                  </a:outerShdw>
                </a:effectLst>
              </a:rPr>
              <a:t>Endoscopic examination should not be performed in advance of the epiglottitis protocol</a:t>
            </a:r>
            <a:endParaRPr lang="en-US" dirty="0"/>
          </a:p>
          <a:p>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a:srcRect/>
          <a:stretch>
            <a:fillRect/>
          </a:stretch>
        </p:blipFill>
        <p:spPr bwMode="auto">
          <a:xfrm>
            <a:off x="571472" y="1285860"/>
            <a:ext cx="3952875" cy="4362450"/>
          </a:xfrm>
          <a:prstGeom prst="rect">
            <a:avLst/>
          </a:prstGeom>
          <a:noFill/>
          <a:ln w="9525">
            <a:noFill/>
            <a:miter lim="800000"/>
            <a:headEnd/>
            <a:tailEnd/>
          </a:ln>
        </p:spPr>
      </p:pic>
      <p:pic>
        <p:nvPicPr>
          <p:cNvPr id="5" name="Picture 4" descr="epiglotitis"/>
          <p:cNvPicPr>
            <a:picLocks noChangeAspect="1" noChangeArrowheads="1"/>
          </p:cNvPicPr>
          <p:nvPr/>
        </p:nvPicPr>
        <p:blipFill>
          <a:blip r:embed="rId3">
            <a:lum bright="-10000" contrast="10000"/>
          </a:blip>
          <a:srcRect/>
          <a:stretch>
            <a:fillRect/>
          </a:stretch>
        </p:blipFill>
        <p:spPr bwMode="auto">
          <a:xfrm>
            <a:off x="5643570" y="1785926"/>
            <a:ext cx="2828925" cy="3571900"/>
          </a:xfrm>
          <a:prstGeom prst="rect">
            <a:avLst/>
          </a:prstGeom>
          <a:noFill/>
          <a:ln w="9525">
            <a:noFill/>
            <a:miter lim="800000"/>
            <a:headEnd/>
            <a:tailEnd/>
          </a:ln>
          <a:scene3d>
            <a:camera prst="orthographicFront"/>
            <a:lightRig rig="threePt" dir="t"/>
          </a:scene3d>
          <a:sp3d>
            <a:bevelT/>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000108"/>
            <a:ext cx="8229600" cy="5454700"/>
          </a:xfrm>
        </p:spPr>
        <p:txBody>
          <a:bodyPr>
            <a:normAutofit/>
          </a:bodyPr>
          <a:lstStyle/>
          <a:p>
            <a:pPr marL="420624">
              <a:spcAft>
                <a:spcPts val="600"/>
              </a:spcAft>
              <a:buClr>
                <a:schemeClr val="accent3"/>
              </a:buClr>
              <a:defRPr/>
            </a:pPr>
            <a:r>
              <a:rPr lang="en-US" b="1" dirty="0">
                <a:effectLst>
                  <a:outerShdw blurRad="38100" dist="38100" dir="2700000" algn="tl">
                    <a:srgbClr val="000000">
                      <a:alpha val="43137"/>
                    </a:srgbClr>
                  </a:outerShdw>
                </a:effectLst>
              </a:rPr>
              <a:t>The main components of Rx is </a:t>
            </a:r>
            <a:r>
              <a:rPr lang="en-US" dirty="0">
                <a:effectLst>
                  <a:outerShdw blurRad="38100" dist="38100" dir="2700000" algn="tl">
                    <a:srgbClr val="000000">
                      <a:alpha val="43137"/>
                    </a:srgbClr>
                  </a:outerShdw>
                </a:effectLst>
              </a:rPr>
              <a:t>: </a:t>
            </a:r>
          </a:p>
          <a:p>
            <a:pPr marL="420624">
              <a:spcAft>
                <a:spcPts val="600"/>
              </a:spcAft>
              <a:buClr>
                <a:schemeClr val="accent3"/>
              </a:buClr>
              <a:buNone/>
              <a:defRPr/>
            </a:pPr>
            <a:r>
              <a:rPr lang="en-US" dirty="0">
                <a:effectLst>
                  <a:outerShdw blurRad="38100" dist="38100" dir="2700000" algn="tl">
                    <a:srgbClr val="000000">
                      <a:alpha val="43137"/>
                    </a:srgbClr>
                  </a:outerShdw>
                </a:effectLst>
              </a:rPr>
              <a:t> - maintain adequate airways until inflammation and edema resolve often 36-72hrs</a:t>
            </a:r>
          </a:p>
          <a:p>
            <a:pPr marL="420624">
              <a:spcAft>
                <a:spcPts val="600"/>
              </a:spcAft>
              <a:buClr>
                <a:schemeClr val="accent3"/>
              </a:buClr>
              <a:buNone/>
              <a:defRPr/>
            </a:pPr>
            <a:r>
              <a:rPr lang="en-US" dirty="0">
                <a:effectLst>
                  <a:outerShdw blurRad="38100" dist="38100" dir="2700000" algn="tl">
                    <a:srgbClr val="000000">
                      <a:alpha val="43137"/>
                    </a:srgbClr>
                  </a:outerShdw>
                </a:effectLst>
              </a:rPr>
              <a:t> - </a:t>
            </a:r>
            <a:r>
              <a:rPr lang="en-US" dirty="0" err="1">
                <a:effectLst>
                  <a:outerShdw blurRad="38100" dist="38100" dir="2700000" algn="tl">
                    <a:srgbClr val="000000">
                      <a:alpha val="43137"/>
                    </a:srgbClr>
                  </a:outerShdw>
                </a:effectLst>
              </a:rPr>
              <a:t>Parenteral</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Abx</a:t>
            </a:r>
            <a:r>
              <a:rPr lang="en-US" dirty="0">
                <a:effectLst>
                  <a:outerShdw blurRad="38100" dist="38100" dir="2700000" algn="tl">
                    <a:srgbClr val="000000">
                      <a:alpha val="43137"/>
                    </a:srgbClr>
                  </a:outerShdw>
                </a:effectLst>
              </a:rPr>
              <a:t> directed against HI assuming this is the cause:   </a:t>
            </a:r>
            <a:r>
              <a:rPr lang="en-US" dirty="0" err="1">
                <a:effectLst>
                  <a:outerShdw blurRad="38100" dist="38100" dir="2700000" algn="tl">
                    <a:srgbClr val="000000">
                      <a:alpha val="43137"/>
                    </a:srgbClr>
                  </a:outerShdw>
                </a:effectLst>
              </a:rPr>
              <a:t>ceftriaxone</a:t>
            </a:r>
            <a:r>
              <a:rPr lang="en-US" dirty="0">
                <a:effectLst>
                  <a:outerShdw blurRad="38100" dist="38100" dir="2700000" algn="tl">
                    <a:srgbClr val="000000">
                      <a:alpha val="43137"/>
                    </a:srgbClr>
                  </a:outerShdw>
                </a:effectLst>
              </a:rPr>
              <a:t> or </a:t>
            </a:r>
            <a:r>
              <a:rPr lang="en-US" dirty="0" err="1">
                <a:effectLst>
                  <a:outerShdw blurRad="38100" dist="38100" dir="2700000" algn="tl">
                    <a:srgbClr val="000000">
                      <a:alpha val="43137"/>
                    </a:srgbClr>
                  </a:outerShdw>
                </a:effectLst>
              </a:rPr>
              <a:t>cefotaxime</a:t>
            </a:r>
            <a:r>
              <a:rPr lang="en-US" dirty="0">
                <a:effectLst>
                  <a:outerShdw blurRad="38100" dist="38100" dir="2700000" algn="tl">
                    <a:srgbClr val="000000">
                      <a:alpha val="43137"/>
                    </a:srgbClr>
                  </a:outerShdw>
                </a:effectLst>
              </a:rPr>
              <a:t> </a:t>
            </a:r>
          </a:p>
          <a:p>
            <a:pPr marL="420624">
              <a:spcAft>
                <a:spcPts val="600"/>
              </a:spcAft>
              <a:buClr>
                <a:schemeClr val="accent3"/>
              </a:buClr>
              <a:buNone/>
              <a:defRPr/>
            </a:pPr>
            <a:r>
              <a:rPr lang="en-US" dirty="0">
                <a:effectLst>
                  <a:outerShdw blurRad="38100" dist="38100" dir="2700000" algn="tl">
                    <a:srgbClr val="000000">
                      <a:alpha val="43137"/>
                    </a:srgbClr>
                  </a:outerShdw>
                </a:effectLst>
              </a:rPr>
              <a:t>     </a:t>
            </a:r>
          </a:p>
          <a:p>
            <a:pPr marL="420624">
              <a:spcAft>
                <a:spcPts val="600"/>
              </a:spcAft>
              <a:buClr>
                <a:schemeClr val="accent3"/>
              </a:buClr>
              <a:buNone/>
              <a:defRPr/>
            </a:pPr>
            <a:r>
              <a:rPr lang="en-US" dirty="0">
                <a:effectLst>
                  <a:outerShdw blurRad="38100" dist="38100" dir="2700000" algn="tl">
                    <a:srgbClr val="000000">
                      <a:alpha val="43137"/>
                    </a:srgbClr>
                  </a:outerShdw>
                </a:effectLst>
              </a:rPr>
              <a:t> - if not available may use chloramphenicol f Rx  : 7-10 days</a:t>
            </a:r>
            <a:endParaRPr lang="en-US" dirty="0"/>
          </a:p>
          <a:p>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a:t>Prophylaxis</a:t>
            </a:r>
          </a:p>
        </p:txBody>
      </p:sp>
      <p:sp>
        <p:nvSpPr>
          <p:cNvPr id="3" name="2 Marcador de contenido"/>
          <p:cNvSpPr>
            <a:spLocks noGrp="1"/>
          </p:cNvSpPr>
          <p:nvPr>
            <p:ph idx="1"/>
          </p:nvPr>
        </p:nvSpPr>
        <p:spPr/>
        <p:txBody>
          <a:bodyPr/>
          <a:lstStyle/>
          <a:p>
            <a:r>
              <a:rPr lang="en-US" sz="3200" dirty="0">
                <a:effectLst>
                  <a:outerShdw blurRad="38100" dist="38100" dir="2700000" algn="tl">
                    <a:srgbClr val="000000"/>
                  </a:outerShdw>
                </a:effectLst>
              </a:rPr>
              <a:t>if there is another child in the house   ≤ 4 years not vaccinated to HI  give </a:t>
            </a:r>
            <a:r>
              <a:rPr lang="en-US" sz="3200" dirty="0" err="1">
                <a:effectLst>
                  <a:outerShdw blurRad="38100" dist="38100" dir="2700000" algn="tl">
                    <a:srgbClr val="000000"/>
                  </a:outerShdw>
                </a:effectLst>
              </a:rPr>
              <a:t>Rifampicin</a:t>
            </a:r>
            <a:r>
              <a:rPr lang="en-US" sz="3200" dirty="0">
                <a:effectLst>
                  <a:outerShdw blurRad="38100" dist="38100" dir="2700000" algn="tl">
                    <a:srgbClr val="000000"/>
                  </a:outerShdw>
                </a:effectLst>
              </a:rPr>
              <a:t> to all family members</a:t>
            </a:r>
          </a:p>
          <a:p>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algn="ctr"/>
            <a:r>
              <a:rPr lang="en-US" sz="2200" dirty="0"/>
              <a:t>Comparison between croup and acute epiglottitis</a:t>
            </a:r>
            <a:br>
              <a:rPr lang="en-US" dirty="0"/>
            </a:br>
            <a:endParaRPr lang="en-US" dirty="0"/>
          </a:p>
        </p:txBody>
      </p:sp>
      <p:pic>
        <p:nvPicPr>
          <p:cNvPr id="4" name="Content Placeholder 3"/>
          <p:cNvPicPr>
            <a:picLocks noGrp="1" noChangeAspect="1" noChangeArrowheads="1"/>
          </p:cNvPicPr>
          <p:nvPr>
            <p:ph idx="1"/>
          </p:nvPr>
        </p:nvPicPr>
        <p:blipFill>
          <a:blip r:embed="rId2"/>
          <a:srcRect/>
          <a:stretch>
            <a:fillRect/>
          </a:stretch>
        </p:blipFill>
        <p:spPr bwMode="auto">
          <a:xfrm>
            <a:off x="0" y="856011"/>
            <a:ext cx="9144000" cy="6001989"/>
          </a:xfrm>
          <a:prstGeom prst="rect">
            <a:avLst/>
          </a:prstGeom>
          <a:noFill/>
          <a:ln w="9525">
            <a:noFill/>
            <a:miter lim="800000"/>
            <a:headEnd/>
            <a:tailEnd/>
          </a:ln>
          <a:effec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67494"/>
            <a:ext cx="8229600" cy="875490"/>
          </a:xfrm>
        </p:spPr>
        <p:txBody>
          <a:bodyPr>
            <a:normAutofit/>
          </a:bodyPr>
          <a:lstStyle/>
          <a:p>
            <a:r>
              <a:rPr lang="en-US" sz="2800" dirty="0"/>
              <a:t>CHRONIC LARYNGITIS</a:t>
            </a:r>
          </a:p>
        </p:txBody>
      </p:sp>
      <p:sp>
        <p:nvSpPr>
          <p:cNvPr id="3" name="2 Marcador de contenido"/>
          <p:cNvSpPr>
            <a:spLocks noGrp="1"/>
          </p:cNvSpPr>
          <p:nvPr>
            <p:ph idx="1"/>
          </p:nvPr>
        </p:nvSpPr>
        <p:spPr>
          <a:xfrm>
            <a:off x="457200" y="1214422"/>
            <a:ext cx="8229600" cy="5240386"/>
          </a:xfrm>
        </p:spPr>
        <p:txBody>
          <a:bodyPr>
            <a:normAutofit/>
          </a:bodyPr>
          <a:lstStyle/>
          <a:p>
            <a:r>
              <a:rPr lang="en-US" sz="2000" dirty="0"/>
              <a:t>It  is  a diffuse inflammatory  condition  symmetrically involving  the  whole larynx, i.e. true cords, ventricular bands, </a:t>
            </a:r>
            <a:r>
              <a:rPr lang="en-US" sz="2000" dirty="0" err="1"/>
              <a:t>interarytenoid</a:t>
            </a:r>
            <a:r>
              <a:rPr lang="en-US" sz="2000" dirty="0"/>
              <a:t> region  and  root  of  the  epiglottis.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67494"/>
            <a:ext cx="8229600" cy="946928"/>
          </a:xfrm>
        </p:spPr>
        <p:txBody>
          <a:bodyPr/>
          <a:lstStyle/>
          <a:p>
            <a:r>
              <a:rPr lang="en-US" dirty="0" err="1"/>
              <a:t>Aetiology</a:t>
            </a:r>
            <a:endParaRPr lang="en-US" dirty="0"/>
          </a:p>
        </p:txBody>
      </p:sp>
      <p:sp>
        <p:nvSpPr>
          <p:cNvPr id="3" name="2 Marcador de contenido"/>
          <p:cNvSpPr>
            <a:spLocks noGrp="1"/>
          </p:cNvSpPr>
          <p:nvPr>
            <p:ph idx="1"/>
          </p:nvPr>
        </p:nvSpPr>
        <p:spPr>
          <a:xfrm>
            <a:off x="457200" y="1643050"/>
            <a:ext cx="8229600" cy="4811758"/>
          </a:xfrm>
        </p:spPr>
        <p:txBody>
          <a:bodyPr>
            <a:normAutofit fontScale="92500" lnSpcReduction="10000"/>
          </a:bodyPr>
          <a:lstStyle/>
          <a:p>
            <a:r>
              <a:rPr lang="en-US" dirty="0"/>
              <a:t>It  may follow incompletely resolved acute simple laryngitis  or  its recurrent attacks.</a:t>
            </a:r>
          </a:p>
          <a:p>
            <a:r>
              <a:rPr lang="en-US" dirty="0"/>
              <a:t>Presence  of  chronic  infection.</a:t>
            </a:r>
          </a:p>
          <a:p>
            <a:r>
              <a:rPr lang="en-US" dirty="0"/>
              <a:t>Occupational  factors, e.g. exposure to the dust and fumes such  as  in miners, </a:t>
            </a:r>
            <a:r>
              <a:rPr lang="en-US" dirty="0" err="1"/>
              <a:t>stroker</a:t>
            </a:r>
            <a:r>
              <a:rPr lang="en-US" dirty="0"/>
              <a:t>“, gold or iron smiths and workers in  chemical  industries</a:t>
            </a:r>
          </a:p>
          <a:p>
            <a:r>
              <a:rPr lang="en-US" dirty="0"/>
              <a:t>Smoking  and alcohol</a:t>
            </a:r>
          </a:p>
          <a:p>
            <a:r>
              <a:rPr lang="en-US" dirty="0"/>
              <a:t>Persistent trauma  of  cough  as  in  chronic lung  diseases.</a:t>
            </a:r>
          </a:p>
          <a:p>
            <a:r>
              <a:rPr lang="en-US" dirty="0"/>
              <a:t>Vocal abuse.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67494"/>
            <a:ext cx="8229600" cy="946928"/>
          </a:xfrm>
        </p:spPr>
        <p:txBody>
          <a:bodyPr/>
          <a:lstStyle/>
          <a:p>
            <a:r>
              <a:rPr lang="en-US" dirty="0"/>
              <a:t>Clinical  features</a:t>
            </a:r>
          </a:p>
        </p:txBody>
      </p:sp>
      <p:sp>
        <p:nvSpPr>
          <p:cNvPr id="3" name="2 Marcador de contenido"/>
          <p:cNvSpPr>
            <a:spLocks noGrp="1"/>
          </p:cNvSpPr>
          <p:nvPr>
            <p:ph idx="1"/>
          </p:nvPr>
        </p:nvSpPr>
        <p:spPr>
          <a:xfrm>
            <a:off x="457200" y="1357298"/>
            <a:ext cx="8229600" cy="4375958"/>
          </a:xfrm>
        </p:spPr>
        <p:txBody>
          <a:bodyPr>
            <a:normAutofit/>
          </a:bodyPr>
          <a:lstStyle/>
          <a:p>
            <a:r>
              <a:rPr lang="en-US" sz="2000" dirty="0"/>
              <a:t>Hoarseness.  This  is  the  commonest complaint .  Voice becomes easily tired  and  patient becomes aphonic  by  the  end  of  the  day.</a:t>
            </a:r>
          </a:p>
          <a:p>
            <a:r>
              <a:rPr lang="en-US" sz="2000" dirty="0"/>
              <a:t>There  is  dryness  an intermittent  tickling in  the  throat  and   patient  is  compelled to  clear  the  throat  repeatedly.</a:t>
            </a:r>
          </a:p>
          <a:p>
            <a:r>
              <a:rPr lang="en-US" sz="2000" dirty="0"/>
              <a:t>Discomfort in  the  throat.</a:t>
            </a:r>
          </a:p>
          <a:p>
            <a:r>
              <a:rPr lang="en-US" sz="2000" dirty="0"/>
              <a:t>Cough.  It  is  dry and irritating.</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a:t>Examination. </a:t>
            </a:r>
          </a:p>
        </p:txBody>
      </p:sp>
      <p:sp>
        <p:nvSpPr>
          <p:cNvPr id="3" name="2 Marcador de contenido"/>
          <p:cNvSpPr>
            <a:spLocks noGrp="1"/>
          </p:cNvSpPr>
          <p:nvPr>
            <p:ph idx="1"/>
          </p:nvPr>
        </p:nvSpPr>
        <p:spPr/>
        <p:txBody>
          <a:bodyPr>
            <a:normAutofit/>
          </a:bodyPr>
          <a:lstStyle/>
          <a:p>
            <a:r>
              <a:rPr lang="es-ES" sz="2000" dirty="0" err="1"/>
              <a:t>Laryngeal</a:t>
            </a:r>
            <a:r>
              <a:rPr lang="es-ES" sz="2000" dirty="0"/>
              <a:t> mucosa, in general,  </a:t>
            </a:r>
            <a:r>
              <a:rPr lang="es-ES" sz="2000" dirty="0" err="1"/>
              <a:t>is</a:t>
            </a:r>
            <a:r>
              <a:rPr lang="es-ES" sz="2000" dirty="0"/>
              <a:t> </a:t>
            </a:r>
            <a:r>
              <a:rPr lang="es-ES" sz="2000" dirty="0" err="1"/>
              <a:t>dusky</a:t>
            </a:r>
            <a:r>
              <a:rPr lang="es-ES" sz="2000" dirty="0"/>
              <a:t> red and </a:t>
            </a:r>
            <a:r>
              <a:rPr lang="es-ES" sz="2000" dirty="0" err="1"/>
              <a:t>thickened</a:t>
            </a:r>
            <a:r>
              <a:rPr lang="es-ES" sz="2000" dirty="0"/>
              <a:t>.</a:t>
            </a:r>
          </a:p>
          <a:p>
            <a:r>
              <a:rPr lang="en-US" sz="2000" dirty="0"/>
              <a:t>Vocal cords appear red and swollen. In late stages cords become bulky and irregular  giving nodular appearance</a:t>
            </a:r>
            <a:r>
              <a:rPr lang="en-US" dirty="0"/>
              <a:t>.</a:t>
            </a:r>
          </a:p>
          <a:p>
            <a:r>
              <a:rPr lang="en-US" sz="2000" dirty="0"/>
              <a:t>Ventricular bands appear red  and  swollen  and maybe mistaken for </a:t>
            </a:r>
            <a:r>
              <a:rPr lang="en-US" sz="2000" dirty="0" err="1"/>
              <a:t>prolapse</a:t>
            </a:r>
            <a:r>
              <a:rPr lang="en-US" sz="2000" dirty="0"/>
              <a:t> or </a:t>
            </a:r>
            <a:r>
              <a:rPr lang="en-US" sz="2000" dirty="0" err="1"/>
              <a:t>eversion</a:t>
            </a:r>
            <a:r>
              <a:rPr lang="en-US" sz="2000" dirty="0"/>
              <a:t> of the </a:t>
            </a:r>
            <a:r>
              <a:rPr lang="en-US" sz="2000" dirty="0" err="1"/>
              <a:t>ventricule</a:t>
            </a:r>
            <a:r>
              <a:rPr lang="en-US" sz="2000" dirty="0"/>
              <a:t>.</a:t>
            </a:r>
          </a:p>
          <a:p>
            <a:r>
              <a:rPr lang="en-US" sz="2000" dirty="0"/>
              <a:t>Mobility  of  cords gets impaired due  to  </a:t>
            </a:r>
            <a:r>
              <a:rPr lang="en-US" sz="2000" dirty="0" err="1"/>
              <a:t>odema</a:t>
            </a:r>
            <a:r>
              <a:rPr lang="en-US" sz="2000" dirty="0"/>
              <a:t> and infiltration.</a:t>
            </a:r>
          </a:p>
          <a:p>
            <a:endParaRPr lang="en-US" sz="2000" dirty="0"/>
          </a:p>
          <a:p>
            <a:endParaRPr lang="es-ES" dirty="0"/>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VID-20230717-WA0022.mp4">
            <a:hlinkClick r:id="" action="ppaction://media"/>
          </p:cNvPr>
          <p:cNvPicPr>
            <a:picLocks noGrp="1" noRot="1" noChangeAspect="1"/>
          </p:cNvPicPr>
          <p:nvPr>
            <p:ph idx="1"/>
            <a:videoFile r:link="rId1"/>
          </p:nvPr>
        </p:nvPicPr>
        <p:blipFill>
          <a:blip r:embed="rId3"/>
          <a:stretch>
            <a:fillRect/>
          </a:stretch>
        </p:blipFill>
        <p:spPr>
          <a:xfrm>
            <a:off x="714348" y="714356"/>
            <a:ext cx="8072494" cy="564360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641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user\Desktop\ORL\Class\CONFERENCIAS\Mis conferencias\Larynx\Larynx\image.jpg"/>
          <p:cNvPicPr>
            <a:picLocks noChangeAspect="1" noChangeArrowheads="1"/>
          </p:cNvPicPr>
          <p:nvPr/>
        </p:nvPicPr>
        <p:blipFill>
          <a:blip r:embed="rId2"/>
          <a:srcRect/>
          <a:stretch>
            <a:fillRect/>
          </a:stretch>
        </p:blipFill>
        <p:spPr bwMode="auto">
          <a:xfrm>
            <a:off x="0" y="0"/>
            <a:ext cx="3429024" cy="3643314"/>
          </a:xfrm>
          <a:prstGeom prst="rect">
            <a:avLst/>
          </a:prstGeom>
          <a:noFill/>
        </p:spPr>
      </p:pic>
      <p:pic>
        <p:nvPicPr>
          <p:cNvPr id="2051" name="Picture 3" descr="C:\Users\user\Desktop\ORL\Class\CONFERENCIAS\Mis conferencias\Larynx\Larynx\polipos-cuerdas-vocales.jpg"/>
          <p:cNvPicPr>
            <a:picLocks noChangeAspect="1" noChangeArrowheads="1"/>
          </p:cNvPicPr>
          <p:nvPr/>
        </p:nvPicPr>
        <p:blipFill>
          <a:blip r:embed="rId3"/>
          <a:srcRect/>
          <a:stretch>
            <a:fillRect/>
          </a:stretch>
        </p:blipFill>
        <p:spPr bwMode="auto">
          <a:xfrm>
            <a:off x="3428992" y="1971675"/>
            <a:ext cx="5715008" cy="4886325"/>
          </a:xfrm>
          <a:prstGeom prst="rect">
            <a:avLst/>
          </a:prstGeom>
          <a:noFill/>
        </p:spPr>
      </p:pic>
      <p:sp>
        <p:nvSpPr>
          <p:cNvPr id="6" name="5 CuadroTexto"/>
          <p:cNvSpPr txBox="1"/>
          <p:nvPr/>
        </p:nvSpPr>
        <p:spPr>
          <a:xfrm>
            <a:off x="357158" y="4143380"/>
            <a:ext cx="285752" cy="369332"/>
          </a:xfrm>
          <a:prstGeom prst="rect">
            <a:avLst/>
          </a:prstGeom>
          <a:noFill/>
        </p:spPr>
        <p:txBody>
          <a:bodyPr wrap="square" rtlCol="0">
            <a:spAutoFit/>
          </a:bodyPr>
          <a:lstStyle/>
          <a:p>
            <a:endParaRPr lang="en-US" dirty="0"/>
          </a:p>
        </p:txBody>
      </p:sp>
      <p:sp>
        <p:nvSpPr>
          <p:cNvPr id="9" name="8 CuadroTexto"/>
          <p:cNvSpPr txBox="1"/>
          <p:nvPr/>
        </p:nvSpPr>
        <p:spPr>
          <a:xfrm>
            <a:off x="214282" y="4214818"/>
            <a:ext cx="2643206" cy="646331"/>
          </a:xfrm>
          <a:prstGeom prst="rect">
            <a:avLst/>
          </a:prstGeom>
          <a:noFill/>
        </p:spPr>
        <p:txBody>
          <a:bodyPr wrap="square" rtlCol="0">
            <a:spAutoFit/>
          </a:bodyPr>
          <a:lstStyle/>
          <a:p>
            <a:pPr algn="ctr"/>
            <a:r>
              <a:rPr lang="en-US" b="1" dirty="0"/>
              <a:t>vocal cord nodules</a:t>
            </a:r>
          </a:p>
        </p:txBody>
      </p:sp>
      <p:sp>
        <p:nvSpPr>
          <p:cNvPr id="11" name="10 CuadroTexto"/>
          <p:cNvSpPr txBox="1"/>
          <p:nvPr/>
        </p:nvSpPr>
        <p:spPr>
          <a:xfrm>
            <a:off x="5214942" y="1000108"/>
            <a:ext cx="2857520" cy="646331"/>
          </a:xfrm>
          <a:prstGeom prst="rect">
            <a:avLst/>
          </a:prstGeom>
          <a:noFill/>
        </p:spPr>
        <p:txBody>
          <a:bodyPr wrap="square" rtlCol="0">
            <a:spAutoFit/>
          </a:bodyPr>
          <a:lstStyle/>
          <a:p>
            <a:pPr algn="ctr"/>
            <a:r>
              <a:rPr lang="en-US" b="1" dirty="0"/>
              <a:t>vocal cord polyp</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user\Desktop\ORL\Class\CONFERENCIAS\Mis conferencias\Larynx\Larynx\download.jpg"/>
          <p:cNvPicPr>
            <a:picLocks noGrp="1" noChangeAspect="1" noChangeArrowheads="1"/>
          </p:cNvPicPr>
          <p:nvPr>
            <p:ph idx="1"/>
          </p:nvPr>
        </p:nvPicPr>
        <p:blipFill>
          <a:blip r:embed="rId2"/>
          <a:srcRect/>
          <a:stretch>
            <a:fillRect/>
          </a:stretch>
        </p:blipFill>
        <p:spPr bwMode="auto">
          <a:xfrm>
            <a:off x="1500166" y="928670"/>
            <a:ext cx="5786478" cy="4278330"/>
          </a:xfrm>
          <a:prstGeom prst="rect">
            <a:avLst/>
          </a:prstGeom>
          <a:noFill/>
        </p:spPr>
      </p:pic>
      <p:sp>
        <p:nvSpPr>
          <p:cNvPr id="5" name="4 CuadroTexto"/>
          <p:cNvSpPr txBox="1"/>
          <p:nvPr/>
        </p:nvSpPr>
        <p:spPr>
          <a:xfrm>
            <a:off x="2857488" y="5572140"/>
            <a:ext cx="3143272" cy="369332"/>
          </a:xfrm>
          <a:prstGeom prst="rect">
            <a:avLst/>
          </a:prstGeom>
          <a:noFill/>
        </p:spPr>
        <p:txBody>
          <a:bodyPr wrap="square" rtlCol="0">
            <a:spAutoFit/>
          </a:bodyPr>
          <a:lstStyle/>
          <a:p>
            <a:r>
              <a:rPr lang="en-US" b="1" dirty="0" err="1"/>
              <a:t>Reinke's</a:t>
            </a:r>
            <a:r>
              <a:rPr lang="en-US" b="1" dirty="0"/>
              <a:t> edema</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67494"/>
            <a:ext cx="8229600" cy="1018366"/>
          </a:xfrm>
        </p:spPr>
        <p:txBody>
          <a:bodyPr/>
          <a:lstStyle/>
          <a:p>
            <a:r>
              <a:rPr lang="en-US" dirty="0"/>
              <a:t>Treatment</a:t>
            </a:r>
          </a:p>
        </p:txBody>
      </p:sp>
      <p:sp>
        <p:nvSpPr>
          <p:cNvPr id="3" name="2 Marcador de contenido"/>
          <p:cNvSpPr>
            <a:spLocks noGrp="1"/>
          </p:cNvSpPr>
          <p:nvPr>
            <p:ph idx="1"/>
          </p:nvPr>
        </p:nvSpPr>
        <p:spPr>
          <a:xfrm>
            <a:off x="457200" y="1357298"/>
            <a:ext cx="8229600" cy="5097510"/>
          </a:xfrm>
        </p:spPr>
        <p:txBody>
          <a:bodyPr>
            <a:normAutofit fontScale="77500" lnSpcReduction="20000"/>
          </a:bodyPr>
          <a:lstStyle/>
          <a:p>
            <a:r>
              <a:rPr lang="en-US" dirty="0"/>
              <a:t>Eliminate  infection  of  upper  or  lower  respiratory tract.  Infection in  the  sinuses, tonsils,  teeth  or chronic  chest  infection (bronchitis, </a:t>
            </a:r>
            <a:r>
              <a:rPr lang="en-US" dirty="0" err="1"/>
              <a:t>bronchiectasis</a:t>
            </a:r>
            <a:r>
              <a:rPr lang="en-US" dirty="0"/>
              <a:t>,</a:t>
            </a:r>
          </a:p>
          <a:p>
            <a:r>
              <a:rPr lang="en-US" dirty="0"/>
              <a:t>tuberculosis, etc.) should be treated.</a:t>
            </a:r>
          </a:p>
          <a:p>
            <a:r>
              <a:rPr lang="en-US" dirty="0"/>
              <a:t>Avoidance  of  irritating  factors, e.g. smoking, alcohol or polluted  environment,  dust  and  fumes.</a:t>
            </a:r>
          </a:p>
          <a:p>
            <a:r>
              <a:rPr lang="en-US" dirty="0"/>
              <a:t>Voice  rest  and  speech  therapy. Voice rest has to  </a:t>
            </a:r>
            <a:r>
              <a:rPr lang="en-US" dirty="0" err="1"/>
              <a:t>beprolonged</a:t>
            </a:r>
            <a:r>
              <a:rPr lang="en-US" dirty="0"/>
              <a:t> for weeks or  months.  Patient  should receive  training  in proper use  of  voice.</a:t>
            </a:r>
          </a:p>
          <a:p>
            <a:r>
              <a:rPr lang="en-US" dirty="0"/>
              <a:t>Steam  inhalations.  They  help  to  loosen secretions and give relief.</a:t>
            </a:r>
          </a:p>
          <a:p>
            <a:r>
              <a:rPr lang="en-US" dirty="0"/>
              <a:t>Expectorants.  They  help to loosen viscid secretions and give relief from hawking.</a:t>
            </a:r>
          </a:p>
          <a:p>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57158" y="357166"/>
            <a:ext cx="8229600" cy="785818"/>
          </a:xfrm>
        </p:spPr>
        <p:txBody>
          <a:bodyPr/>
          <a:lstStyle/>
          <a:p>
            <a:r>
              <a:rPr lang="en-US" dirty="0"/>
              <a:t>Treatment</a:t>
            </a:r>
          </a:p>
        </p:txBody>
      </p:sp>
      <p:sp>
        <p:nvSpPr>
          <p:cNvPr id="3" name="2 Marcador de contenido"/>
          <p:cNvSpPr>
            <a:spLocks noGrp="1"/>
          </p:cNvSpPr>
          <p:nvPr>
            <p:ph idx="1"/>
          </p:nvPr>
        </p:nvSpPr>
        <p:spPr>
          <a:xfrm>
            <a:off x="142844" y="1882808"/>
            <a:ext cx="4429156" cy="4572000"/>
          </a:xfrm>
        </p:spPr>
        <p:txBody>
          <a:bodyPr>
            <a:normAutofit/>
          </a:bodyPr>
          <a:lstStyle/>
          <a:p>
            <a:r>
              <a:rPr lang="en-US" dirty="0"/>
              <a:t>Surgical. Stripping of vocal cords, removing the </a:t>
            </a:r>
            <a:r>
              <a:rPr lang="en-US" dirty="0" err="1"/>
              <a:t>hyperplastic</a:t>
            </a:r>
            <a:r>
              <a:rPr lang="en-US" dirty="0"/>
              <a:t> and </a:t>
            </a:r>
            <a:r>
              <a:rPr lang="en-US" dirty="0" err="1"/>
              <a:t>oedematous</a:t>
            </a:r>
            <a:r>
              <a:rPr lang="en-US" dirty="0"/>
              <a:t> mucosa, may be done in selected cases.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a:t>Topic for read</a:t>
            </a:r>
          </a:p>
        </p:txBody>
      </p:sp>
      <p:sp>
        <p:nvSpPr>
          <p:cNvPr id="3" name="2 Marcador de contenido"/>
          <p:cNvSpPr>
            <a:spLocks noGrp="1"/>
          </p:cNvSpPr>
          <p:nvPr>
            <p:ph idx="1"/>
          </p:nvPr>
        </p:nvSpPr>
        <p:spPr/>
        <p:txBody>
          <a:bodyPr/>
          <a:lstStyle/>
          <a:p>
            <a:r>
              <a:rPr lang="en-US" dirty="0"/>
              <a:t>Diphtheria pharyngitis</a:t>
            </a:r>
          </a:p>
          <a:p>
            <a:r>
              <a:rPr lang="en-US" dirty="0"/>
              <a:t>Chronic </a:t>
            </a:r>
            <a:r>
              <a:rPr lang="en-US" dirty="0" err="1"/>
              <a:t>Adenotonsillitis</a:t>
            </a:r>
            <a:endParaRPr lang="en-US" dirty="0"/>
          </a:p>
          <a:p>
            <a:r>
              <a:rPr lang="en-US" dirty="0"/>
              <a:t>Chronic laryngitis</a:t>
            </a:r>
          </a:p>
          <a:p>
            <a:endParaRPr lang="en-US" dirty="0"/>
          </a:p>
          <a:p>
            <a:endParaRPr lang="en-US" dirty="0"/>
          </a:p>
          <a:p>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a:t>References</a:t>
            </a:r>
          </a:p>
        </p:txBody>
      </p:sp>
      <p:sp>
        <p:nvSpPr>
          <p:cNvPr id="3" name="2 Marcador de contenido"/>
          <p:cNvSpPr>
            <a:spLocks noGrp="1"/>
          </p:cNvSpPr>
          <p:nvPr>
            <p:ph idx="1"/>
          </p:nvPr>
        </p:nvSpPr>
        <p:spPr/>
        <p:txBody>
          <a:bodyPr/>
          <a:lstStyle/>
          <a:p>
            <a:pPr marL="227013" indent="-227013">
              <a:tabLst>
                <a:tab pos="3082925" algn="l"/>
              </a:tabLst>
            </a:pPr>
            <a:r>
              <a:rPr lang="en-US" sz="2000" dirty="0"/>
              <a:t>Armando Lenis, MD and Tibor Ruff, MD </a:t>
            </a:r>
            <a:r>
              <a:rPr lang="en-US" sz="1800" dirty="0"/>
              <a:t>Editors for 1st Tonsillectomy and Adenoidectomy Lecture series</a:t>
            </a:r>
          </a:p>
          <a:p>
            <a:pPr marL="227013" indent="-227013">
              <a:tabLst>
                <a:tab pos="3082925" algn="l"/>
              </a:tabLst>
            </a:pPr>
            <a:r>
              <a:rPr lang="en-US" sz="1800" dirty="0"/>
              <a:t>PL </a:t>
            </a:r>
            <a:r>
              <a:rPr lang="en-US" sz="1800" dirty="0" err="1"/>
              <a:t>Dhingra</a:t>
            </a:r>
            <a:r>
              <a:rPr lang="en-US" sz="1800" dirty="0"/>
              <a:t>. Disease of ear, nose and throat. Seventh Ed.</a:t>
            </a:r>
          </a:p>
          <a:p>
            <a:pPr marL="227013" indent="-227013">
              <a:spcBef>
                <a:spcPct val="50000"/>
              </a:spcBef>
              <a:tabLst>
                <a:tab pos="3082925" algn="l"/>
              </a:tabLst>
            </a:pPr>
            <a:r>
              <a:rPr lang="en-US" sz="2000" dirty="0"/>
              <a:t>Clinical Photos</a:t>
            </a:r>
          </a:p>
          <a:p>
            <a:pPr marL="687388" lvl="1" indent="-230188">
              <a:tabLst>
                <a:tab pos="3082925" algn="l"/>
              </a:tabLst>
            </a:pPr>
            <a:r>
              <a:rPr lang="en-US" sz="1800" dirty="0"/>
              <a:t>Greg Allen, MD	University of Colorado</a:t>
            </a:r>
          </a:p>
          <a:p>
            <a:pPr marL="227013" indent="-227013">
              <a:tabLst>
                <a:tab pos="3082925" algn="l"/>
              </a:tabLst>
            </a:pPr>
            <a:endParaRPr lang="en-US" sz="1800" dirty="0"/>
          </a:p>
          <a:p>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marL="64008" indent="0" algn="ctr">
              <a:buNone/>
            </a:pPr>
            <a:r>
              <a:rPr lang="es-ES" sz="8800" b="1" dirty="0" err="1">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Thank</a:t>
            </a:r>
            <a:r>
              <a:rPr lang="es-ES" sz="8800" b="1"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 </a:t>
            </a:r>
            <a:r>
              <a:rPr lang="es-ES" sz="8800" b="1" dirty="0" err="1">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you</a:t>
            </a:r>
            <a:endParaRPr lang="es-ES" sz="8800" b="1"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endParaRPr>
          </a:p>
          <a:p>
            <a:endParaRPr lang="en-US" sz="54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ío">
  <a:themeElements>
    <a:clrScheme name="Brío">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Brí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Brío">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Verve</Template>
  <TotalTime>366</TotalTime>
  <Words>2260</Words>
  <Application>Microsoft Office PowerPoint</Application>
  <PresentationFormat>On-screen Show (4:3)</PresentationFormat>
  <Paragraphs>315</Paragraphs>
  <Slides>75</Slides>
  <Notes>0</Notes>
  <HiddenSlides>0</HiddenSlides>
  <MMClips>1</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75</vt:i4>
      </vt:variant>
    </vt:vector>
  </HeadingPairs>
  <TitlesOfParts>
    <vt:vector size="85" baseType="lpstr">
      <vt:lpstr>AGA Arabesque</vt:lpstr>
      <vt:lpstr>Antique Olive Compact</vt:lpstr>
      <vt:lpstr>Britannic Bold</vt:lpstr>
      <vt:lpstr>Century Gothic</vt:lpstr>
      <vt:lpstr>Times New Roman</vt:lpstr>
      <vt:lpstr>Verdana</vt:lpstr>
      <vt:lpstr>Wingdings</vt:lpstr>
      <vt:lpstr>Wingdings 2</vt:lpstr>
      <vt:lpstr>Brío</vt:lpstr>
      <vt:lpstr>Bitmap Image</vt:lpstr>
      <vt:lpstr>PowerPoint Presentation</vt:lpstr>
      <vt:lpstr>Pharyngitis and Laryngitis </vt:lpstr>
      <vt:lpstr>Objective</vt:lpstr>
      <vt:lpstr>Pharynx:</vt:lpstr>
      <vt:lpstr>PowerPoint Presentation</vt:lpstr>
      <vt:lpstr>PowerPoint Presentation</vt:lpstr>
      <vt:lpstr>Adenoids:</vt:lpstr>
      <vt:lpstr>PHARYNGITIS</vt:lpstr>
      <vt:lpstr>Acute pharyngitis</vt:lpstr>
      <vt:lpstr>Pharyngitis Etiology</vt:lpstr>
      <vt:lpstr>Viral Pharyngitis</vt:lpstr>
      <vt:lpstr>Virals Pharyngitis Infectious Mononucleosis</vt:lpstr>
      <vt:lpstr>Virals Pharyngitis: Herpangina</vt:lpstr>
      <vt:lpstr>Virals Pharyngitis</vt:lpstr>
      <vt:lpstr>Clinical manifestations bact. Pharyngitis GABHS</vt:lpstr>
      <vt:lpstr>PowerPoint Presentation</vt:lpstr>
      <vt:lpstr>Diagnostic</vt:lpstr>
      <vt:lpstr>Differential diagnosis of pharyngitis</vt:lpstr>
      <vt:lpstr>Acute Pharyngitis GABHS Treatment</vt:lpstr>
      <vt:lpstr>Viral Pharyngitis</vt:lpstr>
      <vt:lpstr>A. Pharyngitis Complications</vt:lpstr>
      <vt:lpstr>Suppurative Complications GAS Pharyngitis</vt:lpstr>
      <vt:lpstr>NonSupurative Complications GAS Pharyngitis</vt:lpstr>
      <vt:lpstr>Chronic Pharyngitis</vt:lpstr>
      <vt:lpstr>PowerPoint Presentation</vt:lpstr>
      <vt:lpstr>ACUTE  AND  CHRONIC INFLAMMATIONS  OF  LARYNX</vt:lpstr>
      <vt:lpstr>Acute  laryngitis may  be</vt:lpstr>
      <vt:lpstr>Infectious acute laryngitis.</vt:lpstr>
      <vt:lpstr>PowerPoint Presentation</vt:lpstr>
      <vt:lpstr>Non-infectious acute laryngitis.</vt:lpstr>
      <vt:lpstr>PowerPoint Presentation</vt:lpstr>
      <vt:lpstr>Laryngeal  appearances  vary with severity  of  disease.</vt:lpstr>
      <vt:lpstr>PowerPoint Presentation</vt:lpstr>
      <vt:lpstr>Clinical  Features </vt:lpstr>
      <vt:lpstr>Treatment</vt:lpstr>
      <vt:lpstr>Croup (laryngotracheobronchitis )</vt:lpstr>
      <vt:lpstr>PowerPoint Presentation</vt:lpstr>
      <vt:lpstr>Clinical features</vt:lpstr>
      <vt:lpstr>Diagnosis</vt:lpstr>
      <vt:lpstr>PowerPoint Presentation</vt:lpstr>
      <vt:lpstr>PowerPoint Presentation</vt:lpstr>
      <vt:lpstr>Treatment</vt:lpstr>
      <vt:lpstr>PowerPoint Presentation</vt:lpstr>
      <vt:lpstr>PowerPoint Presentation</vt:lpstr>
      <vt:lpstr>Steroid</vt:lpstr>
      <vt:lpstr>Which is more effective oral or nebulized dexamethasone for children with mild croup ?</vt:lpstr>
      <vt:lpstr>PowerPoint Presentation</vt:lpstr>
      <vt:lpstr>ICU admission</vt:lpstr>
      <vt:lpstr>Acute epiglottitis</vt:lpstr>
      <vt:lpstr>PowerPoint Presentation</vt:lpstr>
      <vt:lpstr>Clinical features </vt:lpstr>
      <vt:lpstr>Diagnosis </vt:lpstr>
      <vt:lpstr>PowerPoint Presentation</vt:lpstr>
      <vt:lpstr>Management</vt:lpstr>
      <vt:lpstr>Epiglottitis Protocol</vt:lpstr>
      <vt:lpstr>PowerPoint Presentation</vt:lpstr>
      <vt:lpstr>PowerPoint Presentation</vt:lpstr>
      <vt:lpstr>PowerPoint Presentation</vt:lpstr>
      <vt:lpstr>PowerPoint Presentation</vt:lpstr>
      <vt:lpstr>PowerPoint Presentation</vt:lpstr>
      <vt:lpstr>PowerPoint Presentation</vt:lpstr>
      <vt:lpstr>Prophylaxis</vt:lpstr>
      <vt:lpstr>Comparison between croup and acute epiglottitis </vt:lpstr>
      <vt:lpstr>CHRONIC LARYNGITIS</vt:lpstr>
      <vt:lpstr>Aetiology</vt:lpstr>
      <vt:lpstr>Clinical  features</vt:lpstr>
      <vt:lpstr>Examination. </vt:lpstr>
      <vt:lpstr>PowerPoint Presentation</vt:lpstr>
      <vt:lpstr>PowerPoint Presentation</vt:lpstr>
      <vt:lpstr>PowerPoint Presentation</vt:lpstr>
      <vt:lpstr>Treatment</vt:lpstr>
      <vt:lpstr>Treatment</vt:lpstr>
      <vt:lpstr>Topic for read</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user</dc:creator>
  <cp:lastModifiedBy>Abdisalam Musa M.D</cp:lastModifiedBy>
  <cp:revision>119</cp:revision>
  <dcterms:created xsi:type="dcterms:W3CDTF">2023-06-09T07:05:08Z</dcterms:created>
  <dcterms:modified xsi:type="dcterms:W3CDTF">2025-07-27T18:43:15Z</dcterms:modified>
</cp:coreProperties>
</file>